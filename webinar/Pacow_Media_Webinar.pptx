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 spend (€)</c:v>
                </c:pt>
              </c:strCache>
            </c:strRef>
          </c:tx>
          <c:spPr>
            <a:solidFill>
              <a:srgbClr val="B8BE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992</c:v>
                </c:pt>
                <c:pt idx="1">
                  <c:v>1830</c:v>
                </c:pt>
                <c:pt idx="2">
                  <c:v>2282</c:v>
                </c:pt>
                <c:pt idx="3">
                  <c:v>2380</c:v>
                </c:pt>
                <c:pt idx="4">
                  <c:v>3718</c:v>
                </c:pt>
                <c:pt idx="5">
                  <c:v>3258</c:v>
                </c:pt>
                <c:pt idx="6">
                  <c:v>7294</c:v>
                </c:pt>
                <c:pt idx="7">
                  <c:v>6490</c:v>
                </c:pt>
                <c:pt idx="8">
                  <c:v>6551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Contracted revenue (€)</c:v>
                </c:pt>
              </c:strCache>
            </c:strRef>
          </c:tx>
          <c:spPr>
            <a:solidFill>
              <a:srgbClr val="188D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14326</c:v>
                </c:pt>
                <c:pt idx="1">
                  <c:v>8470</c:v>
                </c:pt>
                <c:pt idx="2">
                  <c:v>7847</c:v>
                </c:pt>
                <c:pt idx="3">
                  <c:v>12964</c:v>
                </c:pt>
                <c:pt idx="4">
                  <c:v>50785</c:v>
                </c:pt>
                <c:pt idx="5">
                  <c:v>7020</c:v>
                </c:pt>
                <c:pt idx="6">
                  <c:v>26325</c:v>
                </c:pt>
                <c:pt idx="7">
                  <c:v>34773</c:v>
                </c:pt>
                <c:pt idx="8">
                  <c:v>26080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€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in. Introduce yourself briefly, then set the promise: by the end they'll know the 5-step system we use to turn Meta ads into booked, qualified sales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bonus is the free Growth Call on slide 62. Tease it now so people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pain point most of our clients mention first on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last bullet before presenting. Keep this slide short, 30–45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(PCW) Business Reporting Daily Official 2026, Total row. 1,014 leads, 156 short calls booked, 26 new clients, €188,589.69 contracted revenue. September is month-to-date, so refresh these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ad spend vs contracted revenue from our own reporting sheet. May was the standout month: €3.7K spend → €50.8K contracted. September is month-to-date.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client group DM (21 Sep 2026). Get the client's OK before showing their words publicly, and consider adding their name/photo if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#pacow-englisher Slack channel (June 2026). Confirm the client is happy to be quoted. Swap in a screenshot of the message if you have one, since screenshots work well on webinars.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Add: …and one guarantee that backs it up. This is our offer-strategy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examples. Swap in real headlines from client campaigns if you prefer.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them to reply in the chat. Read a few answers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from our reporting sheet. Adjust the currency for your audience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them to answer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2 (DWY) from the Offer Suite doc. Price isn't shown on the slide; cover it on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Offer Suite: anything over 1x ROAS on contracted revenue counts as profitable. Check the exact guarantee wording with Ema before presenting. The 'or we keep working with you' part is my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with the live booking link and drop it in the chat. Stay on this slide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411480"/>
            <a:ext cx="2606040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20440" y="41148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Coaches &amp; Education Brands Get </a:t>
            </a:r>
            <a:pPr indent="0" marL="0">
              <a:buNone/>
            </a:pPr>
            <a:r>
              <a:rPr lang="en-US" sz="2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High-Ticket Clients</a:t>
            </a:r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Month With Meta Ads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2743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cold DMs or posting all day — in </a:t>
            </a:r>
            <a:pPr indent="0" marL="0">
              <a:buNone/>
            </a:pPr>
            <a:r>
              <a:rPr lang="en-US" sz="18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simple steps</a:t>
            </a:r>
            <a:pPr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until the end… there's a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😉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 stays gets something to help them put this into action.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 good chance you feel…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2948940"/>
          </a:xfrm>
          <a:prstGeom prst="roundRect">
            <a:avLst>
              <a:gd name="adj" fmla="val 3721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Exhausted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429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posting on social media every week with </a:t>
            </a:r>
            <a:pPr indent="0" marL="0">
              <a:buNone/>
            </a:pPr>
            <a:r>
              <a:rPr lang="en-US" sz="1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clients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show for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2948940"/>
          </a:xfrm>
          <a:prstGeom prst="roundRect">
            <a:avLst>
              <a:gd name="adj" fmla="val 3721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00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68880"/>
            <a:ext cx="3429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sending DMs, chasing referrals and following up… and </a:t>
            </a:r>
            <a:pPr indent="0" marL="0">
              <a:buNone/>
            </a:pPr>
            <a:r>
              <a:rPr lang="en-US" sz="1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replies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worse… the people who DO book a call are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qualified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can't afford your offer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you actually want is…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2948940"/>
          </a:xfrm>
          <a:prstGeom prst="roundRect">
            <a:avLst>
              <a:gd name="adj" fmla="val 3721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429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 clients coming in </a:t>
            </a:r>
            <a:pPr indent="0" marL="0">
              <a:buNone/>
            </a:pPr>
            <a:r>
              <a:rPr lang="en-US" sz="1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month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in a good month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2948940"/>
          </a:xfrm>
          <a:prstGeom prst="roundRect">
            <a:avLst>
              <a:gd name="adj" fmla="val 3721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00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68880"/>
            <a:ext cx="3429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spend your time </a:t>
            </a:r>
            <a:pPr indent="0" marL="0">
              <a:buNone/>
            </a:pPr>
            <a:r>
              <a:rPr lang="en-US" sz="1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and growing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chasing leads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there, you need a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way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get new clients month after month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exactly what we're covering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dive in…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reach keeps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more often isn't a growth strategy. It's a lottery ticket.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are great… but you can't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business depends on word of mouth, revenue goes up and down with it.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6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SOLUTION…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DMs &amp; chasing leads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with this strategy…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1603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16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messages get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inboxes are more crowded than ever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60829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17992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1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60829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fewer turn into a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call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87218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44381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443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87218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eats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your day, every day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713607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70770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8707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13607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line… it's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predictable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Meta doesn't want you to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users…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getting harder to reach people with messages they never asked for.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 strategy that brings the right people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conversations are still a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part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this…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that people who come to you are already interested, so they reply and book far more often.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Introducing…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GrowthOS™ Acquisition System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+ a qualifying funnel + automation + a sales process, all working together.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goals for this training…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 why ads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work, and what's actually missing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40280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756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you through the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use to turn ads into qualified sales calls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81528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1693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 how to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it, so you can focus on your clients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320040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Hey, I'm </a:t>
            </a:r>
            <a:pPr indent="0" marL="0">
              <a:buNone/>
            </a:pPr>
            <a:r>
              <a:rPr lang="en-US" sz="2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👋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2344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help run Pacow Media alongside Ema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Meta ad systems for coaches, consultants, course creators &amp; education brands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review our clients' sales calls, scripts and messaging, so ads turn into revenue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a personal detail: where you're based, background, a fun fact]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we kept seeing on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 experts. Great offers. But no system to get clients consistently.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businesses we talk to are…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1603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16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on Instagram and hoping the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people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60829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17992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1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60829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DMs and following up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87218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44381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443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87218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on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word of mouth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713607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70770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8707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13607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 posts, or paying an agency that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didn't deliver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tried ads before… and it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didn't work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hear this on almost every call.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ads weren't the problem. The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behind them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was.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missing…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</a:t>
            </a:r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promise for one type of person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2890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750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5750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Qualification, so only </a:t>
            </a:r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buyers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+ automation that gets people </a:t>
            </a:r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show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942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1802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01802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 that </a:t>
            </a:r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calls you get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asked: when does someone actually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high-ticket offer?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3886200" cy="3726180"/>
          </a:xfrm>
          <a:prstGeom prst="roundRect">
            <a:avLst>
              <a:gd name="adj" fmla="val 2945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822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they WATCH you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3429000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lets them see how you think, so </a:t>
            </a:r>
            <a:pPr indent="0" marL="0">
              <a:buNone/>
            </a:pPr>
            <a:r>
              <a:rPr lang="en-US" sz="1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built before the call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09160" y="548640"/>
            <a:ext cx="3886200" cy="3726180"/>
          </a:xfrm>
          <a:prstGeom prst="roundRect">
            <a:avLst>
              <a:gd name="adj" fmla="val 2945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8229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they TALK to you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91640"/>
            <a:ext cx="3429000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17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conversation</a:t>
            </a:r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where people decide to invest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bring those two together,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GrowthOS™ Acquisition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27760" cy="1600200"/>
          </a:xfrm>
          <a:prstGeom prst="roundRect">
            <a:avLst>
              <a:gd name="adj" fmla="val 810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91640"/>
            <a:ext cx="98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6000"/>
            <a:ext cx="98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out one person &amp; one problem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76400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32432" y="1554480"/>
            <a:ext cx="1127760" cy="1600200"/>
          </a:xfrm>
          <a:prstGeom prst="roundRect">
            <a:avLst>
              <a:gd name="adj" fmla="val 810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5584" y="1691640"/>
            <a:ext cx="98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05584" y="2286000"/>
            <a:ext cx="98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form: budget, intent &amp; fit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60192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16224" y="1554480"/>
            <a:ext cx="1127760" cy="1600200"/>
          </a:xfrm>
          <a:prstGeom prst="roundRect">
            <a:avLst>
              <a:gd name="adj" fmla="val 810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9376" y="1691640"/>
            <a:ext cx="98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VSL + Booking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89376" y="2286000"/>
            <a:ext cx="98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watch you, then pick a time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43984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0016" y="1554480"/>
            <a:ext cx="1127760" cy="1600200"/>
          </a:xfrm>
          <a:prstGeom prst="roundRect">
            <a:avLst>
              <a:gd name="adj" fmla="val 810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1691640"/>
            <a:ext cx="98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73168" y="2286000"/>
            <a:ext cx="98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SMS reminders &amp; nurture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827776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3808" y="1554480"/>
            <a:ext cx="1127760" cy="1600200"/>
          </a:xfrm>
          <a:prstGeom prst="roundRect">
            <a:avLst>
              <a:gd name="adj" fmla="val 810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56960" y="1691640"/>
            <a:ext cx="98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Call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56960" y="2286000"/>
            <a:ext cx="98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qualified, warmed-up leads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211568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67600" y="1554480"/>
            <a:ext cx="1127760" cy="1600200"/>
          </a:xfrm>
          <a:prstGeom prst="roundRect">
            <a:avLst>
              <a:gd name="adj" fmla="val 8108"/>
            </a:avLst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0752" y="1691640"/>
            <a:ext cx="98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40752" y="2286000"/>
            <a:ext cx="98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month after month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is built to </a:t>
            </a:r>
            <a:pPr algn="ctr" indent="0" marL="0">
              <a:buNone/>
            </a:pPr>
            <a:r>
              <a:rPr lang="en-US" sz="1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out</a:t>
            </a:r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wrong people and </a:t>
            </a:r>
            <a:pPr algn="ctr" indent="0" marL="0">
              <a:buNone/>
            </a:pPr>
            <a:r>
              <a:rPr lang="en-US" sz="1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</a:t>
            </a:r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right ones.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works…</a:t>
            </a:r>
            <a:endParaRPr lang="en-US" sz="3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pipeline in 2026 so far…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05940" cy="201168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805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1805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28900" y="1371600"/>
            <a:ext cx="1805940" cy="201168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28900" y="1600200"/>
            <a:ext cx="1805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628900" y="2560320"/>
            <a:ext cx="1805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booked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1805940" cy="201168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600200"/>
            <a:ext cx="1805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560320"/>
            <a:ext cx="1805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89420" y="1371600"/>
            <a:ext cx="1805940" cy="201168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89420" y="1600200"/>
            <a:ext cx="1805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€188K+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789420" y="2560320"/>
            <a:ext cx="1805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revenue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 Media's own Meta ads, Jan–Sep 2026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€34.8K ad spend → </a:t>
            </a:r>
            <a:pPr algn="l" indent="0" marL="0">
              <a:buNone/>
            </a:pPr>
            <a:r>
              <a:rPr lang="en-US" sz="3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€188.6K</a:t>
            </a:r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contracted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80467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</a:t>
            </a:r>
            <a:pPr algn="l" indent="0" marL="0">
              <a:buNone/>
            </a:pPr>
            <a:r>
              <a:rPr lang="en-US" sz="3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services</a:t>
            </a:r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$21,900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sales from Pacow ads, and counting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 definitely made back </a:t>
            </a:r>
            <a:pPr indent="0" marL="0">
              <a:buNone/>
            </a:pPr>
            <a:r>
              <a:rPr lang="en-US" sz="2000" b="1" i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 fee plus Meta ads spend</a:t>
            </a:r>
            <a:pPr indent="0" marL="0">
              <a:buNone/>
            </a:pPr>
            <a:r>
              <a:rPr lang="en-US" sz="20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Plus more ❤️”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an </a:t>
            </a:r>
            <a:pPr algn="l" indent="0" marL="0">
              <a:buNone/>
            </a:pPr>
            <a:r>
              <a:rPr lang="en-US" sz="3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English school</a:t>
            </a:r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“…as you can see, </a:t>
            </a:r>
            <a:pPr algn="ctr" indent="0" marL="0">
              <a:buNone/>
            </a:pPr>
            <a:r>
              <a:rPr lang="en-US" sz="2600" b="1" i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meetings booked</a:t>
            </a:r>
            <a:pPr algn="ctr" indent="0" marL="0">
              <a:buNone/>
            </a:pPr>
            <a:r>
              <a:rPr lang="en-US" sz="26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the last 24 hours, so great results, we're happy 🙌”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 show you the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process we use with every client.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steps of the GrowthOS™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08964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08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Strategy, Offer &amp; Database Reactivation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895551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70075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19700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95551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Meta Ads that filter for the right people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56662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31186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6311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556662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Qualification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217774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292297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2922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217774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Funnel, CRM &amp; Full Automation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78885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953408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953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878885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Sales Coaching, Optimisation &amp; Scale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6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Offer &amp; Database Reactivation</a:t>
            </a:r>
            <a:endParaRPr lang="en-US" sz="3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muddy offer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campaigns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no matter how good the ads are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offer needs ONE of each…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serve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2890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750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5750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solve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deliver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9420" y="1325880"/>
            <a:ext cx="1805940" cy="2948940"/>
          </a:xfrm>
          <a:prstGeom prst="roundRect">
            <a:avLst>
              <a:gd name="adj" fmla="val 6076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18020" y="160020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018020" y="2468880"/>
            <a:ext cx="13487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</a:t>
            </a:r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make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headline must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out your ideal client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name their problem or goal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“Coaches: how to book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qualified sales calls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month without cold DMs”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40280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756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tutoring businesses fill their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 enrolment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30 days”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81528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1693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“Consultants doing $10K/mo: the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system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reach $30K”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old leads are sitting on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we build, we reactivate your existing database. In most cases that brings 1–3 extra sales in the first two weeks, before a single ad goes live.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6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3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 is your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filter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copy and targeting should turn away the wrong people and attract the right ones.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run it…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1603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16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3–10 ad angles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from your ideal client's top pain points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60829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17992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1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60829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at around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$100/day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(about $3K/month)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87218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44381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443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87218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lead, cost per booked call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lead quality from day one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713607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70770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8707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13607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isn't working,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6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Qualification</a:t>
            </a:r>
            <a:endParaRPr lang="en-US" sz="3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layers of filtering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11552" cy="1600200"/>
          </a:xfrm>
          <a:prstGeom prst="roundRect">
            <a:avLst>
              <a:gd name="adj" fmla="val 5714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916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The 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6000"/>
            <a:ext cx="2365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+ messaging repel the wrong people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060192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16224" y="1554480"/>
            <a:ext cx="2511552" cy="1600200"/>
          </a:xfrm>
          <a:prstGeom prst="roundRect">
            <a:avLst>
              <a:gd name="adj" fmla="val 5714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9376" y="16916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The 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9376" y="2286000"/>
            <a:ext cx="2365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screen for budget, intent &amp; fit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27776" y="2125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3808" y="1554480"/>
            <a:ext cx="2511552" cy="1600200"/>
          </a:xfrm>
          <a:prstGeom prst="roundRect">
            <a:avLst>
              <a:gd name="adj" fmla="val 5714"/>
            </a:avLst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56960" y="1691640"/>
            <a:ext cx="2365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Calendar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56960" y="2286000"/>
            <a:ext cx="2365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people who pass both can book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time is protected and your </a:t>
            </a:r>
            <a:pPr algn="ctr" indent="0" marL="0">
              <a:buNone/>
            </a:pPr>
            <a:r>
              <a:rPr lang="en-US" sz="1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rate goes up</a:t>
            </a:r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qualify enough… but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much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questions cause a big drop-off. Keep only the ones that decide fit.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6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Funnel, CRM &amp; Full Automation</a:t>
            </a:r>
            <a:endParaRPr lang="en-US" sz="3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499360" cy="2948940"/>
          </a:xfrm>
          <a:prstGeom prst="roundRect">
            <a:avLst>
              <a:gd name="adj" fmla="val 439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204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0421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page, VSL and call booking flow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22320" y="1325880"/>
            <a:ext cx="2499360" cy="2948940"/>
          </a:xfrm>
          <a:prstGeom prst="roundRect">
            <a:avLst>
              <a:gd name="adj" fmla="val 439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0920" y="1600200"/>
            <a:ext cx="204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50920" y="2468880"/>
            <a:ext cx="20421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+ SMS confirmations and reminders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6000" y="1325880"/>
            <a:ext cx="2499360" cy="2948940"/>
          </a:xfrm>
          <a:prstGeom prst="roundRect">
            <a:avLst>
              <a:gd name="adj" fmla="val 439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4600" y="1600200"/>
            <a:ext cx="204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24600" y="2468880"/>
            <a:ext cx="20421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stages, no-show follow-up and nurture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someone books, the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takes over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reminds them, warms them up, and gets them to show up ready to buy, without you chasing anyone.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check-in…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you doing so far?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40280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756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see how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can be?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81528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1693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see how this could get you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clients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88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6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Coaching, Optimisation &amp; Scale</a:t>
            </a:r>
            <a:endParaRPr lang="en-US" sz="3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lift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your close rate = thousands more every month… with the </a:t>
            </a:r>
            <a:pPr algn="ctr" indent="0" marL="0">
              <a:buNone/>
            </a:pPr>
            <a:r>
              <a:rPr lang="en-US" sz="3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ad spend</a:t>
            </a:r>
            <a:endParaRPr lang="en-US" sz="3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we watch</a:t>
            </a:r>
            <a:endParaRPr lang="en-US" sz="3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Click-through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lead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€22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booked 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€215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Show-up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30%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on contracted 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4x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on cash collected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88D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2x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expect in the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08964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08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strategy locked in + database reactivation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895551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70075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19700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95551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2–4: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ads live, with real data coming 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56662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31186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6311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556662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week 4: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funnel, CRM &amp; automation running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217774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292297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2922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217774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2–3: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sales coaching, optimisation &amp; scaling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78885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953408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953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878885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2–3x on cash collected, 4–6x on pipeline revenue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recap the 5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08964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08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Strategy, Offer &amp; Database Reactivation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895551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70075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19700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95551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Meta Ads that filter for the right people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56662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31186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6311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556662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Qualification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217774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292297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2922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217774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Funnel, CRM &amp; Full Automation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878885"/>
            <a:ext cx="8046720" cy="533095"/>
          </a:xfrm>
          <a:prstGeom prst="roundRect">
            <a:avLst>
              <a:gd name="adj" fmla="val 13722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953408"/>
            <a:ext cx="384048" cy="384048"/>
          </a:xfrm>
          <a:prstGeom prst="ellipse">
            <a:avLst/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953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878885"/>
            <a:ext cx="7132320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Sales Coaching, Optimisation &amp; Scale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followed these 5 steps, do you think you'd get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clients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month?</a:t>
            </a:r>
            <a:endParaRPr lang="en-US" sz="3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you'd never have to send another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DM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again…</a:t>
            </a:r>
            <a:endParaRPr lang="en-US" sz="3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"/>
            <a:ext cx="7863840" cy="3954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 ask you a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3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us to build this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you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it's done right, faster, without the trial and error.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buNone/>
            </a:pPr>
            <a:r>
              <a:rPr lang="en-US" sz="3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Accelerator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90–120 days · done with you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funnel setup (landing page + VSL)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203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done-for-you ad scripts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807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done-for-you ad editing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10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coach: 2x/month 1:1 calls + DM support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curriculum (Skool)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2267712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2037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scripts &amp; call reviews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2871216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2807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Slack channel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410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GrowthOS™ roadmap from day 1 to graduation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works for…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1603"/>
            <a:ext cx="384048" cy="38404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160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Coaches, consultants, course creators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education brands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60829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17992"/>
            <a:ext cx="384048" cy="38404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1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60829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around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$5K+/month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revenue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87218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44381"/>
            <a:ext cx="384048" cy="38404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443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87218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 offer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($1K+)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713607"/>
            <a:ext cx="8046720" cy="698373"/>
          </a:xfrm>
          <a:prstGeom prst="roundRect">
            <a:avLst>
              <a:gd name="adj" fmla="val 10475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870770"/>
            <a:ext cx="384048" cy="384048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8707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13607"/>
            <a:ext cx="7132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Able to invest around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$100/day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ads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NOT for…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344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looking for a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get-rich-quick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shortcut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40280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0756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isn't willing to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ads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81528"/>
            <a:ext cx="384048" cy="384048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1693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who won't </a:t>
            </a:r>
            <a:pPr indent="0" marL="0">
              <a:buNone/>
            </a:pPr>
            <a:r>
              <a:rPr lang="en-US" sz="18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up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calls or follow the process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</a:t>
            </a:r>
            <a:pPr algn="l" indent="0" marL="0">
              <a:buNone/>
            </a:pPr>
            <a:r>
              <a:rPr lang="en-US" sz="3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88DFB"/>
          </a:solidFill>
          <a:ln w="12700">
            <a:solidFill>
              <a:srgbClr val="188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ads, or we keep working with you.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 your part: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6459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$100+/day in ads for 3 months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5x a week on social media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every 1:1 coaching call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our messaging &amp; sales process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monthly check-ins on time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</a:t>
            </a:r>
            <a:pPr algn="ctr" indent="0" marL="0">
              <a:buNone/>
            </a:pPr>
            <a:r>
              <a:rPr lang="en-US" sz="36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everyone who stayed: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Growth Call. We'll look at your offer and funnel and map out your ad strategy.</a:t>
            </a:r>
            <a:endParaRPr 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PACOW</a:t>
            </a:r>
            <a:pPr indent="0" marL="0">
              <a:buNone/>
            </a:pPr>
            <a:r>
              <a:rPr lang="en-US" sz="1300" b="1" spc="200" kern="0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89320" y="46863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Viktorija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free </a:t>
            </a:r>
            <a:pPr algn="ctr" indent="0" marL="0">
              <a:buNone/>
            </a:pPr>
            <a:r>
              <a:rPr lang="en-US" sz="4000" b="1" dirty="0">
                <a:solidFill>
                  <a:srgbClr val="188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Call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0" cy="777240"/>
          </a:xfrm>
          <a:prstGeom prst="roundRect">
            <a:avLst>
              <a:gd name="adj" fmla="val 1764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link in the chat 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[Paste your booking link here]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Pacow Media Webinar</dc:title>
  <dc:subject>PptxGenJS Presentation</dc:subject>
  <dc:creator>Pacow Media</dc:creator>
  <cp:lastModifiedBy>Pacow Media</cp:lastModifiedBy>
  <cp:revision>1</cp:revision>
  <dcterms:created xsi:type="dcterms:W3CDTF">2026-09-23T14:11:21Z</dcterms:created>
  <dcterms:modified xsi:type="dcterms:W3CDTF">2026-09-23T14:11:21Z</dcterms:modified>
</cp:coreProperties>
</file>