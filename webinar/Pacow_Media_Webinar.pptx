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in. Promise: by the end they'll know the 5-step system we use to turn Facebook &amp; Instagram ads into qualified calls and new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bonus is the free Growth Call near the end. Tease it now so people stay.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This is the pain point most education founders mention first on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Personalise the last bullet before presenting. Keep this slide short, 30–45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numbers as the landing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…and one guarantee that backs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Illustrative examples. Swap in real headlines from client campaigns if you prefer.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to reply in the chat. Read a few answers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Targets from our reporting sheets.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 them to answer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this list matches the offer you're pitching on this webinar. Price isn't shown; cover it on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guarantee as the landing page. Mention the conditions (ad spend, showing up to calls, applying the process) if you're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the placeholder with the live booking link and drop it in the chat. Stay on this slide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MAIN-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SECTION-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I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11480" y="4686300"/>
            <a:ext cx="82296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PACOW</a:t>
            </a:r>
            <a:endParaRPr lang="en-US" sz="1400" dirty="0"/>
          </a:p>
        </p:txBody>
      </p:sp>
      <p:sp>
        <p:nvSpPr>
          <p:cNvPr id="3" name="Text 1"/>
          <p:cNvSpPr/>
          <p:nvPr/>
        </p:nvSpPr>
        <p:spPr>
          <a:xfrm>
            <a:off x="1097280" y="4686300"/>
            <a:ext cx="182880" cy="320040"/>
          </a:xfrm>
          <a:prstGeom prst="rect">
            <a:avLst/>
          </a:prstGeom>
          <a:noFill/>
          <a:ln/>
        </p:spPr>
        <p:txBody>
          <a:bodyPr wrap="square" lIns="0" tIns="0" rIns="0" bIns="0" rtlCol="0" anchor="ctr"/>
          <a:lstStyle/>
          <a:p>
            <a:pPr indent="0" marL="0">
              <a:buNone/>
            </a:pPr>
            <a:r>
              <a:rPr lang="en-US" sz="1400" b="1" dirty="0">
                <a:solidFill>
                  <a:srgbClr val="7C3CFF"/>
                </a:solidFill>
                <a:latin typeface="Arial" pitchFamily="34" charset="0"/>
                <a:ea typeface="Arial" pitchFamily="34" charset="-122"/>
                <a:cs typeface="Arial" pitchFamily="34" charset="-120"/>
              </a:rPr>
              <a:t>.</a:t>
            </a:r>
            <a:endParaRPr lang="en-US" sz="1400" dirty="0"/>
          </a:p>
        </p:txBody>
      </p:sp>
      <p:sp>
        <p:nvSpPr>
          <p:cNvPr id="4" name="Text 2"/>
          <p:cNvSpPr/>
          <p:nvPr/>
        </p:nvSpPr>
        <p:spPr>
          <a:xfrm>
            <a:off x="5989320" y="4686300"/>
            <a:ext cx="2743200" cy="320040"/>
          </a:xfrm>
          <a:prstGeom prst="rect">
            <a:avLst/>
          </a:prstGeom>
          <a:noFill/>
          <a:ln/>
        </p:spPr>
        <p:txBody>
          <a:bodyPr wrap="square" lIns="0" tIns="0" rIns="0" bIns="0" rtlCol="0" anchor="ctr"/>
          <a:lstStyle/>
          <a:p>
            <a:pPr algn="r" indent="0" marL="0">
              <a:buNone/>
            </a:pPr>
            <a:r>
              <a:rPr lang="en-US" sz="1000" dirty="0">
                <a:solidFill>
                  <a:srgbClr val="A6A1B5"/>
                </a:solidFill>
                <a:latin typeface="Arial" pitchFamily="34" charset="0"/>
                <a:ea typeface="Arial" pitchFamily="34" charset="-122"/>
                <a:cs typeface="Arial" pitchFamily="34" charset="-120"/>
              </a:rPr>
              <a:t>Viktorija · Pacow Media</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11480" y="4686300"/>
            <a:ext cx="82296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PACOW</a:t>
            </a:r>
            <a:endParaRPr lang="en-US" sz="1400" dirty="0"/>
          </a:p>
        </p:txBody>
      </p:sp>
      <p:sp>
        <p:nvSpPr>
          <p:cNvPr id="3" name="Text 1"/>
          <p:cNvSpPr/>
          <p:nvPr/>
        </p:nvSpPr>
        <p:spPr>
          <a:xfrm>
            <a:off x="1097280" y="4686300"/>
            <a:ext cx="182880" cy="320040"/>
          </a:xfrm>
          <a:prstGeom prst="rect">
            <a:avLst/>
          </a:prstGeom>
          <a:noFill/>
          <a:ln/>
        </p:spPr>
        <p:txBody>
          <a:bodyPr wrap="square" lIns="0" tIns="0" rIns="0" bIns="0" rtlCol="0" anchor="ctr"/>
          <a:lstStyle/>
          <a:p>
            <a:pPr indent="0" marL="0">
              <a:buNone/>
            </a:pPr>
            <a:r>
              <a:rPr lang="en-US" sz="1400" b="1" dirty="0">
                <a:solidFill>
                  <a:srgbClr val="7C3CFF"/>
                </a:solidFill>
                <a:latin typeface="Arial" pitchFamily="34" charset="0"/>
                <a:ea typeface="Arial" pitchFamily="34" charset="-122"/>
                <a:cs typeface="Arial" pitchFamily="34" charset="-120"/>
              </a:rPr>
              <a:t>.</a:t>
            </a:r>
            <a:endParaRPr lang="en-US" sz="1400" dirty="0"/>
          </a:p>
        </p:txBody>
      </p:sp>
      <p:sp>
        <p:nvSpPr>
          <p:cNvPr id="4" name="Text 2"/>
          <p:cNvSpPr/>
          <p:nvPr/>
        </p:nvSpPr>
        <p:spPr>
          <a:xfrm>
            <a:off x="5989320" y="4686300"/>
            <a:ext cx="2743200" cy="320040"/>
          </a:xfrm>
          <a:prstGeom prst="rect">
            <a:avLst/>
          </a:prstGeom>
          <a:noFill/>
          <a:ln/>
        </p:spPr>
        <p:txBody>
          <a:bodyPr wrap="square" lIns="0" tIns="0" rIns="0" bIns="0" rtlCol="0" anchor="ctr"/>
          <a:lstStyle/>
          <a:p>
            <a:pPr algn="r" indent="0" marL="0">
              <a:buNone/>
            </a:pPr>
            <a:r>
              <a:rPr lang="en-US" sz="1000" dirty="0">
                <a:solidFill>
                  <a:srgbClr val="A6A1B5"/>
                </a:solidFill>
                <a:latin typeface="Arial" pitchFamily="34" charset="0"/>
                <a:ea typeface="Arial" pitchFamily="34" charset="-122"/>
                <a:cs typeface="Arial" pitchFamily="34" charset="-120"/>
              </a:rPr>
              <a:t>Viktorija · Pacow Media</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6172200" y="457200"/>
            <a:ext cx="2514600" cy="3355848"/>
          </a:xfrm>
          <a:prstGeom prst="rect">
            <a:avLst/>
          </a:prstGeom>
        </p:spPr>
      </p:pic>
      <p:sp>
        <p:nvSpPr>
          <p:cNvPr id="3" name="Shape 0"/>
          <p:cNvSpPr/>
          <p:nvPr/>
        </p:nvSpPr>
        <p:spPr>
          <a:xfrm>
            <a:off x="548640" y="640080"/>
            <a:ext cx="3566160" cy="365760"/>
          </a:xfrm>
          <a:prstGeom prst="roundRect">
            <a:avLst>
              <a:gd name="adj" fmla="val 50000"/>
            </a:avLst>
          </a:prstGeom>
          <a:solidFill>
            <a:srgbClr val="FFFFFF"/>
          </a:solidFill>
          <a:ln w="12700">
            <a:solidFill>
              <a:srgbClr val="FFFFFF"/>
            </a:solidFill>
            <a:prstDash val="solid"/>
          </a:ln>
        </p:spPr>
      </p:sp>
      <p:sp>
        <p:nvSpPr>
          <p:cNvPr id="4" name="Shape 1"/>
          <p:cNvSpPr/>
          <p:nvPr/>
        </p:nvSpPr>
        <p:spPr>
          <a:xfrm>
            <a:off x="713232" y="768096"/>
            <a:ext cx="109728" cy="109728"/>
          </a:xfrm>
          <a:prstGeom prst="ellipse">
            <a:avLst/>
          </a:prstGeom>
          <a:solidFill>
            <a:srgbClr val="7C3CFF"/>
          </a:solidFill>
          <a:ln w="12700">
            <a:solidFill>
              <a:srgbClr val="7C3CFF"/>
            </a:solidFill>
            <a:prstDash val="solid"/>
          </a:ln>
        </p:spPr>
      </p:sp>
      <p:sp>
        <p:nvSpPr>
          <p:cNvPr id="5" name="Text 2"/>
          <p:cNvSpPr txBox="1"/>
          <p:nvPr/>
        </p:nvSpPr>
        <p:spPr>
          <a:xfrm>
            <a:off x="896112" y="640080"/>
            <a:ext cx="3108960" cy="365760"/>
          </a:xfrm>
          <a:prstGeom prst="rect">
            <a:avLst/>
          </a:prstGeom>
          <a:noFill/>
          <a:ln/>
        </p:spPr>
        <p:txBody>
          <a:bodyPr wrap="square" lIns="0" tIns="0" rIns="0" bIns="0" rtlCol="0" anchor="ctr"/>
          <a:lstStyle/>
          <a:p>
            <a:pPr indent="0" marL="0">
              <a:buNone/>
            </a:pPr>
            <a:r>
              <a:rPr lang="en-US" sz="1200" b="1" dirty="0">
                <a:solidFill>
                  <a:srgbClr val="15121C"/>
                </a:solidFill>
                <a:latin typeface="Arial" pitchFamily="34" charset="0"/>
                <a:ea typeface="Arial" pitchFamily="34" charset="-122"/>
                <a:cs typeface="Arial" pitchFamily="34" charset="-120"/>
              </a:rPr>
              <a:t>Education brands &amp; course creators</a:t>
            </a:r>
            <a:endParaRPr lang="en-US" sz="1200" dirty="0"/>
          </a:p>
        </p:txBody>
      </p:sp>
      <p:sp>
        <p:nvSpPr>
          <p:cNvPr id="6" name="Text 3"/>
          <p:cNvSpPr txBox="1"/>
          <p:nvPr/>
        </p:nvSpPr>
        <p:spPr>
          <a:xfrm>
            <a:off x="548640" y="1188720"/>
            <a:ext cx="5394960" cy="210312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How Education Brands Add </a:t>
            </a:r>
            <a:pPr indent="0" marL="0">
              <a:buNone/>
            </a:pPr>
            <a:r>
              <a:rPr lang="en-US" sz="2800" b="1" u="heavy" dirty="0">
                <a:solidFill>
                  <a:srgbClr val="FFFFFF"/>
                </a:solidFill>
                <a:uFill>
                  <a:solidFill>
                    <a:srgbClr val="7C3CFF"/>
                  </a:solidFill>
                </a:uFill>
                <a:latin typeface="Arial" pitchFamily="34" charset="0"/>
                <a:ea typeface="Arial" pitchFamily="34" charset="-122"/>
                <a:cs typeface="Arial" pitchFamily="34" charset="-120"/>
              </a:rPr>
              <a:t>10‑20+ New Students</a:t>
            </a:r>
            <a:pPr indent="0" marL="0">
              <a:buNone/>
            </a:pPr>
            <a:r>
              <a:rPr lang="en-US" sz="2800" b="1" dirty="0">
                <a:solidFill>
                  <a:srgbClr val="FFFFFF"/>
                </a:solidFill>
                <a:latin typeface="Arial" pitchFamily="34" charset="0"/>
                <a:ea typeface="Arial" pitchFamily="34" charset="-122"/>
                <a:cs typeface="Arial" pitchFamily="34" charset="-120"/>
              </a:rPr>
              <a:t> a Month With Facebook &amp; Instagram Ads</a:t>
            </a:r>
            <a:endParaRPr lang="en-US" sz="2800" dirty="0"/>
          </a:p>
        </p:txBody>
      </p:sp>
      <p:sp>
        <p:nvSpPr>
          <p:cNvPr id="7" name="Text 4"/>
          <p:cNvSpPr txBox="1"/>
          <p:nvPr/>
        </p:nvSpPr>
        <p:spPr>
          <a:xfrm>
            <a:off x="548640" y="3429000"/>
            <a:ext cx="5394960" cy="640080"/>
          </a:xfrm>
          <a:prstGeom prst="rect">
            <a:avLst/>
          </a:prstGeom>
          <a:noFill/>
          <a:ln/>
        </p:spPr>
        <p:txBody>
          <a:bodyPr wrap="square" lIns="0" tIns="0" rIns="0" bIns="0" rtlCol="0" anchor="t"/>
          <a:lstStyle/>
          <a:p>
            <a:pPr indent="0" marL="0">
              <a:buNone/>
            </a:pPr>
            <a:r>
              <a:rPr lang="en-US" sz="1500" dirty="0">
                <a:solidFill>
                  <a:srgbClr val="A6A1B5"/>
                </a:solidFill>
                <a:latin typeface="Arial" pitchFamily="34" charset="0"/>
                <a:ea typeface="Arial" pitchFamily="34" charset="-122"/>
                <a:cs typeface="Arial" pitchFamily="34" charset="-120"/>
              </a:rPr>
              <a:t>Using </a:t>
            </a:r>
            <a:pPr indent="0" marL="0">
              <a:buNone/>
            </a:pPr>
            <a:r>
              <a:rPr lang="en-US" sz="1500" b="1" dirty="0">
                <a:solidFill>
                  <a:srgbClr val="FFFFFF"/>
                </a:solidFill>
                <a:latin typeface="Arial" pitchFamily="34" charset="0"/>
                <a:ea typeface="Arial" pitchFamily="34" charset="-122"/>
                <a:cs typeface="Arial" pitchFamily="34" charset="-120"/>
              </a:rPr>
              <a:t>GrowthOS™</a:t>
            </a:r>
            <a:pPr indent="0" marL="0">
              <a:buNone/>
            </a:pPr>
            <a:r>
              <a:rPr lang="en-US" sz="1500" dirty="0">
                <a:solidFill>
                  <a:srgbClr val="A6A1B5"/>
                </a:solidFill>
                <a:latin typeface="Arial" pitchFamily="34" charset="0"/>
                <a:ea typeface="Arial" pitchFamily="34" charset="-122"/>
                <a:cs typeface="Arial" pitchFamily="34" charset="-120"/>
              </a:rPr>
              <a:t> – our Meta &amp; Instagram ads system, live in 14 days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457200"/>
            <a:ext cx="7863840" cy="242316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Stay until the end… there's a </a:t>
            </a:r>
            <a:pPr algn="ctr" indent="0" marL="0">
              <a:buNone/>
            </a:pPr>
            <a:r>
              <a:rPr lang="en-US" sz="3600" b="1" dirty="0">
                <a:solidFill>
                  <a:srgbClr val="B79CFF"/>
                </a:solidFill>
                <a:latin typeface="Arial" pitchFamily="34" charset="0"/>
                <a:ea typeface="Arial" pitchFamily="34" charset="-122"/>
                <a:cs typeface="Arial" pitchFamily="34" charset="-120"/>
              </a:rPr>
              <a:t>bonus</a:t>
            </a:r>
            <a:pPr algn="ctr" indent="0" marL="0">
              <a:buNone/>
            </a:pPr>
            <a:r>
              <a:rPr lang="en-US" sz="3600" b="1" dirty="0">
                <a:solidFill>
                  <a:srgbClr val="FFFFFF"/>
                </a:solidFill>
                <a:latin typeface="Arial" pitchFamily="34" charset="0"/>
                <a:ea typeface="Arial" pitchFamily="34" charset="-122"/>
                <a:cs typeface="Arial" pitchFamily="34" charset="-120"/>
              </a:rPr>
              <a:t> 😉</a:t>
            </a:r>
            <a:endParaRPr lang="en-US" sz="3600" dirty="0"/>
          </a:p>
        </p:txBody>
      </p:sp>
      <p:sp>
        <p:nvSpPr>
          <p:cNvPr id="3" name="Text 1"/>
          <p:cNvSpPr txBox="1"/>
          <p:nvPr/>
        </p:nvSpPr>
        <p:spPr>
          <a:xfrm>
            <a:off x="914400" y="3017520"/>
            <a:ext cx="7315200" cy="1188720"/>
          </a:xfrm>
          <a:prstGeom prst="rect">
            <a:avLst/>
          </a:prstGeom>
          <a:noFill/>
          <a:ln/>
        </p:spPr>
        <p:txBody>
          <a:bodyPr wrap="square" lIns="0" tIns="0" rIns="0" bIns="0" rtlCol="0" anchor="t"/>
          <a:lstStyle/>
          <a:p>
            <a:pPr algn="ctr" indent="0" marL="0">
              <a:buNone/>
            </a:pPr>
            <a:r>
              <a:rPr lang="en-US" sz="1900" dirty="0">
                <a:solidFill>
                  <a:srgbClr val="A6A1B5"/>
                </a:solidFill>
                <a:latin typeface="Arial" pitchFamily="34" charset="0"/>
                <a:ea typeface="Arial" pitchFamily="34" charset="-122"/>
                <a:cs typeface="Arial" pitchFamily="34" charset="-120"/>
              </a:rPr>
              <a:t>Everyone who stays gets something to help them put this into action.</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65760"/>
            <a:ext cx="80467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There's a good chance you feel…</a:t>
            </a:r>
            <a:endParaRPr lang="en-US" sz="3000" dirty="0"/>
          </a:p>
        </p:txBody>
      </p:sp>
      <p:sp>
        <p:nvSpPr>
          <p:cNvPr id="3" name="Shape 1"/>
          <p:cNvSpPr/>
          <p:nvPr/>
        </p:nvSpPr>
        <p:spPr>
          <a:xfrm>
            <a:off x="548640" y="1325880"/>
            <a:ext cx="3886200" cy="2560320"/>
          </a:xfrm>
          <a:prstGeom prst="roundRect">
            <a:avLst>
              <a:gd name="adj" fmla="val 4286"/>
            </a:avLst>
          </a:prstGeom>
          <a:solidFill>
            <a:srgbClr val="17131F"/>
          </a:solidFill>
          <a:ln w="12700">
            <a:solidFill>
              <a:srgbClr val="2C2344"/>
            </a:solidFill>
            <a:prstDash val="solid"/>
          </a:ln>
        </p:spPr>
      </p:sp>
      <p:sp>
        <p:nvSpPr>
          <p:cNvPr id="4" name="Text 2"/>
          <p:cNvSpPr txBox="1"/>
          <p:nvPr/>
        </p:nvSpPr>
        <p:spPr>
          <a:xfrm>
            <a:off x="777240" y="1600200"/>
            <a:ext cx="3429000" cy="822960"/>
          </a:xfrm>
          <a:prstGeom prst="rect">
            <a:avLst/>
          </a:prstGeom>
          <a:noFill/>
          <a:ln/>
        </p:spPr>
        <p:txBody>
          <a:bodyPr wrap="square" lIns="0" tIns="0" rIns="0" bIns="0" rtlCol="0" anchor="t"/>
          <a:lstStyle/>
          <a:p>
            <a:pPr indent="0" marL="0">
              <a:buNone/>
            </a:pPr>
            <a:r>
              <a:rPr lang="en-US" sz="3400" b="1" dirty="0">
                <a:solidFill>
                  <a:srgbClr val="B79CFF"/>
                </a:solidFill>
                <a:latin typeface="Arial" pitchFamily="34" charset="0"/>
                <a:ea typeface="Arial" pitchFamily="34" charset="-122"/>
                <a:cs typeface="Arial" pitchFamily="34" charset="-120"/>
              </a:rPr>
              <a:t>Exhausted</a:t>
            </a:r>
            <a:endParaRPr lang="en-US" sz="3400" dirty="0"/>
          </a:p>
        </p:txBody>
      </p:sp>
      <p:sp>
        <p:nvSpPr>
          <p:cNvPr id="5" name="Text 3"/>
          <p:cNvSpPr txBox="1"/>
          <p:nvPr/>
        </p:nvSpPr>
        <p:spPr>
          <a:xfrm>
            <a:off x="777240" y="2468880"/>
            <a:ext cx="3429000" cy="118872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from posting content every week with </a:t>
            </a:r>
            <a:pPr indent="0" marL="0">
              <a:buNone/>
            </a:pPr>
            <a:r>
              <a:rPr lang="en-US" sz="2000" b="1" dirty="0">
                <a:solidFill>
                  <a:srgbClr val="B79CFF"/>
                </a:solidFill>
                <a:latin typeface="Arial" pitchFamily="34" charset="0"/>
                <a:ea typeface="Arial" pitchFamily="34" charset="-122"/>
                <a:cs typeface="Arial" pitchFamily="34" charset="-120"/>
              </a:rPr>
              <a:t>no enrolments</a:t>
            </a:r>
            <a:pPr indent="0" marL="0">
              <a:buNone/>
            </a:pPr>
            <a:r>
              <a:rPr lang="en-US" sz="2000" dirty="0">
                <a:solidFill>
                  <a:srgbClr val="FFFFFF"/>
                </a:solidFill>
                <a:latin typeface="Arial" pitchFamily="34" charset="0"/>
                <a:ea typeface="Arial" pitchFamily="34" charset="-122"/>
                <a:cs typeface="Arial" pitchFamily="34" charset="-120"/>
              </a:rPr>
              <a:t> to show for it</a:t>
            </a:r>
            <a:endParaRPr lang="en-US" sz="2000" dirty="0"/>
          </a:p>
        </p:txBody>
      </p:sp>
      <p:sp>
        <p:nvSpPr>
          <p:cNvPr id="6" name="Shape 4"/>
          <p:cNvSpPr/>
          <p:nvPr/>
        </p:nvSpPr>
        <p:spPr>
          <a:xfrm>
            <a:off x="4709160" y="1325880"/>
            <a:ext cx="3886200" cy="2560320"/>
          </a:xfrm>
          <a:prstGeom prst="roundRect">
            <a:avLst>
              <a:gd name="adj" fmla="val 4286"/>
            </a:avLst>
          </a:prstGeom>
          <a:solidFill>
            <a:srgbClr val="17131F"/>
          </a:solidFill>
          <a:ln w="12700">
            <a:solidFill>
              <a:srgbClr val="2C2344"/>
            </a:solidFill>
            <a:prstDash val="solid"/>
          </a:ln>
        </p:spPr>
      </p:sp>
      <p:sp>
        <p:nvSpPr>
          <p:cNvPr id="7" name="Text 5"/>
          <p:cNvSpPr txBox="1"/>
          <p:nvPr/>
        </p:nvSpPr>
        <p:spPr>
          <a:xfrm>
            <a:off x="4937760" y="1600200"/>
            <a:ext cx="3429000" cy="822960"/>
          </a:xfrm>
          <a:prstGeom prst="rect">
            <a:avLst/>
          </a:prstGeom>
          <a:noFill/>
          <a:ln/>
        </p:spPr>
        <p:txBody>
          <a:bodyPr wrap="square" lIns="0" tIns="0" rIns="0" bIns="0" rtlCol="0" anchor="t"/>
          <a:lstStyle/>
          <a:p>
            <a:pPr indent="0" marL="0">
              <a:buNone/>
            </a:pPr>
            <a:r>
              <a:rPr lang="en-US" sz="3400" b="1" dirty="0">
                <a:solidFill>
                  <a:srgbClr val="B79CFF"/>
                </a:solidFill>
                <a:latin typeface="Arial" pitchFamily="34" charset="0"/>
                <a:ea typeface="Arial" pitchFamily="34" charset="-122"/>
                <a:cs typeface="Arial" pitchFamily="34" charset="-120"/>
              </a:rPr>
              <a:t>Frustrated</a:t>
            </a:r>
            <a:endParaRPr lang="en-US" sz="3400" dirty="0"/>
          </a:p>
        </p:txBody>
      </p:sp>
      <p:sp>
        <p:nvSpPr>
          <p:cNvPr id="8" name="Text 6"/>
          <p:cNvSpPr txBox="1"/>
          <p:nvPr/>
        </p:nvSpPr>
        <p:spPr>
          <a:xfrm>
            <a:off x="4937760" y="2468880"/>
            <a:ext cx="3429000" cy="118872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that growth depends on referrals, word of mouth and </a:t>
            </a:r>
            <a:pPr indent="0" marL="0">
              <a:buNone/>
            </a:pPr>
            <a:r>
              <a:rPr lang="en-US" sz="2000" b="1" dirty="0">
                <a:solidFill>
                  <a:srgbClr val="B79CFF"/>
                </a:solidFill>
                <a:latin typeface="Arial" pitchFamily="34" charset="0"/>
                <a:ea typeface="Arial" pitchFamily="34" charset="-122"/>
                <a:cs typeface="Arial" pitchFamily="34" charset="-120"/>
              </a:rPr>
              <a:t>seasonal spikes</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20040"/>
            <a:ext cx="7863840" cy="400050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Or worse… the people who DO enquire are </a:t>
            </a:r>
            <a:pPr algn="ctr" indent="0" marL="0">
              <a:buNone/>
            </a:pPr>
            <a:r>
              <a:rPr lang="en-US" sz="3600" b="1" dirty="0">
                <a:solidFill>
                  <a:srgbClr val="B79CFF"/>
                </a:solidFill>
                <a:latin typeface="Arial" pitchFamily="34" charset="0"/>
                <a:ea typeface="Arial" pitchFamily="34" charset="-122"/>
                <a:cs typeface="Arial" pitchFamily="34" charset="-120"/>
              </a:rPr>
              <a:t>not a fit</a:t>
            </a:r>
            <a:pPr algn="ctr" indent="0" marL="0">
              <a:buNone/>
            </a:pPr>
            <a:r>
              <a:rPr lang="en-US" sz="3600" b="1" dirty="0">
                <a:solidFill>
                  <a:srgbClr val="FFFFFF"/>
                </a:solidFill>
                <a:latin typeface="Arial" pitchFamily="34" charset="0"/>
                <a:ea typeface="Arial" pitchFamily="34" charset="-122"/>
                <a:cs typeface="Arial" pitchFamily="34" charset="-120"/>
              </a:rPr>
              <a:t>, and can't afford your programme</a:t>
            </a:r>
            <a:endParaRPr lang="en-US" sz="3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65760"/>
            <a:ext cx="80467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And what you actually want is…</a:t>
            </a:r>
            <a:endParaRPr lang="en-US" sz="3000" dirty="0"/>
          </a:p>
        </p:txBody>
      </p:sp>
      <p:sp>
        <p:nvSpPr>
          <p:cNvPr id="3" name="Shape 1"/>
          <p:cNvSpPr/>
          <p:nvPr/>
        </p:nvSpPr>
        <p:spPr>
          <a:xfrm>
            <a:off x="548640" y="1325880"/>
            <a:ext cx="3886200" cy="2560320"/>
          </a:xfrm>
          <a:prstGeom prst="roundRect">
            <a:avLst>
              <a:gd name="adj" fmla="val 4286"/>
            </a:avLst>
          </a:prstGeom>
          <a:solidFill>
            <a:srgbClr val="17131F"/>
          </a:solidFill>
          <a:ln w="12700">
            <a:solidFill>
              <a:srgbClr val="2C2344"/>
            </a:solidFill>
            <a:prstDash val="solid"/>
          </a:ln>
        </p:spPr>
      </p:sp>
      <p:sp>
        <p:nvSpPr>
          <p:cNvPr id="4" name="Text 2"/>
          <p:cNvSpPr txBox="1"/>
          <p:nvPr/>
        </p:nvSpPr>
        <p:spPr>
          <a:xfrm>
            <a:off x="777240" y="1600200"/>
            <a:ext cx="3429000" cy="822960"/>
          </a:xfrm>
          <a:prstGeom prst="rect">
            <a:avLst/>
          </a:prstGeom>
          <a:noFill/>
          <a:ln/>
        </p:spPr>
        <p:txBody>
          <a:bodyPr wrap="square" lIns="0" tIns="0" rIns="0" bIns="0" rtlCol="0" anchor="t"/>
          <a:lstStyle/>
          <a:p>
            <a:pPr indent="0" marL="0">
              <a:buNone/>
            </a:pPr>
            <a:r>
              <a:rPr lang="en-US" sz="3400" b="1" dirty="0">
                <a:solidFill>
                  <a:srgbClr val="B79CFF"/>
                </a:solidFill>
                <a:latin typeface="Arial" pitchFamily="34" charset="0"/>
                <a:ea typeface="Arial" pitchFamily="34" charset="-122"/>
                <a:cs typeface="Arial" pitchFamily="34" charset="-120"/>
              </a:rPr>
              <a:t>Predictable</a:t>
            </a:r>
            <a:endParaRPr lang="en-US" sz="3400" dirty="0"/>
          </a:p>
        </p:txBody>
      </p:sp>
      <p:sp>
        <p:nvSpPr>
          <p:cNvPr id="5" name="Text 3"/>
          <p:cNvSpPr txBox="1"/>
          <p:nvPr/>
        </p:nvSpPr>
        <p:spPr>
          <a:xfrm>
            <a:off x="777240" y="2468880"/>
            <a:ext cx="3429000" cy="118872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new students enrolling </a:t>
            </a:r>
            <a:pPr indent="0" marL="0">
              <a:buNone/>
            </a:pPr>
            <a:r>
              <a:rPr lang="en-US" sz="2000" b="1" dirty="0">
                <a:solidFill>
                  <a:srgbClr val="B79CFF"/>
                </a:solidFill>
                <a:latin typeface="Arial" pitchFamily="34" charset="0"/>
                <a:ea typeface="Arial" pitchFamily="34" charset="-122"/>
                <a:cs typeface="Arial" pitchFamily="34" charset="-120"/>
              </a:rPr>
              <a:t>every single month</a:t>
            </a:r>
            <a:pPr indent="0" marL="0">
              <a:buNone/>
            </a:pPr>
            <a:r>
              <a:rPr lang="en-US" sz="2000" dirty="0">
                <a:solidFill>
                  <a:srgbClr val="FFFFFF"/>
                </a:solidFill>
                <a:latin typeface="Arial" pitchFamily="34" charset="0"/>
                <a:ea typeface="Arial" pitchFamily="34" charset="-122"/>
                <a:cs typeface="Arial" pitchFamily="34" charset="-120"/>
              </a:rPr>
              <a:t>, not just in peak season</a:t>
            </a:r>
            <a:endParaRPr lang="en-US" sz="2000" dirty="0"/>
          </a:p>
        </p:txBody>
      </p:sp>
      <p:sp>
        <p:nvSpPr>
          <p:cNvPr id="6" name="Shape 4"/>
          <p:cNvSpPr/>
          <p:nvPr/>
        </p:nvSpPr>
        <p:spPr>
          <a:xfrm>
            <a:off x="4709160" y="1325880"/>
            <a:ext cx="3886200" cy="2560320"/>
          </a:xfrm>
          <a:prstGeom prst="roundRect">
            <a:avLst>
              <a:gd name="adj" fmla="val 4286"/>
            </a:avLst>
          </a:prstGeom>
          <a:solidFill>
            <a:srgbClr val="17131F"/>
          </a:solidFill>
          <a:ln w="12700">
            <a:solidFill>
              <a:srgbClr val="2C2344"/>
            </a:solidFill>
            <a:prstDash val="solid"/>
          </a:ln>
        </p:spPr>
      </p:sp>
      <p:sp>
        <p:nvSpPr>
          <p:cNvPr id="7" name="Text 5"/>
          <p:cNvSpPr txBox="1"/>
          <p:nvPr/>
        </p:nvSpPr>
        <p:spPr>
          <a:xfrm>
            <a:off x="4937760" y="1600200"/>
            <a:ext cx="3429000" cy="822960"/>
          </a:xfrm>
          <a:prstGeom prst="rect">
            <a:avLst/>
          </a:prstGeom>
          <a:noFill/>
          <a:ln/>
        </p:spPr>
        <p:txBody>
          <a:bodyPr wrap="square" lIns="0" tIns="0" rIns="0" bIns="0" rtlCol="0" anchor="t"/>
          <a:lstStyle/>
          <a:p>
            <a:pPr indent="0" marL="0">
              <a:buNone/>
            </a:pPr>
            <a:r>
              <a:rPr lang="en-US" sz="3400" b="1" dirty="0">
                <a:solidFill>
                  <a:srgbClr val="B79CFF"/>
                </a:solidFill>
                <a:latin typeface="Arial" pitchFamily="34" charset="0"/>
                <a:ea typeface="Arial" pitchFamily="34" charset="-122"/>
                <a:cs typeface="Arial" pitchFamily="34" charset="-120"/>
              </a:rPr>
              <a:t>Freedom</a:t>
            </a:r>
            <a:endParaRPr lang="en-US" sz="3400" dirty="0"/>
          </a:p>
        </p:txBody>
      </p:sp>
      <p:sp>
        <p:nvSpPr>
          <p:cNvPr id="8" name="Text 6"/>
          <p:cNvSpPr txBox="1"/>
          <p:nvPr/>
        </p:nvSpPr>
        <p:spPr>
          <a:xfrm>
            <a:off x="4937760" y="2468880"/>
            <a:ext cx="3429000" cy="118872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to focus on </a:t>
            </a:r>
            <a:pPr indent="0" marL="0">
              <a:buNone/>
            </a:pPr>
            <a:r>
              <a:rPr lang="en-US" sz="2000" b="1" dirty="0">
                <a:solidFill>
                  <a:srgbClr val="B79CFF"/>
                </a:solidFill>
                <a:latin typeface="Arial" pitchFamily="34" charset="0"/>
                <a:ea typeface="Arial" pitchFamily="34" charset="-122"/>
                <a:cs typeface="Arial" pitchFamily="34" charset="-120"/>
              </a:rPr>
              <a:t>teaching and delivery</a:t>
            </a:r>
            <a:pPr indent="0" marL="0">
              <a:buNone/>
            </a:pPr>
            <a:r>
              <a:rPr lang="en-US" sz="2000" dirty="0">
                <a:solidFill>
                  <a:srgbClr val="FFFFFF"/>
                </a:solidFill>
                <a:latin typeface="Arial" pitchFamily="34" charset="0"/>
                <a:ea typeface="Arial" pitchFamily="34" charset="-122"/>
                <a:cs typeface="Arial" pitchFamily="34" charset="-120"/>
              </a:rPr>
              <a:t>, not chasing leads</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320040"/>
            <a:ext cx="7863840" cy="400050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To get there, you need a </a:t>
            </a:r>
            <a:pPr algn="ctr" indent="0" marL="0">
              <a:buNone/>
            </a:pPr>
            <a:r>
              <a:rPr lang="en-US" sz="3600" b="1" dirty="0">
                <a:solidFill>
                  <a:srgbClr val="B79CFF"/>
                </a:solidFill>
                <a:latin typeface="Arial" pitchFamily="34" charset="0"/>
                <a:ea typeface="Arial" pitchFamily="34" charset="-122"/>
                <a:cs typeface="Arial" pitchFamily="34" charset="-120"/>
              </a:rPr>
              <a:t>predictable way</a:t>
            </a:r>
            <a:pPr algn="ctr" indent="0" marL="0">
              <a:buNone/>
            </a:pPr>
            <a:r>
              <a:rPr lang="en-US" sz="3600" b="1" dirty="0">
                <a:solidFill>
                  <a:srgbClr val="FFFFFF"/>
                </a:solidFill>
                <a:latin typeface="Arial" pitchFamily="34" charset="0"/>
                <a:ea typeface="Arial" pitchFamily="34" charset="-122"/>
                <a:cs typeface="Arial" pitchFamily="34" charset="-120"/>
              </a:rPr>
              <a:t> to fill your programme month after month</a:t>
            </a:r>
            <a:endParaRPr lang="en-US" sz="3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20040"/>
            <a:ext cx="7863840" cy="400050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That's exactly what we're covering </a:t>
            </a:r>
            <a:pPr algn="ctr" indent="0" marL="0">
              <a:buNone/>
            </a:pPr>
            <a:r>
              <a:rPr lang="en-US" sz="3600" b="1" dirty="0">
                <a:solidFill>
                  <a:srgbClr val="B79CFF"/>
                </a:solidFill>
                <a:latin typeface="Arial" pitchFamily="34" charset="0"/>
                <a:ea typeface="Arial" pitchFamily="34" charset="-122"/>
                <a:cs typeface="Arial" pitchFamily="34" charset="-120"/>
              </a:rPr>
              <a:t>today</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1188720"/>
            <a:ext cx="7863840" cy="1737360"/>
          </a:xfrm>
          <a:prstGeom prst="rect">
            <a:avLst/>
          </a:prstGeom>
          <a:noFill/>
          <a:ln/>
        </p:spPr>
        <p:txBody>
          <a:bodyPr wrap="square" lIns="0" tIns="0" rIns="0" bIns="0" rtlCol="0" anchor="t"/>
          <a:lstStyle/>
          <a:p>
            <a:pPr algn="ctr" indent="0" marL="0">
              <a:buNone/>
            </a:pPr>
            <a:r>
              <a:rPr lang="en-US" sz="3800" b="1" dirty="0">
                <a:solidFill>
                  <a:srgbClr val="FFFFFF"/>
                </a:solidFill>
                <a:latin typeface="Arial" pitchFamily="34" charset="0"/>
                <a:ea typeface="Arial" pitchFamily="34" charset="-122"/>
                <a:cs typeface="Arial" pitchFamily="34" charset="-120"/>
              </a:rPr>
              <a:t>Before we dive in…</a:t>
            </a:r>
            <a:endParaRPr lang="en-US" sz="3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457200"/>
            <a:ext cx="7863840" cy="242316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Organic reach keeps </a:t>
            </a:r>
            <a:pPr algn="ctr" indent="0" marL="0">
              <a:buNone/>
            </a:pPr>
            <a:r>
              <a:rPr lang="en-US" sz="3600" b="1" dirty="0">
                <a:solidFill>
                  <a:srgbClr val="B79CFF"/>
                </a:solidFill>
                <a:latin typeface="Arial" pitchFamily="34" charset="0"/>
                <a:ea typeface="Arial" pitchFamily="34" charset="-122"/>
                <a:cs typeface="Arial" pitchFamily="34" charset="-120"/>
              </a:rPr>
              <a:t>shrinking</a:t>
            </a:r>
            <a:endParaRPr lang="en-US" sz="3600" dirty="0"/>
          </a:p>
        </p:txBody>
      </p:sp>
      <p:sp>
        <p:nvSpPr>
          <p:cNvPr id="3" name="Text 1"/>
          <p:cNvSpPr txBox="1"/>
          <p:nvPr/>
        </p:nvSpPr>
        <p:spPr>
          <a:xfrm>
            <a:off x="914400" y="3017520"/>
            <a:ext cx="7315200" cy="1188720"/>
          </a:xfrm>
          <a:prstGeom prst="rect">
            <a:avLst/>
          </a:prstGeom>
          <a:noFill/>
          <a:ln/>
        </p:spPr>
        <p:txBody>
          <a:bodyPr wrap="square" lIns="0" tIns="0" rIns="0" bIns="0" rtlCol="0" anchor="t"/>
          <a:lstStyle/>
          <a:p>
            <a:pPr algn="ctr" indent="0" marL="0">
              <a:buNone/>
            </a:pPr>
            <a:r>
              <a:rPr lang="en-US" sz="1900" dirty="0">
                <a:solidFill>
                  <a:srgbClr val="A6A1B5"/>
                </a:solidFill>
                <a:latin typeface="Arial" pitchFamily="34" charset="0"/>
                <a:ea typeface="Arial" pitchFamily="34" charset="-122"/>
                <a:cs typeface="Arial" pitchFamily="34" charset="-120"/>
              </a:rPr>
              <a:t>Posting more often isn't a growth strategy. It's a lottery ticket.</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457200"/>
            <a:ext cx="7863840" cy="242316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Referrals are great… but you can't </a:t>
            </a:r>
            <a:pPr algn="ctr" indent="0" marL="0">
              <a:buNone/>
            </a:pPr>
            <a:r>
              <a:rPr lang="en-US" sz="3600" b="1" dirty="0">
                <a:solidFill>
                  <a:srgbClr val="B79CFF"/>
                </a:solidFill>
                <a:latin typeface="Arial" pitchFamily="34" charset="0"/>
                <a:ea typeface="Arial" pitchFamily="34" charset="-122"/>
                <a:cs typeface="Arial" pitchFamily="34" charset="-120"/>
              </a:rPr>
              <a:t>schedule</a:t>
            </a:r>
            <a:pPr algn="ctr" indent="0" marL="0">
              <a:buNone/>
            </a:pPr>
            <a:r>
              <a:rPr lang="en-US" sz="3600" b="1" dirty="0">
                <a:solidFill>
                  <a:srgbClr val="FFFFFF"/>
                </a:solidFill>
                <a:latin typeface="Arial" pitchFamily="34" charset="0"/>
                <a:ea typeface="Arial" pitchFamily="34" charset="-122"/>
                <a:cs typeface="Arial" pitchFamily="34" charset="-120"/>
              </a:rPr>
              <a:t> them</a:t>
            </a:r>
            <a:endParaRPr lang="en-US" sz="3600" dirty="0"/>
          </a:p>
        </p:txBody>
      </p:sp>
      <p:sp>
        <p:nvSpPr>
          <p:cNvPr id="3" name="Text 1"/>
          <p:cNvSpPr txBox="1"/>
          <p:nvPr/>
        </p:nvSpPr>
        <p:spPr>
          <a:xfrm>
            <a:off x="914400" y="3017520"/>
            <a:ext cx="7315200" cy="1188720"/>
          </a:xfrm>
          <a:prstGeom prst="rect">
            <a:avLst/>
          </a:prstGeom>
          <a:noFill/>
          <a:ln/>
        </p:spPr>
        <p:txBody>
          <a:bodyPr wrap="square" lIns="0" tIns="0" rIns="0" bIns="0" rtlCol="0" anchor="t"/>
          <a:lstStyle/>
          <a:p>
            <a:pPr algn="ctr" indent="0" marL="0">
              <a:buNone/>
            </a:pPr>
            <a:r>
              <a:rPr lang="en-US" sz="1900" dirty="0">
                <a:solidFill>
                  <a:srgbClr val="A6A1B5"/>
                </a:solidFill>
                <a:latin typeface="Arial" pitchFamily="34" charset="0"/>
                <a:ea typeface="Arial" pitchFamily="34" charset="-122"/>
                <a:cs typeface="Arial" pitchFamily="34" charset="-120"/>
              </a:rPr>
              <a:t>When enrolments depend on word of mouth, revenue rises and falls with the school calendar.</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3840480" y="1143000"/>
            <a:ext cx="1463040" cy="365760"/>
          </a:xfrm>
          <a:prstGeom prst="roundRect">
            <a:avLst>
              <a:gd name="adj" fmla="val 50000"/>
            </a:avLst>
          </a:prstGeom>
          <a:solidFill>
            <a:srgbClr val="FFFFFF"/>
          </a:solidFill>
          <a:ln w="12700">
            <a:solidFill>
              <a:srgbClr val="FFFFFF"/>
            </a:solidFill>
            <a:prstDash val="solid"/>
          </a:ln>
        </p:spPr>
      </p:sp>
      <p:sp>
        <p:nvSpPr>
          <p:cNvPr id="3" name="Shape 1"/>
          <p:cNvSpPr/>
          <p:nvPr/>
        </p:nvSpPr>
        <p:spPr>
          <a:xfrm>
            <a:off x="4005072" y="1271016"/>
            <a:ext cx="109728" cy="109728"/>
          </a:xfrm>
          <a:prstGeom prst="ellipse">
            <a:avLst/>
          </a:prstGeom>
          <a:solidFill>
            <a:srgbClr val="7C3CFF"/>
          </a:solidFill>
          <a:ln w="12700">
            <a:solidFill>
              <a:srgbClr val="7C3CFF"/>
            </a:solidFill>
            <a:prstDash val="solid"/>
          </a:ln>
        </p:spPr>
      </p:sp>
      <p:sp>
        <p:nvSpPr>
          <p:cNvPr id="4" name="Text 2"/>
          <p:cNvSpPr txBox="1"/>
          <p:nvPr/>
        </p:nvSpPr>
        <p:spPr>
          <a:xfrm>
            <a:off x="4187952" y="1143000"/>
            <a:ext cx="1005840" cy="365760"/>
          </a:xfrm>
          <a:prstGeom prst="rect">
            <a:avLst/>
          </a:prstGeom>
          <a:noFill/>
          <a:ln/>
        </p:spPr>
        <p:txBody>
          <a:bodyPr wrap="square" lIns="0" tIns="0" rIns="0" bIns="0" rtlCol="0" anchor="ctr"/>
          <a:lstStyle/>
          <a:p>
            <a:pPr indent="0" marL="0">
              <a:buNone/>
            </a:pPr>
            <a:r>
              <a:rPr lang="en-US" sz="1200" b="1" dirty="0">
                <a:solidFill>
                  <a:srgbClr val="15121C"/>
                </a:solidFill>
                <a:latin typeface="Arial" pitchFamily="34" charset="0"/>
                <a:ea typeface="Arial" pitchFamily="34" charset="-122"/>
                <a:cs typeface="Arial" pitchFamily="34" charset="-120"/>
              </a:rPr>
              <a:t>The old way</a:t>
            </a:r>
            <a:endParaRPr lang="en-US" sz="1200" dirty="0"/>
          </a:p>
        </p:txBody>
      </p:sp>
      <p:sp>
        <p:nvSpPr>
          <p:cNvPr id="5" name="Text 3"/>
          <p:cNvSpPr txBox="1"/>
          <p:nvPr/>
        </p:nvSpPr>
        <p:spPr>
          <a:xfrm>
            <a:off x="640080" y="1737360"/>
            <a:ext cx="7863840" cy="1737360"/>
          </a:xfrm>
          <a:prstGeom prst="rect">
            <a:avLst/>
          </a:prstGeom>
          <a:noFill/>
          <a:ln/>
        </p:spPr>
        <p:txBody>
          <a:bodyPr wrap="square" lIns="0" tIns="0" rIns="0" bIns="0" rtlCol="0" anchor="t"/>
          <a:lstStyle/>
          <a:p>
            <a:pPr algn="ctr" indent="0" marL="0">
              <a:buNone/>
            </a:pPr>
            <a:r>
              <a:rPr lang="en-US" sz="3800" b="1" dirty="0">
                <a:solidFill>
                  <a:srgbClr val="FFFFFF"/>
                </a:solidFill>
                <a:latin typeface="Arial" pitchFamily="34" charset="0"/>
                <a:ea typeface="Arial" pitchFamily="34" charset="-122"/>
                <a:cs typeface="Arial" pitchFamily="34" charset="-120"/>
              </a:rPr>
              <a:t>Boosted posts &amp; cookie-cutter agencies</a:t>
            </a:r>
            <a:endParaRPr lang="en-US" sz="3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65760"/>
            <a:ext cx="80467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Problems with this approach…</a:t>
            </a:r>
            <a:endParaRPr lang="en-US" sz="3000" dirty="0"/>
          </a:p>
        </p:txBody>
      </p:sp>
      <p:sp>
        <p:nvSpPr>
          <p:cNvPr id="3" name="Shape 1"/>
          <p:cNvSpPr/>
          <p:nvPr/>
        </p:nvSpPr>
        <p:spPr>
          <a:xfrm>
            <a:off x="548640" y="1234440"/>
            <a:ext cx="8046720" cy="698373"/>
          </a:xfrm>
          <a:prstGeom prst="roundRect">
            <a:avLst>
              <a:gd name="adj" fmla="val 15712"/>
            </a:avLst>
          </a:prstGeom>
          <a:solidFill>
            <a:srgbClr val="17131F"/>
          </a:solidFill>
          <a:ln w="12700">
            <a:solidFill>
              <a:srgbClr val="2C2344"/>
            </a:solidFill>
            <a:prstDash val="solid"/>
          </a:ln>
        </p:spPr>
      </p:sp>
      <p:sp>
        <p:nvSpPr>
          <p:cNvPr id="4" name="Shape 2"/>
          <p:cNvSpPr/>
          <p:nvPr/>
        </p:nvSpPr>
        <p:spPr>
          <a:xfrm>
            <a:off x="713232" y="1391603"/>
            <a:ext cx="384048" cy="384048"/>
          </a:xfrm>
          <a:prstGeom prst="ellipse">
            <a:avLst/>
          </a:prstGeom>
          <a:solidFill>
            <a:srgbClr val="FF5C7A"/>
          </a:solidFill>
          <a:ln w="12700">
            <a:solidFill>
              <a:srgbClr val="FF5C7A"/>
            </a:solidFill>
            <a:prstDash val="solid"/>
          </a:ln>
        </p:spPr>
      </p:sp>
      <p:sp>
        <p:nvSpPr>
          <p:cNvPr id="5" name="Text 3"/>
          <p:cNvSpPr txBox="1"/>
          <p:nvPr/>
        </p:nvSpPr>
        <p:spPr>
          <a:xfrm>
            <a:off x="713232" y="1391603"/>
            <a:ext cx="384048" cy="384048"/>
          </a:xfrm>
          <a:prstGeom prst="rect">
            <a:avLst/>
          </a:prstGeom>
          <a:noFill/>
          <a:ln/>
        </p:spPr>
        <p:txBody>
          <a:bodyPr wrap="square" lIns="0" tIns="0" rIns="0" bIns="0" rtlCol="0" anchor="ctr"/>
          <a:lstStyle/>
          <a:p>
            <a:pPr algn="ctr" indent="0" marL="0">
              <a:buNone/>
            </a:pPr>
            <a:r>
              <a:rPr lang="en-US" sz="1500" b="1" dirty="0">
                <a:solidFill>
                  <a:srgbClr val="0A0A0C"/>
                </a:solidFill>
                <a:latin typeface="Arial" pitchFamily="34" charset="0"/>
                <a:ea typeface="Arial" pitchFamily="34" charset="-122"/>
                <a:cs typeface="Arial" pitchFamily="34" charset="-120"/>
              </a:rPr>
              <a:t>✕</a:t>
            </a:r>
            <a:endParaRPr lang="en-US" sz="1500" dirty="0"/>
          </a:p>
        </p:txBody>
      </p:sp>
      <p:sp>
        <p:nvSpPr>
          <p:cNvPr id="6" name="Text 4"/>
          <p:cNvSpPr txBox="1"/>
          <p:nvPr/>
        </p:nvSpPr>
        <p:spPr>
          <a:xfrm>
            <a:off x="1280160" y="1234440"/>
            <a:ext cx="7132320" cy="698373"/>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Generic ads that could be for </a:t>
            </a:r>
            <a:pPr indent="0" marL="0">
              <a:buNone/>
            </a:pPr>
            <a:r>
              <a:rPr lang="en-US" sz="1800" b="1" dirty="0">
                <a:solidFill>
                  <a:srgbClr val="B79CFF"/>
                </a:solidFill>
                <a:latin typeface="Arial" pitchFamily="34" charset="0"/>
                <a:ea typeface="Arial" pitchFamily="34" charset="-122"/>
                <a:cs typeface="Arial" pitchFamily="34" charset="-120"/>
              </a:rPr>
              <a:t>any business</a:t>
            </a:r>
            <a:endParaRPr lang="en-US" sz="1800" dirty="0"/>
          </a:p>
        </p:txBody>
      </p:sp>
      <p:sp>
        <p:nvSpPr>
          <p:cNvPr id="7" name="Shape 5"/>
          <p:cNvSpPr/>
          <p:nvPr/>
        </p:nvSpPr>
        <p:spPr>
          <a:xfrm>
            <a:off x="548640" y="2060829"/>
            <a:ext cx="8046720" cy="698373"/>
          </a:xfrm>
          <a:prstGeom prst="roundRect">
            <a:avLst>
              <a:gd name="adj" fmla="val 15712"/>
            </a:avLst>
          </a:prstGeom>
          <a:solidFill>
            <a:srgbClr val="17131F"/>
          </a:solidFill>
          <a:ln w="12700">
            <a:solidFill>
              <a:srgbClr val="2C2344"/>
            </a:solidFill>
            <a:prstDash val="solid"/>
          </a:ln>
        </p:spPr>
      </p:sp>
      <p:sp>
        <p:nvSpPr>
          <p:cNvPr id="8" name="Shape 6"/>
          <p:cNvSpPr/>
          <p:nvPr/>
        </p:nvSpPr>
        <p:spPr>
          <a:xfrm>
            <a:off x="713232" y="2217992"/>
            <a:ext cx="384048" cy="384048"/>
          </a:xfrm>
          <a:prstGeom prst="ellipse">
            <a:avLst/>
          </a:prstGeom>
          <a:solidFill>
            <a:srgbClr val="FF5C7A"/>
          </a:solidFill>
          <a:ln w="12700">
            <a:solidFill>
              <a:srgbClr val="FF5C7A"/>
            </a:solidFill>
            <a:prstDash val="solid"/>
          </a:ln>
        </p:spPr>
      </p:sp>
      <p:sp>
        <p:nvSpPr>
          <p:cNvPr id="9" name="Text 7"/>
          <p:cNvSpPr txBox="1"/>
          <p:nvPr/>
        </p:nvSpPr>
        <p:spPr>
          <a:xfrm>
            <a:off x="713232" y="2217992"/>
            <a:ext cx="384048" cy="384048"/>
          </a:xfrm>
          <a:prstGeom prst="rect">
            <a:avLst/>
          </a:prstGeom>
          <a:noFill/>
          <a:ln/>
        </p:spPr>
        <p:txBody>
          <a:bodyPr wrap="square" lIns="0" tIns="0" rIns="0" bIns="0" rtlCol="0" anchor="ctr"/>
          <a:lstStyle/>
          <a:p>
            <a:pPr algn="ctr" indent="0" marL="0">
              <a:buNone/>
            </a:pPr>
            <a:r>
              <a:rPr lang="en-US" sz="1500" b="1" dirty="0">
                <a:solidFill>
                  <a:srgbClr val="0A0A0C"/>
                </a:solidFill>
                <a:latin typeface="Arial" pitchFamily="34" charset="0"/>
                <a:ea typeface="Arial" pitchFamily="34" charset="-122"/>
                <a:cs typeface="Arial" pitchFamily="34" charset="-120"/>
              </a:rPr>
              <a:t>✕</a:t>
            </a:r>
            <a:endParaRPr lang="en-US" sz="1500" dirty="0"/>
          </a:p>
        </p:txBody>
      </p:sp>
      <p:sp>
        <p:nvSpPr>
          <p:cNvPr id="10" name="Text 8"/>
          <p:cNvSpPr txBox="1"/>
          <p:nvPr/>
        </p:nvSpPr>
        <p:spPr>
          <a:xfrm>
            <a:off x="1280160" y="2060829"/>
            <a:ext cx="7132320" cy="698373"/>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Leads that enquire… and </a:t>
            </a:r>
            <a:pPr indent="0" marL="0">
              <a:buNone/>
            </a:pPr>
            <a:r>
              <a:rPr lang="en-US" sz="1800" b="1" dirty="0">
                <a:solidFill>
                  <a:srgbClr val="B79CFF"/>
                </a:solidFill>
                <a:latin typeface="Arial" pitchFamily="34" charset="0"/>
                <a:ea typeface="Arial" pitchFamily="34" charset="-122"/>
                <a:cs typeface="Arial" pitchFamily="34" charset="-120"/>
              </a:rPr>
              <a:t>never book</a:t>
            </a:r>
            <a:endParaRPr lang="en-US" sz="1800" dirty="0"/>
          </a:p>
        </p:txBody>
      </p:sp>
      <p:sp>
        <p:nvSpPr>
          <p:cNvPr id="11" name="Shape 9"/>
          <p:cNvSpPr/>
          <p:nvPr/>
        </p:nvSpPr>
        <p:spPr>
          <a:xfrm>
            <a:off x="548640" y="2887218"/>
            <a:ext cx="8046720" cy="698373"/>
          </a:xfrm>
          <a:prstGeom prst="roundRect">
            <a:avLst>
              <a:gd name="adj" fmla="val 15712"/>
            </a:avLst>
          </a:prstGeom>
          <a:solidFill>
            <a:srgbClr val="17131F"/>
          </a:solidFill>
          <a:ln w="12700">
            <a:solidFill>
              <a:srgbClr val="2C2344"/>
            </a:solidFill>
            <a:prstDash val="solid"/>
          </a:ln>
        </p:spPr>
      </p:sp>
      <p:sp>
        <p:nvSpPr>
          <p:cNvPr id="12" name="Shape 10"/>
          <p:cNvSpPr/>
          <p:nvPr/>
        </p:nvSpPr>
        <p:spPr>
          <a:xfrm>
            <a:off x="713232" y="3044381"/>
            <a:ext cx="384048" cy="384048"/>
          </a:xfrm>
          <a:prstGeom prst="ellipse">
            <a:avLst/>
          </a:prstGeom>
          <a:solidFill>
            <a:srgbClr val="FF5C7A"/>
          </a:solidFill>
          <a:ln w="12700">
            <a:solidFill>
              <a:srgbClr val="FF5C7A"/>
            </a:solidFill>
            <a:prstDash val="solid"/>
          </a:ln>
        </p:spPr>
      </p:sp>
      <p:sp>
        <p:nvSpPr>
          <p:cNvPr id="13" name="Text 11"/>
          <p:cNvSpPr txBox="1"/>
          <p:nvPr/>
        </p:nvSpPr>
        <p:spPr>
          <a:xfrm>
            <a:off x="713232" y="3044381"/>
            <a:ext cx="384048" cy="384048"/>
          </a:xfrm>
          <a:prstGeom prst="rect">
            <a:avLst/>
          </a:prstGeom>
          <a:noFill/>
          <a:ln/>
        </p:spPr>
        <p:txBody>
          <a:bodyPr wrap="square" lIns="0" tIns="0" rIns="0" bIns="0" rtlCol="0" anchor="ctr"/>
          <a:lstStyle/>
          <a:p>
            <a:pPr algn="ctr" indent="0" marL="0">
              <a:buNone/>
            </a:pPr>
            <a:r>
              <a:rPr lang="en-US" sz="1500" b="1" dirty="0">
                <a:solidFill>
                  <a:srgbClr val="0A0A0C"/>
                </a:solidFill>
                <a:latin typeface="Arial" pitchFamily="34" charset="0"/>
                <a:ea typeface="Arial" pitchFamily="34" charset="-122"/>
                <a:cs typeface="Arial" pitchFamily="34" charset="-120"/>
              </a:rPr>
              <a:t>✕</a:t>
            </a:r>
            <a:endParaRPr lang="en-US" sz="1500" dirty="0"/>
          </a:p>
        </p:txBody>
      </p:sp>
      <p:sp>
        <p:nvSpPr>
          <p:cNvPr id="14" name="Text 12"/>
          <p:cNvSpPr txBox="1"/>
          <p:nvPr/>
        </p:nvSpPr>
        <p:spPr>
          <a:xfrm>
            <a:off x="1280160" y="2887218"/>
            <a:ext cx="7132320" cy="698373"/>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No follow-up, so interested families </a:t>
            </a:r>
            <a:pPr indent="0" marL="0">
              <a:buNone/>
            </a:pPr>
            <a:r>
              <a:rPr lang="en-US" sz="1800" b="1" dirty="0">
                <a:solidFill>
                  <a:srgbClr val="B79CFF"/>
                </a:solidFill>
                <a:latin typeface="Arial" pitchFamily="34" charset="0"/>
                <a:ea typeface="Arial" pitchFamily="34" charset="-122"/>
                <a:cs typeface="Arial" pitchFamily="34" charset="-120"/>
              </a:rPr>
              <a:t>go cold</a:t>
            </a:r>
            <a:endParaRPr lang="en-US" sz="1800" dirty="0"/>
          </a:p>
        </p:txBody>
      </p:sp>
      <p:sp>
        <p:nvSpPr>
          <p:cNvPr id="15" name="Shape 13"/>
          <p:cNvSpPr/>
          <p:nvPr/>
        </p:nvSpPr>
        <p:spPr>
          <a:xfrm>
            <a:off x="548640" y="3713607"/>
            <a:ext cx="8046720" cy="698373"/>
          </a:xfrm>
          <a:prstGeom prst="roundRect">
            <a:avLst>
              <a:gd name="adj" fmla="val 15712"/>
            </a:avLst>
          </a:prstGeom>
          <a:solidFill>
            <a:srgbClr val="17131F"/>
          </a:solidFill>
          <a:ln w="12700">
            <a:solidFill>
              <a:srgbClr val="2C2344"/>
            </a:solidFill>
            <a:prstDash val="solid"/>
          </a:ln>
        </p:spPr>
      </p:sp>
      <p:sp>
        <p:nvSpPr>
          <p:cNvPr id="16" name="Shape 14"/>
          <p:cNvSpPr/>
          <p:nvPr/>
        </p:nvSpPr>
        <p:spPr>
          <a:xfrm>
            <a:off x="713232" y="3870769"/>
            <a:ext cx="384048" cy="384048"/>
          </a:xfrm>
          <a:prstGeom prst="ellipse">
            <a:avLst/>
          </a:prstGeom>
          <a:solidFill>
            <a:srgbClr val="FF5C7A"/>
          </a:solidFill>
          <a:ln w="12700">
            <a:solidFill>
              <a:srgbClr val="FF5C7A"/>
            </a:solidFill>
            <a:prstDash val="solid"/>
          </a:ln>
        </p:spPr>
      </p:sp>
      <p:sp>
        <p:nvSpPr>
          <p:cNvPr id="17" name="Text 15"/>
          <p:cNvSpPr txBox="1"/>
          <p:nvPr/>
        </p:nvSpPr>
        <p:spPr>
          <a:xfrm>
            <a:off x="713232" y="3870769"/>
            <a:ext cx="384048" cy="384048"/>
          </a:xfrm>
          <a:prstGeom prst="rect">
            <a:avLst/>
          </a:prstGeom>
          <a:noFill/>
          <a:ln/>
        </p:spPr>
        <p:txBody>
          <a:bodyPr wrap="square" lIns="0" tIns="0" rIns="0" bIns="0" rtlCol="0" anchor="ctr"/>
          <a:lstStyle/>
          <a:p>
            <a:pPr algn="ctr" indent="0" marL="0">
              <a:buNone/>
            </a:pPr>
            <a:r>
              <a:rPr lang="en-US" sz="1500" b="1" dirty="0">
                <a:solidFill>
                  <a:srgbClr val="0A0A0C"/>
                </a:solidFill>
                <a:latin typeface="Arial" pitchFamily="34" charset="0"/>
                <a:ea typeface="Arial" pitchFamily="34" charset="-122"/>
                <a:cs typeface="Arial" pitchFamily="34" charset="-120"/>
              </a:rPr>
              <a:t>✕</a:t>
            </a:r>
            <a:endParaRPr lang="en-US" sz="1500" dirty="0"/>
          </a:p>
        </p:txBody>
      </p:sp>
      <p:sp>
        <p:nvSpPr>
          <p:cNvPr id="18" name="Text 16"/>
          <p:cNvSpPr txBox="1"/>
          <p:nvPr/>
        </p:nvSpPr>
        <p:spPr>
          <a:xfrm>
            <a:off x="1280160" y="3713607"/>
            <a:ext cx="7132320" cy="698373"/>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Money spent with </a:t>
            </a:r>
            <a:pPr indent="0" marL="0">
              <a:buNone/>
            </a:pPr>
            <a:r>
              <a:rPr lang="en-US" sz="1800" b="1" dirty="0">
                <a:solidFill>
                  <a:srgbClr val="B79CFF"/>
                </a:solidFill>
                <a:latin typeface="Arial" pitchFamily="34" charset="0"/>
                <a:ea typeface="Arial" pitchFamily="34" charset="-122"/>
                <a:cs typeface="Arial" pitchFamily="34" charset="-120"/>
              </a:rPr>
              <a:t>no idea</a:t>
            </a:r>
            <a:pPr indent="0" marL="0">
              <a:buNone/>
            </a:pPr>
            <a:r>
              <a:rPr lang="en-US" sz="1800" dirty="0">
                <a:solidFill>
                  <a:srgbClr val="FFFFFF"/>
                </a:solidFill>
                <a:latin typeface="Arial" pitchFamily="34" charset="0"/>
                <a:ea typeface="Arial" pitchFamily="34" charset="-122"/>
                <a:cs typeface="Arial" pitchFamily="34" charset="-120"/>
              </a:rPr>
              <a:t> what's actually working</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457200"/>
            <a:ext cx="7863840" cy="242316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“We tried ads before… and it </a:t>
            </a:r>
            <a:pPr algn="ctr" indent="0" marL="0">
              <a:buNone/>
            </a:pPr>
            <a:r>
              <a:rPr lang="en-US" sz="3600" b="1" dirty="0">
                <a:solidFill>
                  <a:srgbClr val="B79CFF"/>
                </a:solidFill>
                <a:latin typeface="Arial" pitchFamily="34" charset="0"/>
                <a:ea typeface="Arial" pitchFamily="34" charset="-122"/>
                <a:cs typeface="Arial" pitchFamily="34" charset="-120"/>
              </a:rPr>
              <a:t>didn't work</a:t>
            </a:r>
            <a:pPr algn="ctr" indent="0" marL="0">
              <a:buNone/>
            </a:pPr>
            <a:r>
              <a:rPr lang="en-US" sz="3600" b="1" dirty="0">
                <a:solidFill>
                  <a:srgbClr val="FFFFFF"/>
                </a:solidFill>
                <a:latin typeface="Arial" pitchFamily="34" charset="0"/>
                <a:ea typeface="Arial" pitchFamily="34" charset="-122"/>
                <a:cs typeface="Arial" pitchFamily="34" charset="-120"/>
              </a:rPr>
              <a:t>.”</a:t>
            </a:r>
            <a:endParaRPr lang="en-US" sz="3600" dirty="0"/>
          </a:p>
        </p:txBody>
      </p:sp>
      <p:sp>
        <p:nvSpPr>
          <p:cNvPr id="3" name="Text 1"/>
          <p:cNvSpPr txBox="1"/>
          <p:nvPr/>
        </p:nvSpPr>
        <p:spPr>
          <a:xfrm>
            <a:off x="914400" y="3017520"/>
            <a:ext cx="7315200" cy="1188720"/>
          </a:xfrm>
          <a:prstGeom prst="rect">
            <a:avLst/>
          </a:prstGeom>
          <a:noFill/>
          <a:ln/>
        </p:spPr>
        <p:txBody>
          <a:bodyPr wrap="square" lIns="0" tIns="0" rIns="0" bIns="0" rtlCol="0" anchor="t"/>
          <a:lstStyle/>
          <a:p>
            <a:pPr algn="ctr" indent="0" marL="0">
              <a:buNone/>
            </a:pPr>
            <a:r>
              <a:rPr lang="en-US" sz="1900" dirty="0">
                <a:solidFill>
                  <a:srgbClr val="A6A1B5"/>
                </a:solidFill>
                <a:latin typeface="Arial" pitchFamily="34" charset="0"/>
                <a:ea typeface="Arial" pitchFamily="34" charset="-122"/>
                <a:cs typeface="Arial" pitchFamily="34" charset="-120"/>
              </a:rPr>
              <a:t>We hear this on almost every call.</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320040"/>
            <a:ext cx="7863840" cy="400050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The ads weren't the problem. The </a:t>
            </a:r>
            <a:pPr algn="ctr" indent="0" marL="0">
              <a:buNone/>
            </a:pPr>
            <a:r>
              <a:rPr lang="en-US" sz="3600" b="1" dirty="0">
                <a:solidFill>
                  <a:srgbClr val="B79CFF"/>
                </a:solidFill>
                <a:latin typeface="Arial" pitchFamily="34" charset="0"/>
                <a:ea typeface="Arial" pitchFamily="34" charset="-122"/>
                <a:cs typeface="Arial" pitchFamily="34" charset="-120"/>
              </a:rPr>
              <a:t>system behind them</a:t>
            </a:r>
            <a:pPr algn="ctr" indent="0" marL="0">
              <a:buNone/>
            </a:pPr>
            <a:r>
              <a:rPr lang="en-US" sz="3600" b="1" dirty="0">
                <a:solidFill>
                  <a:srgbClr val="FFFFFF"/>
                </a:solidFill>
                <a:latin typeface="Arial" pitchFamily="34" charset="0"/>
                <a:ea typeface="Arial" pitchFamily="34" charset="-122"/>
                <a:cs typeface="Arial" pitchFamily="34" charset="-120"/>
              </a:rPr>
              <a:t> was.</a:t>
            </a:r>
            <a:endParaRPr lang="en-US" sz="3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65760"/>
            <a:ext cx="80467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What was missing…</a:t>
            </a:r>
            <a:endParaRPr lang="en-US" sz="3000" dirty="0"/>
          </a:p>
        </p:txBody>
      </p:sp>
      <p:sp>
        <p:nvSpPr>
          <p:cNvPr id="3" name="Shape 1"/>
          <p:cNvSpPr/>
          <p:nvPr/>
        </p:nvSpPr>
        <p:spPr>
          <a:xfrm>
            <a:off x="548640" y="1325880"/>
            <a:ext cx="1805940" cy="2560320"/>
          </a:xfrm>
          <a:prstGeom prst="roundRect">
            <a:avLst>
              <a:gd name="adj" fmla="val 6076"/>
            </a:avLst>
          </a:prstGeom>
          <a:solidFill>
            <a:srgbClr val="17131F"/>
          </a:solidFill>
          <a:ln w="12700">
            <a:solidFill>
              <a:srgbClr val="2C2344"/>
            </a:solidFill>
            <a:prstDash val="solid"/>
          </a:ln>
        </p:spPr>
      </p:sp>
      <p:sp>
        <p:nvSpPr>
          <p:cNvPr id="4" name="Text 2"/>
          <p:cNvSpPr txBox="1"/>
          <p:nvPr/>
        </p:nvSpPr>
        <p:spPr>
          <a:xfrm>
            <a:off x="777240" y="1600200"/>
            <a:ext cx="1348740" cy="822960"/>
          </a:xfrm>
          <a:prstGeom prst="rect">
            <a:avLst/>
          </a:prstGeom>
          <a:noFill/>
          <a:ln/>
        </p:spPr>
        <p:txBody>
          <a:bodyPr wrap="square" lIns="0" tIns="0" rIns="0" bIns="0" rtlCol="0" anchor="t"/>
          <a:lstStyle/>
          <a:p>
            <a:pPr indent="0" marL="0">
              <a:buNone/>
            </a:pPr>
            <a:r>
              <a:rPr lang="en-US" sz="2600" b="1" dirty="0">
                <a:solidFill>
                  <a:srgbClr val="B79CFF"/>
                </a:solidFill>
                <a:latin typeface="Arial" pitchFamily="34" charset="0"/>
                <a:ea typeface="Arial" pitchFamily="34" charset="-122"/>
                <a:cs typeface="Arial" pitchFamily="34" charset="-120"/>
              </a:rPr>
              <a:t>Offer</a:t>
            </a:r>
            <a:endParaRPr lang="en-US" sz="2600" dirty="0"/>
          </a:p>
        </p:txBody>
      </p:sp>
      <p:sp>
        <p:nvSpPr>
          <p:cNvPr id="5" name="Text 3"/>
          <p:cNvSpPr txBox="1"/>
          <p:nvPr/>
        </p:nvSpPr>
        <p:spPr>
          <a:xfrm>
            <a:off x="777240" y="2468880"/>
            <a:ext cx="1348740" cy="118872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A clear, </a:t>
            </a:r>
            <a:pPr indent="0" marL="0">
              <a:buNone/>
            </a:pPr>
            <a:r>
              <a:rPr lang="en-US" sz="1600" b="1" dirty="0">
                <a:solidFill>
                  <a:srgbClr val="B79CFF"/>
                </a:solidFill>
                <a:latin typeface="Arial" pitchFamily="34" charset="0"/>
                <a:ea typeface="Arial" pitchFamily="34" charset="-122"/>
                <a:cs typeface="Arial" pitchFamily="34" charset="-120"/>
              </a:rPr>
              <a:t>specific</a:t>
            </a:r>
            <a:pPr indent="0" marL="0">
              <a:buNone/>
            </a:pPr>
            <a:r>
              <a:rPr lang="en-US" sz="1600" dirty="0">
                <a:solidFill>
                  <a:srgbClr val="FFFFFF"/>
                </a:solidFill>
                <a:latin typeface="Arial" pitchFamily="34" charset="0"/>
                <a:ea typeface="Arial" pitchFamily="34" charset="-122"/>
                <a:cs typeface="Arial" pitchFamily="34" charset="-120"/>
              </a:rPr>
              <a:t> promise for one type of student</a:t>
            </a:r>
            <a:endParaRPr lang="en-US" sz="1600" dirty="0"/>
          </a:p>
        </p:txBody>
      </p:sp>
      <p:sp>
        <p:nvSpPr>
          <p:cNvPr id="6" name="Shape 4"/>
          <p:cNvSpPr/>
          <p:nvPr/>
        </p:nvSpPr>
        <p:spPr>
          <a:xfrm>
            <a:off x="2628900" y="1325880"/>
            <a:ext cx="1805940" cy="2560320"/>
          </a:xfrm>
          <a:prstGeom prst="roundRect">
            <a:avLst>
              <a:gd name="adj" fmla="val 6076"/>
            </a:avLst>
          </a:prstGeom>
          <a:solidFill>
            <a:srgbClr val="17131F"/>
          </a:solidFill>
          <a:ln w="12700">
            <a:solidFill>
              <a:srgbClr val="2C2344"/>
            </a:solidFill>
            <a:prstDash val="solid"/>
          </a:ln>
        </p:spPr>
      </p:sp>
      <p:sp>
        <p:nvSpPr>
          <p:cNvPr id="7" name="Text 5"/>
          <p:cNvSpPr txBox="1"/>
          <p:nvPr/>
        </p:nvSpPr>
        <p:spPr>
          <a:xfrm>
            <a:off x="2857500" y="1600200"/>
            <a:ext cx="1348740" cy="822960"/>
          </a:xfrm>
          <a:prstGeom prst="rect">
            <a:avLst/>
          </a:prstGeom>
          <a:noFill/>
          <a:ln/>
        </p:spPr>
        <p:txBody>
          <a:bodyPr wrap="square" lIns="0" tIns="0" rIns="0" bIns="0" rtlCol="0" anchor="t"/>
          <a:lstStyle/>
          <a:p>
            <a:pPr indent="0" marL="0">
              <a:buNone/>
            </a:pPr>
            <a:r>
              <a:rPr lang="en-US" sz="2600" b="1" dirty="0">
                <a:solidFill>
                  <a:srgbClr val="B79CFF"/>
                </a:solidFill>
                <a:latin typeface="Arial" pitchFamily="34" charset="0"/>
                <a:ea typeface="Arial" pitchFamily="34" charset="-122"/>
                <a:cs typeface="Arial" pitchFamily="34" charset="-120"/>
              </a:rPr>
              <a:t>Filter</a:t>
            </a:r>
            <a:endParaRPr lang="en-US" sz="2600" dirty="0"/>
          </a:p>
        </p:txBody>
      </p:sp>
      <p:sp>
        <p:nvSpPr>
          <p:cNvPr id="8" name="Text 6"/>
          <p:cNvSpPr txBox="1"/>
          <p:nvPr/>
        </p:nvSpPr>
        <p:spPr>
          <a:xfrm>
            <a:off x="2857500" y="2468880"/>
            <a:ext cx="1348740" cy="118872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Qualification, so only </a:t>
            </a:r>
            <a:pPr indent="0" marL="0">
              <a:buNone/>
            </a:pPr>
            <a:r>
              <a:rPr lang="en-US" sz="1600" b="1" dirty="0">
                <a:solidFill>
                  <a:srgbClr val="B79CFF"/>
                </a:solidFill>
                <a:latin typeface="Arial" pitchFamily="34" charset="0"/>
                <a:ea typeface="Arial" pitchFamily="34" charset="-122"/>
                <a:cs typeface="Arial" pitchFamily="34" charset="-120"/>
              </a:rPr>
              <a:t>serious families</a:t>
            </a:r>
            <a:pPr indent="0" marL="0">
              <a:buNone/>
            </a:pPr>
            <a:r>
              <a:rPr lang="en-US" sz="1600" dirty="0">
                <a:solidFill>
                  <a:srgbClr val="FFFFFF"/>
                </a:solidFill>
                <a:latin typeface="Arial" pitchFamily="34" charset="0"/>
                <a:ea typeface="Arial" pitchFamily="34" charset="-122"/>
                <a:cs typeface="Arial" pitchFamily="34" charset="-120"/>
              </a:rPr>
              <a:t> book</a:t>
            </a:r>
            <a:endParaRPr lang="en-US" sz="1600" dirty="0"/>
          </a:p>
        </p:txBody>
      </p:sp>
      <p:sp>
        <p:nvSpPr>
          <p:cNvPr id="9" name="Shape 7"/>
          <p:cNvSpPr/>
          <p:nvPr/>
        </p:nvSpPr>
        <p:spPr>
          <a:xfrm>
            <a:off x="4709160" y="1325880"/>
            <a:ext cx="1805940" cy="2560320"/>
          </a:xfrm>
          <a:prstGeom prst="roundRect">
            <a:avLst>
              <a:gd name="adj" fmla="val 6076"/>
            </a:avLst>
          </a:prstGeom>
          <a:solidFill>
            <a:srgbClr val="17131F"/>
          </a:solidFill>
          <a:ln w="12700">
            <a:solidFill>
              <a:srgbClr val="2C2344"/>
            </a:solidFill>
            <a:prstDash val="solid"/>
          </a:ln>
        </p:spPr>
      </p:sp>
      <p:sp>
        <p:nvSpPr>
          <p:cNvPr id="10" name="Text 8"/>
          <p:cNvSpPr txBox="1"/>
          <p:nvPr/>
        </p:nvSpPr>
        <p:spPr>
          <a:xfrm>
            <a:off x="4937760" y="1600200"/>
            <a:ext cx="1348740" cy="822960"/>
          </a:xfrm>
          <a:prstGeom prst="rect">
            <a:avLst/>
          </a:prstGeom>
          <a:noFill/>
          <a:ln/>
        </p:spPr>
        <p:txBody>
          <a:bodyPr wrap="square" lIns="0" tIns="0" rIns="0" bIns="0" rtlCol="0" anchor="t"/>
          <a:lstStyle/>
          <a:p>
            <a:pPr indent="0" marL="0">
              <a:buNone/>
            </a:pPr>
            <a:r>
              <a:rPr lang="en-US" sz="2600" b="1" dirty="0">
                <a:solidFill>
                  <a:srgbClr val="B79CFF"/>
                </a:solidFill>
                <a:latin typeface="Arial" pitchFamily="34" charset="0"/>
                <a:ea typeface="Arial" pitchFamily="34" charset="-122"/>
                <a:cs typeface="Arial" pitchFamily="34" charset="-120"/>
              </a:rPr>
              <a:t>Follow-up</a:t>
            </a:r>
            <a:endParaRPr lang="en-US" sz="2600" dirty="0"/>
          </a:p>
        </p:txBody>
      </p:sp>
      <p:sp>
        <p:nvSpPr>
          <p:cNvPr id="11" name="Text 9"/>
          <p:cNvSpPr txBox="1"/>
          <p:nvPr/>
        </p:nvSpPr>
        <p:spPr>
          <a:xfrm>
            <a:off x="4937760" y="2468880"/>
            <a:ext cx="1348740" cy="118872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Funnel + automation that gets people </a:t>
            </a:r>
            <a:pPr indent="0" marL="0">
              <a:buNone/>
            </a:pPr>
            <a:r>
              <a:rPr lang="en-US" sz="1600" b="1" dirty="0">
                <a:solidFill>
                  <a:srgbClr val="B79CFF"/>
                </a:solidFill>
                <a:latin typeface="Arial" pitchFamily="34" charset="0"/>
                <a:ea typeface="Arial" pitchFamily="34" charset="-122"/>
                <a:cs typeface="Arial" pitchFamily="34" charset="-120"/>
              </a:rPr>
              <a:t>to show up</a:t>
            </a:r>
            <a:endParaRPr lang="en-US" sz="1600" dirty="0"/>
          </a:p>
        </p:txBody>
      </p:sp>
      <p:sp>
        <p:nvSpPr>
          <p:cNvPr id="12" name="Shape 10"/>
          <p:cNvSpPr/>
          <p:nvPr/>
        </p:nvSpPr>
        <p:spPr>
          <a:xfrm>
            <a:off x="6789420" y="1325880"/>
            <a:ext cx="1805940" cy="2560320"/>
          </a:xfrm>
          <a:prstGeom prst="roundRect">
            <a:avLst>
              <a:gd name="adj" fmla="val 6076"/>
            </a:avLst>
          </a:prstGeom>
          <a:solidFill>
            <a:srgbClr val="17131F"/>
          </a:solidFill>
          <a:ln w="12700">
            <a:solidFill>
              <a:srgbClr val="2C2344"/>
            </a:solidFill>
            <a:prstDash val="solid"/>
          </a:ln>
        </p:spPr>
      </p:sp>
      <p:sp>
        <p:nvSpPr>
          <p:cNvPr id="13" name="Text 11"/>
          <p:cNvSpPr txBox="1"/>
          <p:nvPr/>
        </p:nvSpPr>
        <p:spPr>
          <a:xfrm>
            <a:off x="7018020" y="1600200"/>
            <a:ext cx="1348740" cy="822960"/>
          </a:xfrm>
          <a:prstGeom prst="rect">
            <a:avLst/>
          </a:prstGeom>
          <a:noFill/>
          <a:ln/>
        </p:spPr>
        <p:txBody>
          <a:bodyPr wrap="square" lIns="0" tIns="0" rIns="0" bIns="0" rtlCol="0" anchor="t"/>
          <a:lstStyle/>
          <a:p>
            <a:pPr indent="0" marL="0">
              <a:buNone/>
            </a:pPr>
            <a:r>
              <a:rPr lang="en-US" sz="2600" b="1" dirty="0">
                <a:solidFill>
                  <a:srgbClr val="B79CFF"/>
                </a:solidFill>
                <a:latin typeface="Arial" pitchFamily="34" charset="0"/>
                <a:ea typeface="Arial" pitchFamily="34" charset="-122"/>
                <a:cs typeface="Arial" pitchFamily="34" charset="-120"/>
              </a:rPr>
              <a:t>Sales</a:t>
            </a:r>
            <a:endParaRPr lang="en-US" sz="2600" dirty="0"/>
          </a:p>
        </p:txBody>
      </p:sp>
      <p:sp>
        <p:nvSpPr>
          <p:cNvPr id="14" name="Text 12"/>
          <p:cNvSpPr txBox="1"/>
          <p:nvPr/>
        </p:nvSpPr>
        <p:spPr>
          <a:xfrm>
            <a:off x="7018020" y="2468880"/>
            <a:ext cx="1348740" cy="118872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A process that turns calls into </a:t>
            </a:r>
            <a:pPr indent="0" marL="0">
              <a:buNone/>
            </a:pPr>
            <a:r>
              <a:rPr lang="en-US" sz="1600" b="1" dirty="0">
                <a:solidFill>
                  <a:srgbClr val="B79CFF"/>
                </a:solidFill>
                <a:latin typeface="Arial" pitchFamily="34" charset="0"/>
                <a:ea typeface="Arial" pitchFamily="34" charset="-122"/>
                <a:cs typeface="Arial" pitchFamily="34" charset="-120"/>
              </a:rPr>
              <a:t>enrolments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320040"/>
            <a:ext cx="7863840" cy="400050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So we asked: when does someone actually </a:t>
            </a:r>
            <a:pPr algn="ctr" indent="0" marL="0">
              <a:buNone/>
            </a:pPr>
            <a:r>
              <a:rPr lang="en-US" sz="3600" b="1" dirty="0">
                <a:solidFill>
                  <a:srgbClr val="B79CFF"/>
                </a:solidFill>
                <a:latin typeface="Arial" pitchFamily="34" charset="0"/>
                <a:ea typeface="Arial" pitchFamily="34" charset="-122"/>
                <a:cs typeface="Arial" pitchFamily="34" charset="-120"/>
              </a:rPr>
              <a:t>enrol</a:t>
            </a:r>
            <a:pPr algn="ctr" indent="0" marL="0">
              <a:buNone/>
            </a:pPr>
            <a:r>
              <a:rPr lang="en-US" sz="3600" b="1" dirty="0">
                <a:solidFill>
                  <a:srgbClr val="FFFFFF"/>
                </a:solidFill>
                <a:latin typeface="Arial" pitchFamily="34" charset="0"/>
                <a:ea typeface="Arial" pitchFamily="34" charset="-122"/>
                <a:cs typeface="Arial" pitchFamily="34" charset="-120"/>
              </a:rPr>
              <a:t> in a high-ticket programme?</a:t>
            </a:r>
            <a:endParaRPr lang="en-US" sz="3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1005840"/>
            <a:ext cx="3886200" cy="2560320"/>
          </a:xfrm>
          <a:prstGeom prst="roundRect">
            <a:avLst>
              <a:gd name="adj" fmla="val 4286"/>
            </a:avLst>
          </a:prstGeom>
          <a:solidFill>
            <a:srgbClr val="17131F"/>
          </a:solidFill>
          <a:ln w="12700">
            <a:solidFill>
              <a:srgbClr val="2C2344"/>
            </a:solidFill>
            <a:prstDash val="solid"/>
          </a:ln>
        </p:spPr>
      </p:sp>
      <p:sp>
        <p:nvSpPr>
          <p:cNvPr id="3" name="Text 1"/>
          <p:cNvSpPr txBox="1"/>
          <p:nvPr/>
        </p:nvSpPr>
        <p:spPr>
          <a:xfrm>
            <a:off x="777240" y="1280160"/>
            <a:ext cx="3429000" cy="822960"/>
          </a:xfrm>
          <a:prstGeom prst="rect">
            <a:avLst/>
          </a:prstGeom>
          <a:noFill/>
          <a:ln/>
        </p:spPr>
        <p:txBody>
          <a:bodyPr wrap="square" lIns="0" tIns="0" rIns="0" bIns="0" rtlCol="0" anchor="t"/>
          <a:lstStyle/>
          <a:p>
            <a:pPr indent="0" marL="0">
              <a:buNone/>
            </a:pPr>
            <a:r>
              <a:rPr lang="en-US" sz="2400" b="1" dirty="0">
                <a:solidFill>
                  <a:srgbClr val="B79CFF"/>
                </a:solidFill>
                <a:latin typeface="Arial" pitchFamily="34" charset="0"/>
                <a:ea typeface="Arial" pitchFamily="34" charset="-122"/>
                <a:cs typeface="Arial" pitchFamily="34" charset="-120"/>
              </a:rPr>
              <a:t>After they WATCH you</a:t>
            </a:r>
            <a:endParaRPr lang="en-US" sz="2400" dirty="0"/>
          </a:p>
        </p:txBody>
      </p:sp>
      <p:sp>
        <p:nvSpPr>
          <p:cNvPr id="4" name="Text 2"/>
          <p:cNvSpPr txBox="1"/>
          <p:nvPr/>
        </p:nvSpPr>
        <p:spPr>
          <a:xfrm>
            <a:off x="777240" y="2148840"/>
            <a:ext cx="3429000" cy="118872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Video lets them see how you teach and think, so </a:t>
            </a:r>
            <a:pPr indent="0" marL="0">
              <a:buNone/>
            </a:pPr>
            <a:r>
              <a:rPr lang="en-US" sz="2000" b="1" dirty="0">
                <a:solidFill>
                  <a:srgbClr val="B79CFF"/>
                </a:solidFill>
                <a:latin typeface="Arial" pitchFamily="34" charset="0"/>
                <a:ea typeface="Arial" pitchFamily="34" charset="-122"/>
                <a:cs typeface="Arial" pitchFamily="34" charset="-120"/>
              </a:rPr>
              <a:t>trust</a:t>
            </a:r>
            <a:pPr indent="0" marL="0">
              <a:buNone/>
            </a:pPr>
            <a:r>
              <a:rPr lang="en-US" sz="2000" dirty="0">
                <a:solidFill>
                  <a:srgbClr val="FFFFFF"/>
                </a:solidFill>
                <a:latin typeface="Arial" pitchFamily="34" charset="0"/>
                <a:ea typeface="Arial" pitchFamily="34" charset="-122"/>
                <a:cs typeface="Arial" pitchFamily="34" charset="-120"/>
              </a:rPr>
              <a:t> is built before the call</a:t>
            </a:r>
            <a:endParaRPr lang="en-US" sz="2000" dirty="0"/>
          </a:p>
        </p:txBody>
      </p:sp>
      <p:sp>
        <p:nvSpPr>
          <p:cNvPr id="5" name="Shape 3"/>
          <p:cNvSpPr/>
          <p:nvPr/>
        </p:nvSpPr>
        <p:spPr>
          <a:xfrm>
            <a:off x="4709160" y="1005840"/>
            <a:ext cx="3886200" cy="2560320"/>
          </a:xfrm>
          <a:prstGeom prst="roundRect">
            <a:avLst>
              <a:gd name="adj" fmla="val 4286"/>
            </a:avLst>
          </a:prstGeom>
          <a:solidFill>
            <a:srgbClr val="17131F"/>
          </a:solidFill>
          <a:ln w="12700">
            <a:solidFill>
              <a:srgbClr val="2C2344"/>
            </a:solidFill>
            <a:prstDash val="solid"/>
          </a:ln>
        </p:spPr>
      </p:sp>
      <p:sp>
        <p:nvSpPr>
          <p:cNvPr id="6" name="Text 4"/>
          <p:cNvSpPr txBox="1"/>
          <p:nvPr/>
        </p:nvSpPr>
        <p:spPr>
          <a:xfrm>
            <a:off x="4937760" y="1280160"/>
            <a:ext cx="3429000" cy="822960"/>
          </a:xfrm>
          <a:prstGeom prst="rect">
            <a:avLst/>
          </a:prstGeom>
          <a:noFill/>
          <a:ln/>
        </p:spPr>
        <p:txBody>
          <a:bodyPr wrap="square" lIns="0" tIns="0" rIns="0" bIns="0" rtlCol="0" anchor="t"/>
          <a:lstStyle/>
          <a:p>
            <a:pPr indent="0" marL="0">
              <a:buNone/>
            </a:pPr>
            <a:r>
              <a:rPr lang="en-US" sz="2400" b="1" dirty="0">
                <a:solidFill>
                  <a:srgbClr val="B79CFF"/>
                </a:solidFill>
                <a:latin typeface="Arial" pitchFamily="34" charset="0"/>
                <a:ea typeface="Arial" pitchFamily="34" charset="-122"/>
                <a:cs typeface="Arial" pitchFamily="34" charset="-120"/>
              </a:rPr>
              <a:t>After they TALK to you</a:t>
            </a:r>
            <a:endParaRPr lang="en-US" sz="2400" dirty="0"/>
          </a:p>
        </p:txBody>
      </p:sp>
      <p:sp>
        <p:nvSpPr>
          <p:cNvPr id="7" name="Text 5"/>
          <p:cNvSpPr txBox="1"/>
          <p:nvPr/>
        </p:nvSpPr>
        <p:spPr>
          <a:xfrm>
            <a:off x="4937760" y="2148840"/>
            <a:ext cx="3429000" cy="118872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 </a:t>
            </a:r>
            <a:pPr indent="0" marL="0">
              <a:buNone/>
            </a:pPr>
            <a:r>
              <a:rPr lang="en-US" sz="2000" b="1" dirty="0">
                <a:solidFill>
                  <a:srgbClr val="B79CFF"/>
                </a:solidFill>
                <a:latin typeface="Arial" pitchFamily="34" charset="0"/>
                <a:ea typeface="Arial" pitchFamily="34" charset="-122"/>
                <a:cs typeface="Arial" pitchFamily="34" charset="-120"/>
              </a:rPr>
              <a:t>real conversation</a:t>
            </a:r>
            <a:pPr indent="0" marL="0">
              <a:buNone/>
            </a:pPr>
            <a:r>
              <a:rPr lang="en-US" sz="2000" dirty="0">
                <a:solidFill>
                  <a:srgbClr val="FFFFFF"/>
                </a:solidFill>
                <a:latin typeface="Arial" pitchFamily="34" charset="0"/>
                <a:ea typeface="Arial" pitchFamily="34" charset="-122"/>
                <a:cs typeface="Arial" pitchFamily="34" charset="-120"/>
              </a:rPr>
              <a:t> is where parents and students decide to invest</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320040"/>
            <a:ext cx="7863840" cy="400050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How do we bring those two together, </a:t>
            </a:r>
            <a:pPr algn="ctr" indent="0" marL="0">
              <a:buNone/>
            </a:pPr>
            <a:r>
              <a:rPr lang="en-US" sz="3600" b="1" dirty="0">
                <a:solidFill>
                  <a:srgbClr val="B79CFF"/>
                </a:solidFill>
                <a:latin typeface="Arial" pitchFamily="34" charset="0"/>
                <a:ea typeface="Arial" pitchFamily="34" charset="-122"/>
                <a:cs typeface="Arial" pitchFamily="34" charset="-120"/>
              </a:rPr>
              <a:t>at scale</a:t>
            </a:r>
            <a:pPr algn="ctr" indent="0" marL="0">
              <a:buNone/>
            </a:pPr>
            <a:r>
              <a:rPr lang="en-US" sz="3600" b="1" dirty="0">
                <a:solidFill>
                  <a:srgbClr val="FFFFFF"/>
                </a:solidFill>
                <a:latin typeface="Arial" pitchFamily="34" charset="0"/>
                <a:ea typeface="Arial" pitchFamily="34" charset="-122"/>
                <a:cs typeface="Arial" pitchFamily="34" charset="-120"/>
              </a:rPr>
              <a:t>?</a:t>
            </a:r>
            <a:endParaRPr lang="en-US" sz="3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40080" y="457200"/>
            <a:ext cx="7863840" cy="242316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Introducing… </a:t>
            </a:r>
            <a:pPr algn="ctr" indent="0" marL="0">
              <a:buNone/>
            </a:pPr>
            <a:r>
              <a:rPr lang="en-US" sz="3600" b="1" dirty="0">
                <a:solidFill>
                  <a:srgbClr val="B79CFF"/>
                </a:solidFill>
                <a:latin typeface="Arial" pitchFamily="34" charset="0"/>
                <a:ea typeface="Arial" pitchFamily="34" charset="-122"/>
                <a:cs typeface="Arial" pitchFamily="34" charset="-120"/>
              </a:rPr>
              <a:t>GrowthOS™</a:t>
            </a:r>
            <a:endParaRPr lang="en-US" sz="3600" dirty="0"/>
          </a:p>
        </p:txBody>
      </p:sp>
      <p:sp>
        <p:nvSpPr>
          <p:cNvPr id="3" name="Text 1"/>
          <p:cNvSpPr txBox="1"/>
          <p:nvPr/>
        </p:nvSpPr>
        <p:spPr>
          <a:xfrm>
            <a:off x="914400" y="3017520"/>
            <a:ext cx="7315200" cy="1188720"/>
          </a:xfrm>
          <a:prstGeom prst="rect">
            <a:avLst/>
          </a:prstGeom>
          <a:noFill/>
          <a:ln/>
        </p:spPr>
        <p:txBody>
          <a:bodyPr wrap="square" lIns="0" tIns="0" rIns="0" bIns="0" rtlCol="0" anchor="t"/>
          <a:lstStyle/>
          <a:p>
            <a:pPr algn="ctr" indent="0" marL="0">
              <a:buNone/>
            </a:pPr>
            <a:r>
              <a:rPr lang="en-US" sz="1900" dirty="0">
                <a:solidFill>
                  <a:srgbClr val="A6A1B5"/>
                </a:solidFill>
                <a:latin typeface="Arial" pitchFamily="34" charset="0"/>
                <a:ea typeface="Arial" pitchFamily="34" charset="-122"/>
                <a:cs typeface="Arial" pitchFamily="34" charset="-120"/>
              </a:rPr>
              <a:t>Meta &amp; Instagram ads + a qualifying funnel + automation + a sales process, all working together.</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65760"/>
            <a:ext cx="80467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How GrowthOS™ works</a:t>
            </a:r>
            <a:endParaRPr lang="en-US" sz="3000" dirty="0"/>
          </a:p>
        </p:txBody>
      </p:sp>
      <p:sp>
        <p:nvSpPr>
          <p:cNvPr id="3" name="Shape 1"/>
          <p:cNvSpPr/>
          <p:nvPr/>
        </p:nvSpPr>
        <p:spPr>
          <a:xfrm>
            <a:off x="548640" y="1463040"/>
            <a:ext cx="1127760" cy="1600200"/>
          </a:xfrm>
          <a:prstGeom prst="roundRect">
            <a:avLst>
              <a:gd name="adj" fmla="val 9730"/>
            </a:avLst>
          </a:prstGeom>
          <a:solidFill>
            <a:srgbClr val="17131F"/>
          </a:solidFill>
          <a:ln w="12700">
            <a:solidFill>
              <a:srgbClr val="2C2344"/>
            </a:solidFill>
            <a:prstDash val="solid"/>
          </a:ln>
        </p:spPr>
      </p:sp>
      <p:sp>
        <p:nvSpPr>
          <p:cNvPr id="4" name="Text 2"/>
          <p:cNvSpPr txBox="1"/>
          <p:nvPr/>
        </p:nvSpPr>
        <p:spPr>
          <a:xfrm>
            <a:off x="621792" y="1600200"/>
            <a:ext cx="981456"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Meta Ad</a:t>
            </a:r>
            <a:endParaRPr lang="en-US" sz="1300" dirty="0"/>
          </a:p>
        </p:txBody>
      </p:sp>
      <p:sp>
        <p:nvSpPr>
          <p:cNvPr id="5" name="Text 3"/>
          <p:cNvSpPr txBox="1"/>
          <p:nvPr/>
        </p:nvSpPr>
        <p:spPr>
          <a:xfrm>
            <a:off x="621792" y="2194560"/>
            <a:ext cx="981456" cy="777240"/>
          </a:xfrm>
          <a:prstGeom prst="rect">
            <a:avLst/>
          </a:prstGeom>
          <a:noFill/>
          <a:ln/>
        </p:spPr>
        <p:txBody>
          <a:bodyPr wrap="square" lIns="0" tIns="0" rIns="0" bIns="0" rtlCol="0" anchor="t"/>
          <a:lstStyle/>
          <a:p>
            <a:pPr algn="ctr" indent="0" marL="0">
              <a:buNone/>
            </a:pPr>
            <a:r>
              <a:rPr lang="en-US" sz="1150" dirty="0">
                <a:solidFill>
                  <a:srgbClr val="A6A1B5"/>
                </a:solidFill>
                <a:latin typeface="Arial" pitchFamily="34" charset="0"/>
                <a:ea typeface="Arial" pitchFamily="34" charset="-122"/>
                <a:cs typeface="Arial" pitchFamily="34" charset="-120"/>
              </a:rPr>
              <a:t>Speaks to one student &amp; one problem</a:t>
            </a:r>
            <a:endParaRPr lang="en-US" sz="1150" dirty="0"/>
          </a:p>
        </p:txBody>
      </p:sp>
      <p:sp>
        <p:nvSpPr>
          <p:cNvPr id="6" name="Text 4"/>
          <p:cNvSpPr txBox="1"/>
          <p:nvPr/>
        </p:nvSpPr>
        <p:spPr>
          <a:xfrm>
            <a:off x="1676400" y="2034540"/>
            <a:ext cx="256032" cy="457200"/>
          </a:xfrm>
          <a:prstGeom prst="rect">
            <a:avLst/>
          </a:prstGeom>
          <a:noFill/>
          <a:ln/>
        </p:spPr>
        <p:txBody>
          <a:bodyPr wrap="square" lIns="0" tIns="0" rIns="0" bIns="0" rtlCol="0" anchor="ctr"/>
          <a:lstStyle/>
          <a:p>
            <a:pPr algn="ctr" indent="0" marL="0">
              <a:buNone/>
            </a:pPr>
            <a:r>
              <a:rPr lang="en-US" sz="1800" b="1" dirty="0">
                <a:solidFill>
                  <a:srgbClr val="B79CFF"/>
                </a:solidFill>
                <a:latin typeface="Arial" pitchFamily="34" charset="0"/>
                <a:ea typeface="Arial" pitchFamily="34" charset="-122"/>
                <a:cs typeface="Arial" pitchFamily="34" charset="-120"/>
              </a:rPr>
              <a:t>→</a:t>
            </a:r>
            <a:endParaRPr lang="en-US" sz="1800" dirty="0"/>
          </a:p>
        </p:txBody>
      </p:sp>
      <p:sp>
        <p:nvSpPr>
          <p:cNvPr id="7" name="Shape 5"/>
          <p:cNvSpPr/>
          <p:nvPr/>
        </p:nvSpPr>
        <p:spPr>
          <a:xfrm>
            <a:off x="1932432" y="1463040"/>
            <a:ext cx="1127760" cy="1600200"/>
          </a:xfrm>
          <a:prstGeom prst="roundRect">
            <a:avLst>
              <a:gd name="adj" fmla="val 9730"/>
            </a:avLst>
          </a:prstGeom>
          <a:solidFill>
            <a:srgbClr val="17131F"/>
          </a:solidFill>
          <a:ln w="12700">
            <a:solidFill>
              <a:srgbClr val="2C2344"/>
            </a:solidFill>
            <a:prstDash val="solid"/>
          </a:ln>
        </p:spPr>
      </p:sp>
      <p:sp>
        <p:nvSpPr>
          <p:cNvPr id="8" name="Text 6"/>
          <p:cNvSpPr txBox="1"/>
          <p:nvPr/>
        </p:nvSpPr>
        <p:spPr>
          <a:xfrm>
            <a:off x="2005584" y="1600200"/>
            <a:ext cx="981456"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Qualify</a:t>
            </a:r>
            <a:endParaRPr lang="en-US" sz="1300" dirty="0"/>
          </a:p>
        </p:txBody>
      </p:sp>
      <p:sp>
        <p:nvSpPr>
          <p:cNvPr id="9" name="Text 7"/>
          <p:cNvSpPr txBox="1"/>
          <p:nvPr/>
        </p:nvSpPr>
        <p:spPr>
          <a:xfrm>
            <a:off x="2005584" y="2194560"/>
            <a:ext cx="981456" cy="777240"/>
          </a:xfrm>
          <a:prstGeom prst="rect">
            <a:avLst/>
          </a:prstGeom>
          <a:noFill/>
          <a:ln/>
        </p:spPr>
        <p:txBody>
          <a:bodyPr wrap="square" lIns="0" tIns="0" rIns="0" bIns="0" rtlCol="0" anchor="t"/>
          <a:lstStyle/>
          <a:p>
            <a:pPr algn="ctr" indent="0" marL="0">
              <a:buNone/>
            </a:pPr>
            <a:r>
              <a:rPr lang="en-US" sz="1150" dirty="0">
                <a:solidFill>
                  <a:srgbClr val="A6A1B5"/>
                </a:solidFill>
                <a:latin typeface="Arial" pitchFamily="34" charset="0"/>
                <a:ea typeface="Arial" pitchFamily="34" charset="-122"/>
                <a:cs typeface="Arial" pitchFamily="34" charset="-120"/>
              </a:rPr>
              <a:t>Short form: budget, intent &amp; fit</a:t>
            </a:r>
            <a:endParaRPr lang="en-US" sz="1150" dirty="0"/>
          </a:p>
        </p:txBody>
      </p:sp>
      <p:sp>
        <p:nvSpPr>
          <p:cNvPr id="10" name="Text 8"/>
          <p:cNvSpPr txBox="1"/>
          <p:nvPr/>
        </p:nvSpPr>
        <p:spPr>
          <a:xfrm>
            <a:off x="3060192" y="2034540"/>
            <a:ext cx="256032" cy="457200"/>
          </a:xfrm>
          <a:prstGeom prst="rect">
            <a:avLst/>
          </a:prstGeom>
          <a:noFill/>
          <a:ln/>
        </p:spPr>
        <p:txBody>
          <a:bodyPr wrap="square" lIns="0" tIns="0" rIns="0" bIns="0" rtlCol="0" anchor="ctr"/>
          <a:lstStyle/>
          <a:p>
            <a:pPr algn="ctr" indent="0" marL="0">
              <a:buNone/>
            </a:pPr>
            <a:r>
              <a:rPr lang="en-US" sz="1800" b="1" dirty="0">
                <a:solidFill>
                  <a:srgbClr val="B79CFF"/>
                </a:solidFill>
                <a:latin typeface="Arial" pitchFamily="34" charset="0"/>
                <a:ea typeface="Arial" pitchFamily="34" charset="-122"/>
                <a:cs typeface="Arial" pitchFamily="34" charset="-120"/>
              </a:rPr>
              <a:t>→</a:t>
            </a:r>
            <a:endParaRPr lang="en-US" sz="1800" dirty="0"/>
          </a:p>
        </p:txBody>
      </p:sp>
      <p:sp>
        <p:nvSpPr>
          <p:cNvPr id="11" name="Shape 9"/>
          <p:cNvSpPr/>
          <p:nvPr/>
        </p:nvSpPr>
        <p:spPr>
          <a:xfrm>
            <a:off x="3316224" y="1463040"/>
            <a:ext cx="1127760" cy="1600200"/>
          </a:xfrm>
          <a:prstGeom prst="roundRect">
            <a:avLst>
              <a:gd name="adj" fmla="val 9730"/>
            </a:avLst>
          </a:prstGeom>
          <a:solidFill>
            <a:srgbClr val="17131F"/>
          </a:solidFill>
          <a:ln w="12700">
            <a:solidFill>
              <a:srgbClr val="2C2344"/>
            </a:solidFill>
            <a:prstDash val="solid"/>
          </a:ln>
        </p:spPr>
      </p:sp>
      <p:sp>
        <p:nvSpPr>
          <p:cNvPr id="12" name="Text 10"/>
          <p:cNvSpPr txBox="1"/>
          <p:nvPr/>
        </p:nvSpPr>
        <p:spPr>
          <a:xfrm>
            <a:off x="3389376" y="1600200"/>
            <a:ext cx="981456"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VSL + Booking</a:t>
            </a:r>
            <a:endParaRPr lang="en-US" sz="1300" dirty="0"/>
          </a:p>
        </p:txBody>
      </p:sp>
      <p:sp>
        <p:nvSpPr>
          <p:cNvPr id="13" name="Text 11"/>
          <p:cNvSpPr txBox="1"/>
          <p:nvPr/>
        </p:nvSpPr>
        <p:spPr>
          <a:xfrm>
            <a:off x="3389376" y="2194560"/>
            <a:ext cx="981456" cy="777240"/>
          </a:xfrm>
          <a:prstGeom prst="rect">
            <a:avLst/>
          </a:prstGeom>
          <a:noFill/>
          <a:ln/>
        </p:spPr>
        <p:txBody>
          <a:bodyPr wrap="square" lIns="0" tIns="0" rIns="0" bIns="0" rtlCol="0" anchor="t"/>
          <a:lstStyle/>
          <a:p>
            <a:pPr algn="ctr" indent="0" marL="0">
              <a:buNone/>
            </a:pPr>
            <a:r>
              <a:rPr lang="en-US" sz="1150" dirty="0">
                <a:solidFill>
                  <a:srgbClr val="A6A1B5"/>
                </a:solidFill>
                <a:latin typeface="Arial" pitchFamily="34" charset="0"/>
                <a:ea typeface="Arial" pitchFamily="34" charset="-122"/>
                <a:cs typeface="Arial" pitchFamily="34" charset="-120"/>
              </a:rPr>
              <a:t>They watch you, then pick a time</a:t>
            </a:r>
            <a:endParaRPr lang="en-US" sz="1150" dirty="0"/>
          </a:p>
        </p:txBody>
      </p:sp>
      <p:sp>
        <p:nvSpPr>
          <p:cNvPr id="14" name="Text 12"/>
          <p:cNvSpPr txBox="1"/>
          <p:nvPr/>
        </p:nvSpPr>
        <p:spPr>
          <a:xfrm>
            <a:off x="4443984" y="2034540"/>
            <a:ext cx="256032" cy="457200"/>
          </a:xfrm>
          <a:prstGeom prst="rect">
            <a:avLst/>
          </a:prstGeom>
          <a:noFill/>
          <a:ln/>
        </p:spPr>
        <p:txBody>
          <a:bodyPr wrap="square" lIns="0" tIns="0" rIns="0" bIns="0" rtlCol="0" anchor="ctr"/>
          <a:lstStyle/>
          <a:p>
            <a:pPr algn="ctr" indent="0" marL="0">
              <a:buNone/>
            </a:pPr>
            <a:r>
              <a:rPr lang="en-US" sz="1800" b="1" dirty="0">
                <a:solidFill>
                  <a:srgbClr val="B79CFF"/>
                </a:solidFill>
                <a:latin typeface="Arial" pitchFamily="34" charset="0"/>
                <a:ea typeface="Arial" pitchFamily="34" charset="-122"/>
                <a:cs typeface="Arial" pitchFamily="34" charset="-120"/>
              </a:rPr>
              <a:t>→</a:t>
            </a:r>
            <a:endParaRPr lang="en-US" sz="1800" dirty="0"/>
          </a:p>
        </p:txBody>
      </p:sp>
      <p:sp>
        <p:nvSpPr>
          <p:cNvPr id="15" name="Shape 13"/>
          <p:cNvSpPr/>
          <p:nvPr/>
        </p:nvSpPr>
        <p:spPr>
          <a:xfrm>
            <a:off x="4700016" y="1463040"/>
            <a:ext cx="1127760" cy="1600200"/>
          </a:xfrm>
          <a:prstGeom prst="roundRect">
            <a:avLst>
              <a:gd name="adj" fmla="val 9730"/>
            </a:avLst>
          </a:prstGeom>
          <a:solidFill>
            <a:srgbClr val="17131F"/>
          </a:solidFill>
          <a:ln w="12700">
            <a:solidFill>
              <a:srgbClr val="2C2344"/>
            </a:solidFill>
            <a:prstDash val="solid"/>
          </a:ln>
        </p:spPr>
      </p:sp>
      <p:sp>
        <p:nvSpPr>
          <p:cNvPr id="16" name="Text 14"/>
          <p:cNvSpPr txBox="1"/>
          <p:nvPr/>
        </p:nvSpPr>
        <p:spPr>
          <a:xfrm>
            <a:off x="4773168" y="1600200"/>
            <a:ext cx="981456"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Automation</a:t>
            </a:r>
            <a:endParaRPr lang="en-US" sz="1300" dirty="0"/>
          </a:p>
        </p:txBody>
      </p:sp>
      <p:sp>
        <p:nvSpPr>
          <p:cNvPr id="17" name="Text 15"/>
          <p:cNvSpPr txBox="1"/>
          <p:nvPr/>
        </p:nvSpPr>
        <p:spPr>
          <a:xfrm>
            <a:off x="4773168" y="2194560"/>
            <a:ext cx="981456" cy="777240"/>
          </a:xfrm>
          <a:prstGeom prst="rect">
            <a:avLst/>
          </a:prstGeom>
          <a:noFill/>
          <a:ln/>
        </p:spPr>
        <p:txBody>
          <a:bodyPr wrap="square" lIns="0" tIns="0" rIns="0" bIns="0" rtlCol="0" anchor="t"/>
          <a:lstStyle/>
          <a:p>
            <a:pPr algn="ctr" indent="0" marL="0">
              <a:buNone/>
            </a:pPr>
            <a:r>
              <a:rPr lang="en-US" sz="1150" dirty="0">
                <a:solidFill>
                  <a:srgbClr val="A6A1B5"/>
                </a:solidFill>
                <a:latin typeface="Arial" pitchFamily="34" charset="0"/>
                <a:ea typeface="Arial" pitchFamily="34" charset="-122"/>
                <a:cs typeface="Arial" pitchFamily="34" charset="-120"/>
              </a:rPr>
              <a:t>Email + SMS reminders &amp; nurture</a:t>
            </a:r>
            <a:endParaRPr lang="en-US" sz="1150" dirty="0"/>
          </a:p>
        </p:txBody>
      </p:sp>
      <p:sp>
        <p:nvSpPr>
          <p:cNvPr id="18" name="Text 16"/>
          <p:cNvSpPr txBox="1"/>
          <p:nvPr/>
        </p:nvSpPr>
        <p:spPr>
          <a:xfrm>
            <a:off x="5827776" y="2034540"/>
            <a:ext cx="256032" cy="457200"/>
          </a:xfrm>
          <a:prstGeom prst="rect">
            <a:avLst/>
          </a:prstGeom>
          <a:noFill/>
          <a:ln/>
        </p:spPr>
        <p:txBody>
          <a:bodyPr wrap="square" lIns="0" tIns="0" rIns="0" bIns="0" rtlCol="0" anchor="ctr"/>
          <a:lstStyle/>
          <a:p>
            <a:pPr algn="ctr" indent="0" marL="0">
              <a:buNone/>
            </a:pPr>
            <a:r>
              <a:rPr lang="en-US" sz="1800" b="1" dirty="0">
                <a:solidFill>
                  <a:srgbClr val="B79CFF"/>
                </a:solidFill>
                <a:latin typeface="Arial" pitchFamily="34" charset="0"/>
                <a:ea typeface="Arial" pitchFamily="34" charset="-122"/>
                <a:cs typeface="Arial" pitchFamily="34" charset="-120"/>
              </a:rPr>
              <a:t>→</a:t>
            </a:r>
            <a:endParaRPr lang="en-US" sz="1800" dirty="0"/>
          </a:p>
        </p:txBody>
      </p:sp>
      <p:sp>
        <p:nvSpPr>
          <p:cNvPr id="19" name="Shape 17"/>
          <p:cNvSpPr/>
          <p:nvPr/>
        </p:nvSpPr>
        <p:spPr>
          <a:xfrm>
            <a:off x="6083808" y="1463040"/>
            <a:ext cx="1127760" cy="1600200"/>
          </a:xfrm>
          <a:prstGeom prst="roundRect">
            <a:avLst>
              <a:gd name="adj" fmla="val 9730"/>
            </a:avLst>
          </a:prstGeom>
          <a:solidFill>
            <a:srgbClr val="17131F"/>
          </a:solidFill>
          <a:ln w="12700">
            <a:solidFill>
              <a:srgbClr val="2C2344"/>
            </a:solidFill>
            <a:prstDash val="solid"/>
          </a:ln>
        </p:spPr>
      </p:sp>
      <p:sp>
        <p:nvSpPr>
          <p:cNvPr id="20" name="Text 18"/>
          <p:cNvSpPr txBox="1"/>
          <p:nvPr/>
        </p:nvSpPr>
        <p:spPr>
          <a:xfrm>
            <a:off x="6156960" y="1600200"/>
            <a:ext cx="981456"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Growth Call</a:t>
            </a:r>
            <a:endParaRPr lang="en-US" sz="1300" dirty="0"/>
          </a:p>
        </p:txBody>
      </p:sp>
      <p:sp>
        <p:nvSpPr>
          <p:cNvPr id="21" name="Text 19"/>
          <p:cNvSpPr txBox="1"/>
          <p:nvPr/>
        </p:nvSpPr>
        <p:spPr>
          <a:xfrm>
            <a:off x="6156960" y="2194560"/>
            <a:ext cx="981456" cy="777240"/>
          </a:xfrm>
          <a:prstGeom prst="rect">
            <a:avLst/>
          </a:prstGeom>
          <a:noFill/>
          <a:ln/>
        </p:spPr>
        <p:txBody>
          <a:bodyPr wrap="square" lIns="0" tIns="0" rIns="0" bIns="0" rtlCol="0" anchor="t"/>
          <a:lstStyle/>
          <a:p>
            <a:pPr algn="ctr" indent="0" marL="0">
              <a:buNone/>
            </a:pPr>
            <a:r>
              <a:rPr lang="en-US" sz="1150" dirty="0">
                <a:solidFill>
                  <a:srgbClr val="A6A1B5"/>
                </a:solidFill>
                <a:latin typeface="Arial" pitchFamily="34" charset="0"/>
                <a:ea typeface="Arial" pitchFamily="34" charset="-122"/>
                <a:cs typeface="Arial" pitchFamily="34" charset="-120"/>
              </a:rPr>
              <a:t>Only qualified, warmed-up leads</a:t>
            </a:r>
            <a:endParaRPr lang="en-US" sz="1150" dirty="0"/>
          </a:p>
        </p:txBody>
      </p:sp>
      <p:sp>
        <p:nvSpPr>
          <p:cNvPr id="22" name="Text 20"/>
          <p:cNvSpPr txBox="1"/>
          <p:nvPr/>
        </p:nvSpPr>
        <p:spPr>
          <a:xfrm>
            <a:off x="7211568" y="2034540"/>
            <a:ext cx="256032" cy="457200"/>
          </a:xfrm>
          <a:prstGeom prst="rect">
            <a:avLst/>
          </a:prstGeom>
          <a:noFill/>
          <a:ln/>
        </p:spPr>
        <p:txBody>
          <a:bodyPr wrap="square" lIns="0" tIns="0" rIns="0" bIns="0" rtlCol="0" anchor="ctr"/>
          <a:lstStyle/>
          <a:p>
            <a:pPr algn="ctr" indent="0" marL="0">
              <a:buNone/>
            </a:pPr>
            <a:r>
              <a:rPr lang="en-US" sz="1800" b="1" dirty="0">
                <a:solidFill>
                  <a:srgbClr val="B79CFF"/>
                </a:solidFill>
                <a:latin typeface="Arial" pitchFamily="34" charset="0"/>
                <a:ea typeface="Arial" pitchFamily="34" charset="-122"/>
                <a:cs typeface="Arial" pitchFamily="34" charset="-120"/>
              </a:rPr>
              <a:t>→</a:t>
            </a:r>
            <a:endParaRPr lang="en-US" sz="1800" dirty="0"/>
          </a:p>
        </p:txBody>
      </p:sp>
      <p:sp>
        <p:nvSpPr>
          <p:cNvPr id="23" name="Shape 21"/>
          <p:cNvSpPr/>
          <p:nvPr/>
        </p:nvSpPr>
        <p:spPr>
          <a:xfrm>
            <a:off x="7467600" y="1463040"/>
            <a:ext cx="1127760" cy="1600200"/>
          </a:xfrm>
          <a:prstGeom prst="roundRect">
            <a:avLst>
              <a:gd name="adj" fmla="val 9730"/>
            </a:avLst>
          </a:prstGeom>
          <a:solidFill>
            <a:srgbClr val="7C3CFF"/>
          </a:solidFill>
          <a:ln w="12700">
            <a:solidFill>
              <a:srgbClr val="7C3CFF"/>
            </a:solidFill>
            <a:prstDash val="solid"/>
          </a:ln>
        </p:spPr>
      </p:sp>
      <p:sp>
        <p:nvSpPr>
          <p:cNvPr id="24" name="Text 22"/>
          <p:cNvSpPr txBox="1"/>
          <p:nvPr/>
        </p:nvSpPr>
        <p:spPr>
          <a:xfrm>
            <a:off x="7540752" y="1600200"/>
            <a:ext cx="981456"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New Student</a:t>
            </a:r>
            <a:endParaRPr lang="en-US" sz="1300" dirty="0"/>
          </a:p>
        </p:txBody>
      </p:sp>
      <p:sp>
        <p:nvSpPr>
          <p:cNvPr id="25" name="Text 23"/>
          <p:cNvSpPr txBox="1"/>
          <p:nvPr/>
        </p:nvSpPr>
        <p:spPr>
          <a:xfrm>
            <a:off x="7540752" y="2194560"/>
            <a:ext cx="981456" cy="777240"/>
          </a:xfrm>
          <a:prstGeom prst="rect">
            <a:avLst/>
          </a:prstGeom>
          <a:noFill/>
          <a:ln/>
        </p:spPr>
        <p:txBody>
          <a:bodyPr wrap="square" lIns="0" tIns="0" rIns="0" bIns="0" rtlCol="0" anchor="t"/>
          <a:lstStyle/>
          <a:p>
            <a:pPr algn="ctr" indent="0" marL="0">
              <a:buNone/>
            </a:pPr>
            <a:r>
              <a:rPr lang="en-US" sz="1150" dirty="0">
                <a:solidFill>
                  <a:srgbClr val="EDE6FF"/>
                </a:solidFill>
                <a:latin typeface="Arial" pitchFamily="34" charset="0"/>
                <a:ea typeface="Arial" pitchFamily="34" charset="-122"/>
                <a:cs typeface="Arial" pitchFamily="34" charset="-120"/>
              </a:rPr>
              <a:t>Month after month</a:t>
            </a:r>
            <a:endParaRPr lang="en-US" sz="1150" dirty="0"/>
          </a:p>
        </p:txBody>
      </p:sp>
      <p:sp>
        <p:nvSpPr>
          <p:cNvPr id="26" name="Text 24"/>
          <p:cNvSpPr txBox="1"/>
          <p:nvPr/>
        </p:nvSpPr>
        <p:spPr>
          <a:xfrm>
            <a:off x="548640" y="3383280"/>
            <a:ext cx="8046720" cy="548640"/>
          </a:xfrm>
          <a:prstGeom prst="rect">
            <a:avLst/>
          </a:prstGeom>
          <a:noFill/>
          <a:ln/>
        </p:spPr>
        <p:txBody>
          <a:bodyPr wrap="square" lIns="0" tIns="0" rIns="0" bIns="0" rtlCol="0" anchor="ctr"/>
          <a:lstStyle/>
          <a:p>
            <a:pPr algn="ctr" indent="0" marL="0">
              <a:buNone/>
            </a:pPr>
            <a:r>
              <a:rPr lang="en-US" sz="1600" dirty="0">
                <a:solidFill>
                  <a:srgbClr val="A6A1B5"/>
                </a:solidFill>
                <a:latin typeface="Arial" pitchFamily="34" charset="0"/>
                <a:ea typeface="Arial" pitchFamily="34" charset="-122"/>
                <a:cs typeface="Arial" pitchFamily="34" charset="-120"/>
              </a:rPr>
              <a:t>Every piece is built to </a:t>
            </a:r>
            <a:pPr algn="ctr" indent="0" marL="0">
              <a:buNone/>
            </a:pPr>
            <a:r>
              <a:rPr lang="en-US" sz="1600" b="1" dirty="0">
                <a:solidFill>
                  <a:srgbClr val="B79CFF"/>
                </a:solidFill>
                <a:latin typeface="Arial" pitchFamily="34" charset="0"/>
                <a:ea typeface="Arial" pitchFamily="34" charset="-122"/>
                <a:cs typeface="Arial" pitchFamily="34" charset="-120"/>
              </a:rPr>
              <a:t>filter out</a:t>
            </a:r>
            <a:pPr algn="ctr" indent="0" marL="0">
              <a:buNone/>
            </a:pPr>
            <a:r>
              <a:rPr lang="en-US" sz="1600" dirty="0">
                <a:solidFill>
                  <a:srgbClr val="A6A1B5"/>
                </a:solidFill>
                <a:latin typeface="Arial" pitchFamily="34" charset="0"/>
                <a:ea typeface="Arial" pitchFamily="34" charset="-122"/>
                <a:cs typeface="Arial" pitchFamily="34" charset="-120"/>
              </a:rPr>
              <a:t> the wrong people and </a:t>
            </a:r>
            <a:pPr algn="ctr" indent="0" marL="0">
              <a:buNone/>
            </a:pPr>
            <a:r>
              <a:rPr lang="en-US" sz="1600" b="1" dirty="0">
                <a:solidFill>
                  <a:srgbClr val="B79CFF"/>
                </a:solidFill>
                <a:latin typeface="Arial" pitchFamily="34" charset="0"/>
                <a:ea typeface="Arial" pitchFamily="34" charset="-122"/>
                <a:cs typeface="Arial" pitchFamily="34" charset="-120"/>
              </a:rPr>
              <a:t>warm up</a:t>
            </a:r>
            <a:pPr algn="ctr" indent="0" marL="0">
              <a:buNone/>
            </a:pPr>
            <a:r>
              <a:rPr lang="en-US" sz="1600" dirty="0">
                <a:solidFill>
                  <a:srgbClr val="A6A1B5"/>
                </a:solidFill>
                <a:latin typeface="Arial" pitchFamily="34" charset="0"/>
                <a:ea typeface="Arial" pitchFamily="34" charset="-122"/>
                <a:cs typeface="Arial" pitchFamily="34" charset="-120"/>
              </a:rPr>
              <a:t> the right ones.</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65760"/>
            <a:ext cx="80467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My goals for this training…</a:t>
            </a:r>
            <a:endParaRPr lang="en-US" sz="3000" dirty="0"/>
          </a:p>
        </p:txBody>
      </p:sp>
      <p:sp>
        <p:nvSpPr>
          <p:cNvPr id="3" name="Shape 1"/>
          <p:cNvSpPr/>
          <p:nvPr/>
        </p:nvSpPr>
        <p:spPr>
          <a:xfrm>
            <a:off x="548640" y="1234440"/>
            <a:ext cx="8046720" cy="713232"/>
          </a:xfrm>
          <a:prstGeom prst="roundRect">
            <a:avLst>
              <a:gd name="adj" fmla="val 15385"/>
            </a:avLst>
          </a:prstGeom>
          <a:solidFill>
            <a:srgbClr val="17131F"/>
          </a:solidFill>
          <a:ln w="12700">
            <a:solidFill>
              <a:srgbClr val="2C2344"/>
            </a:solidFill>
            <a:prstDash val="solid"/>
          </a:ln>
        </p:spPr>
      </p:sp>
      <p:sp>
        <p:nvSpPr>
          <p:cNvPr id="4" name="Shape 2"/>
          <p:cNvSpPr/>
          <p:nvPr/>
        </p:nvSpPr>
        <p:spPr>
          <a:xfrm>
            <a:off x="713232" y="1399032"/>
            <a:ext cx="384048" cy="384048"/>
          </a:xfrm>
          <a:prstGeom prst="ellipse">
            <a:avLst/>
          </a:prstGeom>
          <a:solidFill>
            <a:srgbClr val="7C3CFF"/>
          </a:solidFill>
          <a:ln w="12700">
            <a:solidFill>
              <a:srgbClr val="7C3CFF"/>
            </a:solidFill>
            <a:prstDash val="solid"/>
          </a:ln>
        </p:spPr>
      </p:sp>
      <p:sp>
        <p:nvSpPr>
          <p:cNvPr id="5" name="Text 3"/>
          <p:cNvSpPr txBox="1"/>
          <p:nvPr/>
        </p:nvSpPr>
        <p:spPr>
          <a:xfrm>
            <a:off x="713232" y="139903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txBox="1"/>
          <p:nvPr/>
        </p:nvSpPr>
        <p:spPr>
          <a:xfrm>
            <a:off x="1280160" y="1234440"/>
            <a:ext cx="7132320" cy="713232"/>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Show you why ads </a:t>
            </a:r>
            <a:pPr indent="0" marL="0">
              <a:buNone/>
            </a:pPr>
            <a:r>
              <a:rPr lang="en-US" sz="1800" b="1" dirty="0">
                <a:solidFill>
                  <a:srgbClr val="B79CFF"/>
                </a:solidFill>
                <a:latin typeface="Arial" pitchFamily="34" charset="0"/>
                <a:ea typeface="Arial" pitchFamily="34" charset="-122"/>
                <a:cs typeface="Arial" pitchFamily="34" charset="-120"/>
              </a:rPr>
              <a:t>alone</a:t>
            </a:r>
            <a:pPr indent="0" marL="0">
              <a:buNone/>
            </a:pPr>
            <a:r>
              <a:rPr lang="en-US" sz="1800" dirty="0">
                <a:solidFill>
                  <a:srgbClr val="FFFFFF"/>
                </a:solidFill>
                <a:latin typeface="Arial" pitchFamily="34" charset="0"/>
                <a:ea typeface="Arial" pitchFamily="34" charset="-122"/>
                <a:cs typeface="Arial" pitchFamily="34" charset="-120"/>
              </a:rPr>
              <a:t> don't work, and what's actually missing</a:t>
            </a:r>
            <a:endParaRPr lang="en-US" sz="1800" dirty="0"/>
          </a:p>
        </p:txBody>
      </p:sp>
      <p:sp>
        <p:nvSpPr>
          <p:cNvPr id="7" name="Shape 5"/>
          <p:cNvSpPr/>
          <p:nvPr/>
        </p:nvSpPr>
        <p:spPr>
          <a:xfrm>
            <a:off x="548640" y="2075688"/>
            <a:ext cx="8046720" cy="713232"/>
          </a:xfrm>
          <a:prstGeom prst="roundRect">
            <a:avLst>
              <a:gd name="adj" fmla="val 15385"/>
            </a:avLst>
          </a:prstGeom>
          <a:solidFill>
            <a:srgbClr val="17131F"/>
          </a:solidFill>
          <a:ln w="12700">
            <a:solidFill>
              <a:srgbClr val="2C2344"/>
            </a:solidFill>
            <a:prstDash val="solid"/>
          </a:ln>
        </p:spPr>
      </p:sp>
      <p:sp>
        <p:nvSpPr>
          <p:cNvPr id="8" name="Shape 6"/>
          <p:cNvSpPr/>
          <p:nvPr/>
        </p:nvSpPr>
        <p:spPr>
          <a:xfrm>
            <a:off x="713232" y="2240280"/>
            <a:ext cx="384048" cy="384048"/>
          </a:xfrm>
          <a:prstGeom prst="ellipse">
            <a:avLst/>
          </a:prstGeom>
          <a:solidFill>
            <a:srgbClr val="7C3CFF"/>
          </a:solidFill>
          <a:ln w="12700">
            <a:solidFill>
              <a:srgbClr val="7C3CFF"/>
            </a:solidFill>
            <a:prstDash val="solid"/>
          </a:ln>
        </p:spPr>
      </p:sp>
      <p:sp>
        <p:nvSpPr>
          <p:cNvPr id="9" name="Text 7"/>
          <p:cNvSpPr txBox="1"/>
          <p:nvPr/>
        </p:nvSpPr>
        <p:spPr>
          <a:xfrm>
            <a:off x="713232" y="22402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0" name="Text 8"/>
          <p:cNvSpPr txBox="1"/>
          <p:nvPr/>
        </p:nvSpPr>
        <p:spPr>
          <a:xfrm>
            <a:off x="1280160" y="2075688"/>
            <a:ext cx="7132320" cy="713232"/>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Walk you through the </a:t>
            </a:r>
            <a:pPr indent="0" marL="0">
              <a:buNone/>
            </a:pPr>
            <a:r>
              <a:rPr lang="en-US" sz="1800" b="1" dirty="0">
                <a:solidFill>
                  <a:srgbClr val="B79CFF"/>
                </a:solidFill>
                <a:latin typeface="Arial" pitchFamily="34" charset="0"/>
                <a:ea typeface="Arial" pitchFamily="34" charset="-122"/>
                <a:cs typeface="Arial" pitchFamily="34" charset="-120"/>
              </a:rPr>
              <a:t>5 steps</a:t>
            </a:r>
            <a:pPr indent="0" marL="0">
              <a:buNone/>
            </a:pPr>
            <a:r>
              <a:rPr lang="en-US" sz="1800" dirty="0">
                <a:solidFill>
                  <a:srgbClr val="FFFFFF"/>
                </a:solidFill>
                <a:latin typeface="Arial" pitchFamily="34" charset="0"/>
                <a:ea typeface="Arial" pitchFamily="34" charset="-122"/>
                <a:cs typeface="Arial" pitchFamily="34" charset="-120"/>
              </a:rPr>
              <a:t> we use to turn ads into enrolments</a:t>
            </a:r>
            <a:endParaRPr lang="en-US" sz="1800" dirty="0"/>
          </a:p>
        </p:txBody>
      </p:sp>
      <p:sp>
        <p:nvSpPr>
          <p:cNvPr id="11" name="Shape 9"/>
          <p:cNvSpPr/>
          <p:nvPr/>
        </p:nvSpPr>
        <p:spPr>
          <a:xfrm>
            <a:off x="548640" y="2916936"/>
            <a:ext cx="8046720" cy="713232"/>
          </a:xfrm>
          <a:prstGeom prst="roundRect">
            <a:avLst>
              <a:gd name="adj" fmla="val 15385"/>
            </a:avLst>
          </a:prstGeom>
          <a:solidFill>
            <a:srgbClr val="17131F"/>
          </a:solidFill>
          <a:ln w="12700">
            <a:solidFill>
              <a:srgbClr val="2C2344"/>
            </a:solidFill>
            <a:prstDash val="solid"/>
          </a:ln>
        </p:spPr>
      </p:sp>
      <p:sp>
        <p:nvSpPr>
          <p:cNvPr id="12" name="Shape 10"/>
          <p:cNvSpPr/>
          <p:nvPr/>
        </p:nvSpPr>
        <p:spPr>
          <a:xfrm>
            <a:off x="713232" y="3081528"/>
            <a:ext cx="384048" cy="384048"/>
          </a:xfrm>
          <a:prstGeom prst="ellipse">
            <a:avLst/>
          </a:prstGeom>
          <a:solidFill>
            <a:srgbClr val="7C3CFF"/>
          </a:solidFill>
          <a:ln w="12700">
            <a:solidFill>
              <a:srgbClr val="7C3CFF"/>
            </a:solidFill>
            <a:prstDash val="solid"/>
          </a:ln>
        </p:spPr>
      </p:sp>
      <p:sp>
        <p:nvSpPr>
          <p:cNvPr id="13" name="Text 11"/>
          <p:cNvSpPr txBox="1"/>
          <p:nvPr/>
        </p:nvSpPr>
        <p:spPr>
          <a:xfrm>
            <a:off x="713232" y="308152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4" name="Text 12"/>
          <p:cNvSpPr txBox="1"/>
          <p:nvPr/>
        </p:nvSpPr>
        <p:spPr>
          <a:xfrm>
            <a:off x="1280160" y="2916936"/>
            <a:ext cx="7132320" cy="713232"/>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Show you how to </a:t>
            </a:r>
            <a:pPr indent="0" marL="0">
              <a:buNone/>
            </a:pPr>
            <a:r>
              <a:rPr lang="en-US" sz="1800" b="1" dirty="0">
                <a:solidFill>
                  <a:srgbClr val="B79CFF"/>
                </a:solidFill>
                <a:latin typeface="Arial" pitchFamily="34" charset="0"/>
                <a:ea typeface="Arial" pitchFamily="34" charset="-122"/>
                <a:cs typeface="Arial" pitchFamily="34" charset="-120"/>
              </a:rPr>
              <a:t>automate</a:t>
            </a:r>
            <a:pPr indent="0" marL="0">
              <a:buNone/>
            </a:pPr>
            <a:r>
              <a:rPr lang="en-US" sz="1800" dirty="0">
                <a:solidFill>
                  <a:srgbClr val="FFFFFF"/>
                </a:solidFill>
                <a:latin typeface="Arial" pitchFamily="34" charset="0"/>
                <a:ea typeface="Arial" pitchFamily="34" charset="-122"/>
                <a:cs typeface="Arial" pitchFamily="34" charset="-120"/>
              </a:rPr>
              <a:t> it, so you can focus on your students</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548640" y="457200"/>
            <a:ext cx="3200400" cy="3200400"/>
          </a:xfrm>
          <a:prstGeom prst="rect">
            <a:avLst/>
          </a:prstGeom>
        </p:spPr>
      </p:pic>
      <p:sp>
        <p:nvSpPr>
          <p:cNvPr id="3" name="Text 0"/>
          <p:cNvSpPr txBox="1"/>
          <p:nvPr/>
        </p:nvSpPr>
        <p:spPr>
          <a:xfrm>
            <a:off x="4114800" y="457200"/>
            <a:ext cx="4572000" cy="64008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Hey, I'm </a:t>
            </a:r>
            <a:pPr indent="0" marL="0">
              <a:buNone/>
            </a:pPr>
            <a:r>
              <a:rPr lang="en-US" sz="2800" b="1" dirty="0">
                <a:solidFill>
                  <a:srgbClr val="B79CFF"/>
                </a:solidFill>
                <a:latin typeface="Arial" pitchFamily="34" charset="0"/>
                <a:ea typeface="Arial" pitchFamily="34" charset="-122"/>
                <a:cs typeface="Arial" pitchFamily="34" charset="-120"/>
              </a:rPr>
              <a:t>Viktorija</a:t>
            </a:r>
            <a:pPr indent="0" marL="0">
              <a:buNone/>
            </a:pPr>
            <a:r>
              <a:rPr lang="en-US" sz="2800" b="1" dirty="0">
                <a:solidFill>
                  <a:srgbClr val="FFFFFF"/>
                </a:solidFill>
                <a:latin typeface="Arial" pitchFamily="34" charset="0"/>
                <a:ea typeface="Arial" pitchFamily="34" charset="-122"/>
                <a:cs typeface="Arial" pitchFamily="34" charset="-120"/>
              </a:rPr>
              <a:t> 👋</a:t>
            </a:r>
            <a:endParaRPr lang="en-US" sz="2800" dirty="0"/>
          </a:p>
        </p:txBody>
      </p:sp>
      <p:sp>
        <p:nvSpPr>
          <p:cNvPr id="4" name="Text 1"/>
          <p:cNvSpPr txBox="1"/>
          <p:nvPr/>
        </p:nvSpPr>
        <p:spPr>
          <a:xfrm>
            <a:off x="4114800" y="1234440"/>
            <a:ext cx="4572000" cy="25603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FFFFFF"/>
                </a:solidFill>
                <a:latin typeface="Arial" pitchFamily="34" charset="0"/>
                <a:ea typeface="Arial" pitchFamily="34" charset="-122"/>
                <a:cs typeface="Arial" pitchFamily="34" charset="-120"/>
              </a:rPr>
              <a:t>I co-run Pacow Media with Ema</a:t>
            </a:r>
            <a:endParaRPr lang="en-US" sz="1600" dirty="0"/>
          </a:p>
          <a:p>
            <a:pPr marL="342900" indent="-342900">
              <a:spcAft>
                <a:spcPts val="1000"/>
              </a:spcAft>
              <a:buSzPct val="100000"/>
              <a:buChar char="•"/>
            </a:pPr>
            <a:r>
              <a:rPr lang="en-US" sz="1600" dirty="0">
                <a:solidFill>
                  <a:srgbClr val="FFFFFF"/>
                </a:solidFill>
                <a:latin typeface="Arial" pitchFamily="34" charset="0"/>
                <a:ea typeface="Arial" pitchFamily="34" charset="-122"/>
                <a:cs typeface="Arial" pitchFamily="34" charset="-120"/>
              </a:rPr>
              <a:t>We build Facebook &amp; Instagram ad systems for education brands &amp; course creators</a:t>
            </a:r>
            <a:endParaRPr lang="en-US" sz="1600" dirty="0"/>
          </a:p>
          <a:p>
            <a:pPr marL="342900" indent="-342900">
              <a:spcAft>
                <a:spcPts val="1000"/>
              </a:spcAft>
              <a:buSzPct val="100000"/>
              <a:buChar char="•"/>
            </a:pPr>
            <a:r>
              <a:rPr lang="en-US" sz="1600" dirty="0">
                <a:solidFill>
                  <a:srgbClr val="FFFFFF"/>
                </a:solidFill>
                <a:latin typeface="Arial" pitchFamily="34" charset="0"/>
                <a:ea typeface="Arial" pitchFamily="34" charset="-122"/>
                <a:cs typeface="Arial" pitchFamily="34" charset="-120"/>
              </a:rPr>
              <a:t>35+ education brands trust us, from tutoring to test prep to online schools</a:t>
            </a:r>
            <a:endParaRPr lang="en-US" sz="1600" dirty="0"/>
          </a:p>
          <a:p>
            <a:pPr marL="342900" indent="-342900">
              <a:spcAft>
                <a:spcPts val="1000"/>
              </a:spcAft>
              <a:buSzPct val="100000"/>
              <a:buChar char="•"/>
            </a:pPr>
            <a:r>
              <a:rPr lang="en-US" sz="1600" dirty="0">
                <a:solidFill>
                  <a:srgbClr val="FFFFFF"/>
                </a:solidFill>
                <a:latin typeface="Arial" pitchFamily="34" charset="0"/>
                <a:ea typeface="Arial" pitchFamily="34" charset="-122"/>
                <a:cs typeface="Arial" pitchFamily="34" charset="-120"/>
              </a:rPr>
              <a:t>[Add a personal detail: where you're based, background, a fun fact]</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40080" y="1188720"/>
            <a:ext cx="7863840" cy="1737360"/>
          </a:xfrm>
          <a:prstGeom prst="rect">
            <a:avLst/>
          </a:prstGeom>
          <a:noFill/>
          <a:ln/>
        </p:spPr>
        <p:txBody>
          <a:bodyPr wrap="square" lIns="0" tIns="0" rIns="0" bIns="0" rtlCol="0" anchor="t"/>
          <a:lstStyle/>
          <a:p>
            <a:pPr algn="ctr" indent="0" marL="0">
              <a:buNone/>
            </a:pPr>
            <a:r>
              <a:rPr lang="en-US" sz="3800" b="1" dirty="0">
                <a:solidFill>
                  <a:srgbClr val="FFFFFF"/>
                </a:solidFill>
                <a:latin typeface="Arial" pitchFamily="34" charset="0"/>
                <a:ea typeface="Arial" pitchFamily="34" charset="-122"/>
                <a:cs typeface="Arial" pitchFamily="34" charset="-120"/>
              </a:rPr>
              <a:t>And it works…</a:t>
            </a:r>
            <a:endParaRPr lang="en-US" sz="3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65760"/>
            <a:ext cx="80467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The results so far…</a:t>
            </a:r>
            <a:endParaRPr lang="en-US" sz="3000" dirty="0"/>
          </a:p>
        </p:txBody>
      </p:sp>
      <p:sp>
        <p:nvSpPr>
          <p:cNvPr id="3" name="Shape 1"/>
          <p:cNvSpPr/>
          <p:nvPr/>
        </p:nvSpPr>
        <p:spPr>
          <a:xfrm>
            <a:off x="548640" y="1371600"/>
            <a:ext cx="1805940" cy="2194560"/>
          </a:xfrm>
          <a:prstGeom prst="roundRect">
            <a:avLst>
              <a:gd name="adj" fmla="val 6076"/>
            </a:avLst>
          </a:prstGeom>
          <a:solidFill>
            <a:srgbClr val="17131F"/>
          </a:solidFill>
          <a:ln w="12700">
            <a:solidFill>
              <a:srgbClr val="2C2344"/>
            </a:solidFill>
            <a:prstDash val="solid"/>
          </a:ln>
        </p:spPr>
      </p:sp>
      <p:sp>
        <p:nvSpPr>
          <p:cNvPr id="4" name="Text 2"/>
          <p:cNvSpPr txBox="1"/>
          <p:nvPr/>
        </p:nvSpPr>
        <p:spPr>
          <a:xfrm>
            <a:off x="548640" y="1645920"/>
            <a:ext cx="1805940" cy="914400"/>
          </a:xfrm>
          <a:prstGeom prst="rect">
            <a:avLst/>
          </a:prstGeom>
          <a:noFill/>
          <a:ln/>
        </p:spPr>
        <p:txBody>
          <a:bodyPr wrap="square" lIns="0" tIns="0" rIns="0" bIns="0" rtlCol="0" anchor="ctr"/>
          <a:lstStyle/>
          <a:p>
            <a:pPr algn="ctr" indent="0" marL="0">
              <a:buNone/>
            </a:pPr>
            <a:r>
              <a:rPr lang="en-US" sz="4000" b="1" dirty="0">
                <a:solidFill>
                  <a:srgbClr val="B79CFF"/>
                </a:solidFill>
                <a:latin typeface="Arial" pitchFamily="34" charset="0"/>
                <a:ea typeface="Arial" pitchFamily="34" charset="-122"/>
                <a:cs typeface="Arial" pitchFamily="34" charset="-120"/>
              </a:rPr>
              <a:t>$5M+</a:t>
            </a:r>
            <a:endParaRPr lang="en-US" sz="4000" dirty="0"/>
          </a:p>
        </p:txBody>
      </p:sp>
      <p:sp>
        <p:nvSpPr>
          <p:cNvPr id="5" name="Text 3"/>
          <p:cNvSpPr txBox="1"/>
          <p:nvPr/>
        </p:nvSpPr>
        <p:spPr>
          <a:xfrm>
            <a:off x="685800" y="2606040"/>
            <a:ext cx="1531620" cy="731520"/>
          </a:xfrm>
          <a:prstGeom prst="rect">
            <a:avLst/>
          </a:prstGeom>
          <a:noFill/>
          <a:ln/>
        </p:spPr>
        <p:txBody>
          <a:bodyPr wrap="square" lIns="0" tIns="0" rIns="0" bIns="0" rtlCol="0" anchor="t"/>
          <a:lstStyle/>
          <a:p>
            <a:pPr algn="ctr" indent="0" marL="0">
              <a:buNone/>
            </a:pPr>
            <a:r>
              <a:rPr lang="en-US" sz="1400" dirty="0">
                <a:solidFill>
                  <a:srgbClr val="FFFFFF"/>
                </a:solidFill>
                <a:latin typeface="Arial" pitchFamily="34" charset="0"/>
                <a:ea typeface="Arial" pitchFamily="34" charset="-122"/>
                <a:cs typeface="Arial" pitchFamily="34" charset="-120"/>
              </a:rPr>
              <a:t>in client revenue generated</a:t>
            </a:r>
            <a:endParaRPr lang="en-US" sz="1400" dirty="0"/>
          </a:p>
        </p:txBody>
      </p:sp>
      <p:sp>
        <p:nvSpPr>
          <p:cNvPr id="6" name="Shape 4"/>
          <p:cNvSpPr/>
          <p:nvPr/>
        </p:nvSpPr>
        <p:spPr>
          <a:xfrm>
            <a:off x="2628900" y="1371600"/>
            <a:ext cx="1805940" cy="2194560"/>
          </a:xfrm>
          <a:prstGeom prst="roundRect">
            <a:avLst>
              <a:gd name="adj" fmla="val 6076"/>
            </a:avLst>
          </a:prstGeom>
          <a:solidFill>
            <a:srgbClr val="17131F"/>
          </a:solidFill>
          <a:ln w="12700">
            <a:solidFill>
              <a:srgbClr val="2C2344"/>
            </a:solidFill>
            <a:prstDash val="solid"/>
          </a:ln>
        </p:spPr>
      </p:sp>
      <p:sp>
        <p:nvSpPr>
          <p:cNvPr id="7" name="Text 5"/>
          <p:cNvSpPr txBox="1"/>
          <p:nvPr/>
        </p:nvSpPr>
        <p:spPr>
          <a:xfrm>
            <a:off x="2628900" y="1645920"/>
            <a:ext cx="1805940" cy="914400"/>
          </a:xfrm>
          <a:prstGeom prst="rect">
            <a:avLst/>
          </a:prstGeom>
          <a:noFill/>
          <a:ln/>
        </p:spPr>
        <p:txBody>
          <a:bodyPr wrap="square" lIns="0" tIns="0" rIns="0" bIns="0" rtlCol="0" anchor="ctr"/>
          <a:lstStyle/>
          <a:p>
            <a:pPr algn="ctr" indent="0" marL="0">
              <a:buNone/>
            </a:pPr>
            <a:r>
              <a:rPr lang="en-US" sz="4000" b="1" dirty="0">
                <a:solidFill>
                  <a:srgbClr val="B79CFF"/>
                </a:solidFill>
                <a:latin typeface="Arial" pitchFamily="34" charset="0"/>
                <a:ea typeface="Arial" pitchFamily="34" charset="-122"/>
                <a:cs typeface="Arial" pitchFamily="34" charset="-120"/>
              </a:rPr>
              <a:t>4–7x</a:t>
            </a:r>
            <a:endParaRPr lang="en-US" sz="4000" dirty="0"/>
          </a:p>
        </p:txBody>
      </p:sp>
      <p:sp>
        <p:nvSpPr>
          <p:cNvPr id="8" name="Text 6"/>
          <p:cNvSpPr txBox="1"/>
          <p:nvPr/>
        </p:nvSpPr>
        <p:spPr>
          <a:xfrm>
            <a:off x="2766060" y="2606040"/>
            <a:ext cx="1531620" cy="731520"/>
          </a:xfrm>
          <a:prstGeom prst="rect">
            <a:avLst/>
          </a:prstGeom>
          <a:noFill/>
          <a:ln/>
        </p:spPr>
        <p:txBody>
          <a:bodyPr wrap="square" lIns="0" tIns="0" rIns="0" bIns="0" rtlCol="0" anchor="t"/>
          <a:lstStyle/>
          <a:p>
            <a:pPr algn="ctr" indent="0" marL="0">
              <a:buNone/>
            </a:pPr>
            <a:r>
              <a:rPr lang="en-US" sz="1400" dirty="0">
                <a:solidFill>
                  <a:srgbClr val="FFFFFF"/>
                </a:solidFill>
                <a:latin typeface="Arial" pitchFamily="34" charset="0"/>
                <a:ea typeface="Arial" pitchFamily="34" charset="-122"/>
                <a:cs typeface="Arial" pitchFamily="34" charset="-120"/>
              </a:rPr>
              <a:t>average return on ad spend</a:t>
            </a:r>
            <a:endParaRPr lang="en-US" sz="1400" dirty="0"/>
          </a:p>
        </p:txBody>
      </p:sp>
      <p:sp>
        <p:nvSpPr>
          <p:cNvPr id="9" name="Shape 7"/>
          <p:cNvSpPr/>
          <p:nvPr/>
        </p:nvSpPr>
        <p:spPr>
          <a:xfrm>
            <a:off x="4709160" y="1371600"/>
            <a:ext cx="1805940" cy="2194560"/>
          </a:xfrm>
          <a:prstGeom prst="roundRect">
            <a:avLst>
              <a:gd name="adj" fmla="val 6076"/>
            </a:avLst>
          </a:prstGeom>
          <a:solidFill>
            <a:srgbClr val="17131F"/>
          </a:solidFill>
          <a:ln w="12700">
            <a:solidFill>
              <a:srgbClr val="2C2344"/>
            </a:solidFill>
            <a:prstDash val="solid"/>
          </a:ln>
        </p:spPr>
      </p:sp>
      <p:sp>
        <p:nvSpPr>
          <p:cNvPr id="10" name="Text 8"/>
          <p:cNvSpPr txBox="1"/>
          <p:nvPr/>
        </p:nvSpPr>
        <p:spPr>
          <a:xfrm>
            <a:off x="4709160" y="1645920"/>
            <a:ext cx="1805940" cy="914400"/>
          </a:xfrm>
          <a:prstGeom prst="rect">
            <a:avLst/>
          </a:prstGeom>
          <a:noFill/>
          <a:ln/>
        </p:spPr>
        <p:txBody>
          <a:bodyPr wrap="square" lIns="0" tIns="0" rIns="0" bIns="0" rtlCol="0" anchor="ctr"/>
          <a:lstStyle/>
          <a:p>
            <a:pPr algn="ctr" indent="0" marL="0">
              <a:buNone/>
            </a:pPr>
            <a:r>
              <a:rPr lang="en-US" sz="4000" b="1" dirty="0">
                <a:solidFill>
                  <a:srgbClr val="B79CFF"/>
                </a:solidFill>
                <a:latin typeface="Arial" pitchFamily="34" charset="0"/>
                <a:ea typeface="Arial" pitchFamily="34" charset="-122"/>
                <a:cs typeface="Arial" pitchFamily="34" charset="-120"/>
              </a:rPr>
              <a:t>35+</a:t>
            </a:r>
            <a:endParaRPr lang="en-US" sz="4000" dirty="0"/>
          </a:p>
        </p:txBody>
      </p:sp>
      <p:sp>
        <p:nvSpPr>
          <p:cNvPr id="11" name="Text 9"/>
          <p:cNvSpPr txBox="1"/>
          <p:nvPr/>
        </p:nvSpPr>
        <p:spPr>
          <a:xfrm>
            <a:off x="4846320" y="2606040"/>
            <a:ext cx="1531620" cy="731520"/>
          </a:xfrm>
          <a:prstGeom prst="rect">
            <a:avLst/>
          </a:prstGeom>
          <a:noFill/>
          <a:ln/>
        </p:spPr>
        <p:txBody>
          <a:bodyPr wrap="square" lIns="0" tIns="0" rIns="0" bIns="0" rtlCol="0" anchor="t"/>
          <a:lstStyle/>
          <a:p>
            <a:pPr algn="ctr" indent="0" marL="0">
              <a:buNone/>
            </a:pPr>
            <a:r>
              <a:rPr lang="en-US" sz="1400" dirty="0">
                <a:solidFill>
                  <a:srgbClr val="FFFFFF"/>
                </a:solidFill>
                <a:latin typeface="Arial" pitchFamily="34" charset="0"/>
                <a:ea typeface="Arial" pitchFamily="34" charset="-122"/>
                <a:cs typeface="Arial" pitchFamily="34" charset="-120"/>
              </a:rPr>
              <a:t>education brands</a:t>
            </a:r>
            <a:endParaRPr lang="en-US" sz="1400" dirty="0"/>
          </a:p>
        </p:txBody>
      </p:sp>
      <p:sp>
        <p:nvSpPr>
          <p:cNvPr id="12" name="Shape 10"/>
          <p:cNvSpPr/>
          <p:nvPr/>
        </p:nvSpPr>
        <p:spPr>
          <a:xfrm>
            <a:off x="6789420" y="1371600"/>
            <a:ext cx="1805940" cy="2194560"/>
          </a:xfrm>
          <a:prstGeom prst="roundRect">
            <a:avLst>
              <a:gd name="adj" fmla="val 6076"/>
            </a:avLst>
          </a:prstGeom>
          <a:solidFill>
            <a:srgbClr val="17131F"/>
          </a:solidFill>
          <a:ln w="12700">
            <a:solidFill>
              <a:srgbClr val="2C2344"/>
            </a:solidFill>
            <a:prstDash val="solid"/>
          </a:ln>
        </p:spPr>
      </p:sp>
      <p:sp>
        <p:nvSpPr>
          <p:cNvPr id="13" name="Text 11"/>
          <p:cNvSpPr txBox="1"/>
          <p:nvPr/>
        </p:nvSpPr>
        <p:spPr>
          <a:xfrm>
            <a:off x="6789420" y="1645920"/>
            <a:ext cx="1805940" cy="914400"/>
          </a:xfrm>
          <a:prstGeom prst="rect">
            <a:avLst/>
          </a:prstGeom>
          <a:noFill/>
          <a:ln/>
        </p:spPr>
        <p:txBody>
          <a:bodyPr wrap="square" lIns="0" tIns="0" rIns="0" bIns="0" rtlCol="0" anchor="ctr"/>
          <a:lstStyle/>
          <a:p>
            <a:pPr algn="ctr" indent="0" marL="0">
              <a:buNone/>
            </a:pPr>
            <a:r>
              <a:rPr lang="en-US" sz="4000" b="1" dirty="0">
                <a:solidFill>
                  <a:srgbClr val="B79CFF"/>
                </a:solidFill>
                <a:latin typeface="Arial" pitchFamily="34" charset="0"/>
                <a:ea typeface="Arial" pitchFamily="34" charset="-122"/>
                <a:cs typeface="Arial" pitchFamily="34" charset="-120"/>
              </a:rPr>
              <a:t>98%</a:t>
            </a:r>
            <a:endParaRPr lang="en-US" sz="4000" dirty="0"/>
          </a:p>
        </p:txBody>
      </p:sp>
      <p:sp>
        <p:nvSpPr>
          <p:cNvPr id="14" name="Text 12"/>
          <p:cNvSpPr txBox="1"/>
          <p:nvPr/>
        </p:nvSpPr>
        <p:spPr>
          <a:xfrm>
            <a:off x="6926580" y="2606040"/>
            <a:ext cx="1531620" cy="731520"/>
          </a:xfrm>
          <a:prstGeom prst="rect">
            <a:avLst/>
          </a:prstGeom>
          <a:noFill/>
          <a:ln/>
        </p:spPr>
        <p:txBody>
          <a:bodyPr wrap="square" lIns="0" tIns="0" rIns="0" bIns="0" rtlCol="0" anchor="t"/>
          <a:lstStyle/>
          <a:p>
            <a:pPr algn="ctr" indent="0" marL="0">
              <a:buNone/>
            </a:pPr>
            <a:r>
              <a:rPr lang="en-US" sz="1400" dirty="0">
                <a:solidFill>
                  <a:srgbClr val="FFFFFF"/>
                </a:solidFill>
                <a:latin typeface="Arial" pitchFamily="34" charset="0"/>
                <a:ea typeface="Arial" pitchFamily="34" charset="-122"/>
                <a:cs typeface="Arial" pitchFamily="34" charset="-120"/>
              </a:rPr>
              <a:t>client satisfaction</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65760"/>
            <a:ext cx="80467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What our clients are seeing</a:t>
            </a:r>
            <a:endParaRPr lang="en-US" sz="3000" dirty="0"/>
          </a:p>
        </p:txBody>
      </p:sp>
      <p:sp>
        <p:nvSpPr>
          <p:cNvPr id="3" name="Shape 1"/>
          <p:cNvSpPr/>
          <p:nvPr/>
        </p:nvSpPr>
        <p:spPr>
          <a:xfrm>
            <a:off x="548640" y="1188720"/>
            <a:ext cx="2529840" cy="1325880"/>
          </a:xfrm>
          <a:prstGeom prst="roundRect">
            <a:avLst>
              <a:gd name="adj" fmla="val 8276"/>
            </a:avLst>
          </a:prstGeom>
          <a:solidFill>
            <a:srgbClr val="17131F"/>
          </a:solidFill>
          <a:ln w="12700">
            <a:solidFill>
              <a:srgbClr val="2C2344"/>
            </a:solidFill>
            <a:prstDash val="solid"/>
          </a:ln>
        </p:spPr>
      </p:sp>
      <p:sp>
        <p:nvSpPr>
          <p:cNvPr id="4" name="Text 2"/>
          <p:cNvSpPr txBox="1"/>
          <p:nvPr/>
        </p:nvSpPr>
        <p:spPr>
          <a:xfrm>
            <a:off x="731520" y="1298448"/>
            <a:ext cx="2164080" cy="502920"/>
          </a:xfrm>
          <a:prstGeom prst="rect">
            <a:avLst/>
          </a:prstGeom>
          <a:noFill/>
          <a:ln/>
        </p:spPr>
        <p:txBody>
          <a:bodyPr wrap="square" lIns="0" tIns="0" rIns="0" bIns="0" rtlCol="0" anchor="ctr"/>
          <a:lstStyle/>
          <a:p>
            <a:pPr indent="0" marL="0">
              <a:buNone/>
            </a:pPr>
            <a:r>
              <a:rPr lang="en-US" sz="2400" b="1" dirty="0">
                <a:solidFill>
                  <a:srgbClr val="B79CFF"/>
                </a:solidFill>
                <a:latin typeface="Arial" pitchFamily="34" charset="0"/>
                <a:ea typeface="Arial" pitchFamily="34" charset="-122"/>
                <a:cs typeface="Arial" pitchFamily="34" charset="-120"/>
              </a:rPr>
              <a:t>$250,000</a:t>
            </a:r>
            <a:endParaRPr lang="en-US" sz="2400" dirty="0"/>
          </a:p>
        </p:txBody>
      </p:sp>
      <p:sp>
        <p:nvSpPr>
          <p:cNvPr id="5" name="Text 3"/>
          <p:cNvSpPr txBox="1"/>
          <p:nvPr/>
        </p:nvSpPr>
        <p:spPr>
          <a:xfrm>
            <a:off x="731520" y="1792224"/>
            <a:ext cx="2164080" cy="3200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added in 60 days</a:t>
            </a:r>
            <a:endParaRPr lang="en-US" sz="1300" dirty="0"/>
          </a:p>
        </p:txBody>
      </p:sp>
      <p:sp>
        <p:nvSpPr>
          <p:cNvPr id="6" name="Text 4"/>
          <p:cNvSpPr txBox="1"/>
          <p:nvPr/>
        </p:nvSpPr>
        <p:spPr>
          <a:xfrm>
            <a:off x="731520" y="2121408"/>
            <a:ext cx="2164080" cy="274320"/>
          </a:xfrm>
          <a:prstGeom prst="rect">
            <a:avLst/>
          </a:prstGeom>
          <a:noFill/>
          <a:ln/>
        </p:spPr>
        <p:txBody>
          <a:bodyPr wrap="square" lIns="0" tIns="0" rIns="0" bIns="0" rtlCol="0" anchor="ctr"/>
          <a:lstStyle/>
          <a:p>
            <a:pPr indent="0" marL="0">
              <a:buNone/>
            </a:pPr>
            <a:r>
              <a:rPr lang="en-US" sz="1050" dirty="0">
                <a:solidFill>
                  <a:srgbClr val="A6A1B5"/>
                </a:solidFill>
                <a:latin typeface="Arial" pitchFamily="34" charset="0"/>
                <a:ea typeface="Arial" pitchFamily="34" charset="-122"/>
                <a:cs typeface="Arial" pitchFamily="34" charset="-120"/>
              </a:rPr>
              <a:t>Sarah Mack · SeoulQuest</a:t>
            </a:r>
            <a:endParaRPr lang="en-US" sz="1050" dirty="0"/>
          </a:p>
        </p:txBody>
      </p:sp>
      <p:sp>
        <p:nvSpPr>
          <p:cNvPr id="7" name="Shape 5"/>
          <p:cNvSpPr/>
          <p:nvPr/>
        </p:nvSpPr>
        <p:spPr>
          <a:xfrm>
            <a:off x="3307080" y="1188720"/>
            <a:ext cx="2529840" cy="1325880"/>
          </a:xfrm>
          <a:prstGeom prst="roundRect">
            <a:avLst>
              <a:gd name="adj" fmla="val 8276"/>
            </a:avLst>
          </a:prstGeom>
          <a:solidFill>
            <a:srgbClr val="17131F"/>
          </a:solidFill>
          <a:ln w="12700">
            <a:solidFill>
              <a:srgbClr val="2C2344"/>
            </a:solidFill>
            <a:prstDash val="solid"/>
          </a:ln>
        </p:spPr>
      </p:sp>
      <p:sp>
        <p:nvSpPr>
          <p:cNvPr id="8" name="Text 6"/>
          <p:cNvSpPr txBox="1"/>
          <p:nvPr/>
        </p:nvSpPr>
        <p:spPr>
          <a:xfrm>
            <a:off x="3489960" y="1298448"/>
            <a:ext cx="2164080" cy="502920"/>
          </a:xfrm>
          <a:prstGeom prst="rect">
            <a:avLst/>
          </a:prstGeom>
          <a:noFill/>
          <a:ln/>
        </p:spPr>
        <p:txBody>
          <a:bodyPr wrap="square" lIns="0" tIns="0" rIns="0" bIns="0" rtlCol="0" anchor="ctr"/>
          <a:lstStyle/>
          <a:p>
            <a:pPr indent="0" marL="0">
              <a:buNone/>
            </a:pPr>
            <a:r>
              <a:rPr lang="en-US" sz="2400" b="1" dirty="0">
                <a:solidFill>
                  <a:srgbClr val="B79CFF"/>
                </a:solidFill>
                <a:latin typeface="Arial" pitchFamily="34" charset="0"/>
                <a:ea typeface="Arial" pitchFamily="34" charset="-122"/>
                <a:cs typeface="Arial" pitchFamily="34" charset="-120"/>
              </a:rPr>
              <a:t>$71,000</a:t>
            </a:r>
            <a:endParaRPr lang="en-US" sz="2400" dirty="0"/>
          </a:p>
        </p:txBody>
      </p:sp>
      <p:sp>
        <p:nvSpPr>
          <p:cNvPr id="9" name="Text 7"/>
          <p:cNvSpPr txBox="1"/>
          <p:nvPr/>
        </p:nvSpPr>
        <p:spPr>
          <a:xfrm>
            <a:off x="3489960" y="1792224"/>
            <a:ext cx="2164080" cy="3200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added from a $4K budget</a:t>
            </a:r>
            <a:endParaRPr lang="en-US" sz="1300" dirty="0"/>
          </a:p>
        </p:txBody>
      </p:sp>
      <p:sp>
        <p:nvSpPr>
          <p:cNvPr id="10" name="Text 8"/>
          <p:cNvSpPr txBox="1"/>
          <p:nvPr/>
        </p:nvSpPr>
        <p:spPr>
          <a:xfrm>
            <a:off x="3489960" y="2121408"/>
            <a:ext cx="2164080" cy="274320"/>
          </a:xfrm>
          <a:prstGeom prst="rect">
            <a:avLst/>
          </a:prstGeom>
          <a:noFill/>
          <a:ln/>
        </p:spPr>
        <p:txBody>
          <a:bodyPr wrap="square" lIns="0" tIns="0" rIns="0" bIns="0" rtlCol="0" anchor="ctr"/>
          <a:lstStyle/>
          <a:p>
            <a:pPr indent="0" marL="0">
              <a:buNone/>
            </a:pPr>
            <a:r>
              <a:rPr lang="en-US" sz="1050" dirty="0">
                <a:solidFill>
                  <a:srgbClr val="A6A1B5"/>
                </a:solidFill>
                <a:latin typeface="Arial" pitchFamily="34" charset="0"/>
                <a:ea typeface="Arial" pitchFamily="34" charset="-122"/>
                <a:cs typeface="Arial" pitchFamily="34" charset="-120"/>
              </a:rPr>
              <a:t>Julian Millidge · Englisher</a:t>
            </a:r>
            <a:endParaRPr lang="en-US" sz="1050" dirty="0"/>
          </a:p>
        </p:txBody>
      </p:sp>
      <p:sp>
        <p:nvSpPr>
          <p:cNvPr id="11" name="Shape 9"/>
          <p:cNvSpPr/>
          <p:nvPr/>
        </p:nvSpPr>
        <p:spPr>
          <a:xfrm>
            <a:off x="6065520" y="1188720"/>
            <a:ext cx="2529840" cy="1325880"/>
          </a:xfrm>
          <a:prstGeom prst="roundRect">
            <a:avLst>
              <a:gd name="adj" fmla="val 8276"/>
            </a:avLst>
          </a:prstGeom>
          <a:solidFill>
            <a:srgbClr val="17131F"/>
          </a:solidFill>
          <a:ln w="12700">
            <a:solidFill>
              <a:srgbClr val="2C2344"/>
            </a:solidFill>
            <a:prstDash val="solid"/>
          </a:ln>
        </p:spPr>
      </p:sp>
      <p:sp>
        <p:nvSpPr>
          <p:cNvPr id="12" name="Text 10"/>
          <p:cNvSpPr txBox="1"/>
          <p:nvPr/>
        </p:nvSpPr>
        <p:spPr>
          <a:xfrm>
            <a:off x="6248400" y="1298448"/>
            <a:ext cx="2164080" cy="502920"/>
          </a:xfrm>
          <a:prstGeom prst="rect">
            <a:avLst/>
          </a:prstGeom>
          <a:noFill/>
          <a:ln/>
        </p:spPr>
        <p:txBody>
          <a:bodyPr wrap="square" lIns="0" tIns="0" rIns="0" bIns="0" rtlCol="0" anchor="ctr"/>
          <a:lstStyle/>
          <a:p>
            <a:pPr indent="0" marL="0">
              <a:buNone/>
            </a:pPr>
            <a:r>
              <a:rPr lang="en-US" sz="2400" b="1" dirty="0">
                <a:solidFill>
                  <a:srgbClr val="B79CFF"/>
                </a:solidFill>
                <a:latin typeface="Arial" pitchFamily="34" charset="0"/>
                <a:ea typeface="Arial" pitchFamily="34" charset="-122"/>
                <a:cs typeface="Arial" pitchFamily="34" charset="-120"/>
              </a:rPr>
              <a:t>$170,000</a:t>
            </a:r>
            <a:endParaRPr lang="en-US" sz="2400" dirty="0"/>
          </a:p>
        </p:txBody>
      </p:sp>
      <p:sp>
        <p:nvSpPr>
          <p:cNvPr id="13" name="Text 11"/>
          <p:cNvSpPr txBox="1"/>
          <p:nvPr/>
        </p:nvSpPr>
        <p:spPr>
          <a:xfrm>
            <a:off x="6248400" y="1792224"/>
            <a:ext cx="2164080" cy="3200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added in 3 months</a:t>
            </a:r>
            <a:endParaRPr lang="en-US" sz="1300" dirty="0"/>
          </a:p>
        </p:txBody>
      </p:sp>
      <p:sp>
        <p:nvSpPr>
          <p:cNvPr id="14" name="Text 12"/>
          <p:cNvSpPr txBox="1"/>
          <p:nvPr/>
        </p:nvSpPr>
        <p:spPr>
          <a:xfrm>
            <a:off x="6248400" y="2121408"/>
            <a:ext cx="2164080" cy="274320"/>
          </a:xfrm>
          <a:prstGeom prst="rect">
            <a:avLst/>
          </a:prstGeom>
          <a:noFill/>
          <a:ln/>
        </p:spPr>
        <p:txBody>
          <a:bodyPr wrap="square" lIns="0" tIns="0" rIns="0" bIns="0" rtlCol="0" anchor="ctr"/>
          <a:lstStyle/>
          <a:p>
            <a:pPr indent="0" marL="0">
              <a:buNone/>
            </a:pPr>
            <a:r>
              <a:rPr lang="en-US" sz="1050" dirty="0">
                <a:solidFill>
                  <a:srgbClr val="A6A1B5"/>
                </a:solidFill>
                <a:latin typeface="Arial" pitchFamily="34" charset="0"/>
                <a:ea typeface="Arial" pitchFamily="34" charset="-122"/>
                <a:cs typeface="Arial" pitchFamily="34" charset="-120"/>
              </a:rPr>
              <a:t>Alex Willson · Lingua Verna</a:t>
            </a:r>
            <a:endParaRPr lang="en-US" sz="1050" dirty="0"/>
          </a:p>
        </p:txBody>
      </p:sp>
      <p:sp>
        <p:nvSpPr>
          <p:cNvPr id="15" name="Shape 13"/>
          <p:cNvSpPr/>
          <p:nvPr/>
        </p:nvSpPr>
        <p:spPr>
          <a:xfrm>
            <a:off x="548640" y="2697480"/>
            <a:ext cx="2529840" cy="1325880"/>
          </a:xfrm>
          <a:prstGeom prst="roundRect">
            <a:avLst>
              <a:gd name="adj" fmla="val 8276"/>
            </a:avLst>
          </a:prstGeom>
          <a:solidFill>
            <a:srgbClr val="17131F"/>
          </a:solidFill>
          <a:ln w="12700">
            <a:solidFill>
              <a:srgbClr val="2C2344"/>
            </a:solidFill>
            <a:prstDash val="solid"/>
          </a:ln>
        </p:spPr>
      </p:sp>
      <p:sp>
        <p:nvSpPr>
          <p:cNvPr id="16" name="Text 14"/>
          <p:cNvSpPr txBox="1"/>
          <p:nvPr/>
        </p:nvSpPr>
        <p:spPr>
          <a:xfrm>
            <a:off x="731520" y="2807208"/>
            <a:ext cx="2164080" cy="502920"/>
          </a:xfrm>
          <a:prstGeom prst="rect">
            <a:avLst/>
          </a:prstGeom>
          <a:noFill/>
          <a:ln/>
        </p:spPr>
        <p:txBody>
          <a:bodyPr wrap="square" lIns="0" tIns="0" rIns="0" bIns="0" rtlCol="0" anchor="ctr"/>
          <a:lstStyle/>
          <a:p>
            <a:pPr indent="0" marL="0">
              <a:buNone/>
            </a:pPr>
            <a:r>
              <a:rPr lang="en-US" sz="2400" b="1" dirty="0">
                <a:solidFill>
                  <a:srgbClr val="B79CFF"/>
                </a:solidFill>
                <a:latin typeface="Arial" pitchFamily="34" charset="0"/>
                <a:ea typeface="Arial" pitchFamily="34" charset="-122"/>
                <a:cs typeface="Arial" pitchFamily="34" charset="-120"/>
              </a:rPr>
              <a:t>17</a:t>
            </a:r>
            <a:endParaRPr lang="en-US" sz="2400" dirty="0"/>
          </a:p>
        </p:txBody>
      </p:sp>
      <p:sp>
        <p:nvSpPr>
          <p:cNvPr id="17" name="Text 15"/>
          <p:cNvSpPr txBox="1"/>
          <p:nvPr/>
        </p:nvSpPr>
        <p:spPr>
          <a:xfrm>
            <a:off x="731520" y="3300984"/>
            <a:ext cx="2164080" cy="3200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booked calls in 30 days</a:t>
            </a:r>
            <a:endParaRPr lang="en-US" sz="1300" dirty="0"/>
          </a:p>
        </p:txBody>
      </p:sp>
      <p:sp>
        <p:nvSpPr>
          <p:cNvPr id="18" name="Text 16"/>
          <p:cNvSpPr txBox="1"/>
          <p:nvPr/>
        </p:nvSpPr>
        <p:spPr>
          <a:xfrm>
            <a:off x="731520" y="3630168"/>
            <a:ext cx="2164080" cy="274320"/>
          </a:xfrm>
          <a:prstGeom prst="rect">
            <a:avLst/>
          </a:prstGeom>
          <a:noFill/>
          <a:ln/>
        </p:spPr>
        <p:txBody>
          <a:bodyPr wrap="square" lIns="0" tIns="0" rIns="0" bIns="0" rtlCol="0" anchor="ctr"/>
          <a:lstStyle/>
          <a:p>
            <a:pPr indent="0" marL="0">
              <a:buNone/>
            </a:pPr>
            <a:r>
              <a:rPr lang="en-US" sz="1050" dirty="0">
                <a:solidFill>
                  <a:srgbClr val="A6A1B5"/>
                </a:solidFill>
                <a:latin typeface="Arial" pitchFamily="34" charset="0"/>
                <a:ea typeface="Arial" pitchFamily="34" charset="-122"/>
                <a:cs typeface="Arial" pitchFamily="34" charset="-120"/>
              </a:rPr>
              <a:t>Eric R. · Rath Tutoring</a:t>
            </a:r>
            <a:endParaRPr lang="en-US" sz="1050" dirty="0"/>
          </a:p>
        </p:txBody>
      </p:sp>
      <p:sp>
        <p:nvSpPr>
          <p:cNvPr id="19" name="Shape 17"/>
          <p:cNvSpPr/>
          <p:nvPr/>
        </p:nvSpPr>
        <p:spPr>
          <a:xfrm>
            <a:off x="3307080" y="2697480"/>
            <a:ext cx="2529840" cy="1325880"/>
          </a:xfrm>
          <a:prstGeom prst="roundRect">
            <a:avLst>
              <a:gd name="adj" fmla="val 8276"/>
            </a:avLst>
          </a:prstGeom>
          <a:solidFill>
            <a:srgbClr val="17131F"/>
          </a:solidFill>
          <a:ln w="12700">
            <a:solidFill>
              <a:srgbClr val="2C2344"/>
            </a:solidFill>
            <a:prstDash val="solid"/>
          </a:ln>
        </p:spPr>
      </p:sp>
      <p:sp>
        <p:nvSpPr>
          <p:cNvPr id="20" name="Text 18"/>
          <p:cNvSpPr txBox="1"/>
          <p:nvPr/>
        </p:nvSpPr>
        <p:spPr>
          <a:xfrm>
            <a:off x="3489960" y="2807208"/>
            <a:ext cx="2164080" cy="502920"/>
          </a:xfrm>
          <a:prstGeom prst="rect">
            <a:avLst/>
          </a:prstGeom>
          <a:noFill/>
          <a:ln/>
        </p:spPr>
        <p:txBody>
          <a:bodyPr wrap="square" lIns="0" tIns="0" rIns="0" bIns="0" rtlCol="0" anchor="ctr"/>
          <a:lstStyle/>
          <a:p>
            <a:pPr indent="0" marL="0">
              <a:buNone/>
            </a:pPr>
            <a:r>
              <a:rPr lang="en-US" sz="2400" b="1" dirty="0">
                <a:solidFill>
                  <a:srgbClr val="B79CFF"/>
                </a:solidFill>
                <a:latin typeface="Arial" pitchFamily="34" charset="0"/>
                <a:ea typeface="Arial" pitchFamily="34" charset="-122"/>
                <a:cs typeface="Arial" pitchFamily="34" charset="-120"/>
              </a:rPr>
              <a:t>30+</a:t>
            </a:r>
            <a:endParaRPr lang="en-US" sz="2400" dirty="0"/>
          </a:p>
        </p:txBody>
      </p:sp>
      <p:sp>
        <p:nvSpPr>
          <p:cNvPr id="21" name="Text 19"/>
          <p:cNvSpPr txBox="1"/>
          <p:nvPr/>
        </p:nvSpPr>
        <p:spPr>
          <a:xfrm>
            <a:off x="3489960" y="3300984"/>
            <a:ext cx="2164080" cy="3200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booked calls in 60 days</a:t>
            </a:r>
            <a:endParaRPr lang="en-US" sz="1300" dirty="0"/>
          </a:p>
        </p:txBody>
      </p:sp>
      <p:sp>
        <p:nvSpPr>
          <p:cNvPr id="22" name="Text 20"/>
          <p:cNvSpPr txBox="1"/>
          <p:nvPr/>
        </p:nvSpPr>
        <p:spPr>
          <a:xfrm>
            <a:off x="3489960" y="3630168"/>
            <a:ext cx="2164080" cy="274320"/>
          </a:xfrm>
          <a:prstGeom prst="rect">
            <a:avLst/>
          </a:prstGeom>
          <a:noFill/>
          <a:ln/>
        </p:spPr>
        <p:txBody>
          <a:bodyPr wrap="square" lIns="0" tIns="0" rIns="0" bIns="0" rtlCol="0" anchor="ctr"/>
          <a:lstStyle/>
          <a:p>
            <a:pPr indent="0" marL="0">
              <a:buNone/>
            </a:pPr>
            <a:r>
              <a:rPr lang="en-US" sz="1050" dirty="0">
                <a:solidFill>
                  <a:srgbClr val="A6A1B5"/>
                </a:solidFill>
                <a:latin typeface="Arial" pitchFamily="34" charset="0"/>
                <a:ea typeface="Arial" pitchFamily="34" charset="-122"/>
                <a:cs typeface="Arial" pitchFamily="34" charset="-120"/>
              </a:rPr>
              <a:t>Mo Kaushal · MK Elite Tutoring</a:t>
            </a:r>
            <a:endParaRPr lang="en-US" sz="1050" dirty="0"/>
          </a:p>
        </p:txBody>
      </p:sp>
      <p:sp>
        <p:nvSpPr>
          <p:cNvPr id="23" name="Shape 21"/>
          <p:cNvSpPr/>
          <p:nvPr/>
        </p:nvSpPr>
        <p:spPr>
          <a:xfrm>
            <a:off x="6065520" y="2697480"/>
            <a:ext cx="2529840" cy="1325880"/>
          </a:xfrm>
          <a:prstGeom prst="roundRect">
            <a:avLst>
              <a:gd name="adj" fmla="val 8276"/>
            </a:avLst>
          </a:prstGeom>
          <a:solidFill>
            <a:srgbClr val="17131F"/>
          </a:solidFill>
          <a:ln w="12700">
            <a:solidFill>
              <a:srgbClr val="2C2344"/>
            </a:solidFill>
            <a:prstDash val="solid"/>
          </a:ln>
        </p:spPr>
      </p:sp>
      <p:sp>
        <p:nvSpPr>
          <p:cNvPr id="24" name="Text 22"/>
          <p:cNvSpPr txBox="1"/>
          <p:nvPr/>
        </p:nvSpPr>
        <p:spPr>
          <a:xfrm>
            <a:off x="6248400" y="2807208"/>
            <a:ext cx="2164080" cy="502920"/>
          </a:xfrm>
          <a:prstGeom prst="rect">
            <a:avLst/>
          </a:prstGeom>
          <a:noFill/>
          <a:ln/>
        </p:spPr>
        <p:txBody>
          <a:bodyPr wrap="square" lIns="0" tIns="0" rIns="0" bIns="0" rtlCol="0" anchor="ctr"/>
          <a:lstStyle/>
          <a:p>
            <a:pPr indent="0" marL="0">
              <a:buNone/>
            </a:pPr>
            <a:r>
              <a:rPr lang="en-US" sz="2400" b="1" dirty="0">
                <a:solidFill>
                  <a:srgbClr val="B79CFF"/>
                </a:solidFill>
                <a:latin typeface="Arial" pitchFamily="34" charset="0"/>
                <a:ea typeface="Arial" pitchFamily="34" charset="-122"/>
                <a:cs typeface="Arial" pitchFamily="34" charset="-120"/>
              </a:rPr>
              <a:t>$1 → $6</a:t>
            </a:r>
            <a:endParaRPr lang="en-US" sz="2400" dirty="0"/>
          </a:p>
        </p:txBody>
      </p:sp>
      <p:sp>
        <p:nvSpPr>
          <p:cNvPr id="25" name="Text 23"/>
          <p:cNvSpPr txBox="1"/>
          <p:nvPr/>
        </p:nvSpPr>
        <p:spPr>
          <a:xfrm>
            <a:off x="6248400" y="3300984"/>
            <a:ext cx="2164080" cy="3200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return on every dollar</a:t>
            </a:r>
            <a:endParaRPr lang="en-US" sz="1300" dirty="0"/>
          </a:p>
        </p:txBody>
      </p:sp>
      <p:sp>
        <p:nvSpPr>
          <p:cNvPr id="26" name="Text 24"/>
          <p:cNvSpPr txBox="1"/>
          <p:nvPr/>
        </p:nvSpPr>
        <p:spPr>
          <a:xfrm>
            <a:off x="6248400" y="3630168"/>
            <a:ext cx="2164080" cy="274320"/>
          </a:xfrm>
          <a:prstGeom prst="rect">
            <a:avLst/>
          </a:prstGeom>
          <a:noFill/>
          <a:ln/>
        </p:spPr>
        <p:txBody>
          <a:bodyPr wrap="square" lIns="0" tIns="0" rIns="0" bIns="0" rtlCol="0" anchor="ctr"/>
          <a:lstStyle/>
          <a:p>
            <a:pPr indent="0" marL="0">
              <a:buNone/>
            </a:pPr>
            <a:r>
              <a:rPr lang="en-US" sz="1050" dirty="0">
                <a:solidFill>
                  <a:srgbClr val="A6A1B5"/>
                </a:solidFill>
                <a:latin typeface="Arial" pitchFamily="34" charset="0"/>
                <a:ea typeface="Arial" pitchFamily="34" charset="-122"/>
                <a:cs typeface="Arial" pitchFamily="34" charset="-120"/>
              </a:rPr>
              <a:t>Jonjo W. · Sankakoo Coding Bootcamp</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65760"/>
            <a:ext cx="80467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“Paid back my investment in </a:t>
            </a:r>
            <a:pPr indent="0" marL="0">
              <a:buNone/>
            </a:pPr>
            <a:r>
              <a:rPr lang="en-US" sz="3000" b="1" dirty="0">
                <a:solidFill>
                  <a:srgbClr val="B79CFF"/>
                </a:solidFill>
                <a:latin typeface="Arial" pitchFamily="34" charset="0"/>
                <a:ea typeface="Arial" pitchFamily="34" charset="-122"/>
                <a:cs typeface="Arial" pitchFamily="34" charset="-120"/>
              </a:rPr>
              <a:t>7 days</a:t>
            </a:r>
            <a:pPr indent="0" marL="0">
              <a:buNone/>
            </a:pP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Shape 1"/>
          <p:cNvSpPr/>
          <p:nvPr/>
        </p:nvSpPr>
        <p:spPr>
          <a:xfrm>
            <a:off x="548640" y="1234440"/>
            <a:ext cx="8046720" cy="3063240"/>
          </a:xfrm>
          <a:prstGeom prst="roundRect">
            <a:avLst>
              <a:gd name="adj" fmla="val 3582"/>
            </a:avLst>
          </a:prstGeom>
          <a:solidFill>
            <a:srgbClr val="17131F"/>
          </a:solidFill>
          <a:ln w="12700">
            <a:solidFill>
              <a:srgbClr val="2C2344"/>
            </a:solidFill>
            <a:prstDash val="solid"/>
          </a:ln>
        </p:spPr>
      </p:sp>
      <p:sp>
        <p:nvSpPr>
          <p:cNvPr id="4" name="Text 2"/>
          <p:cNvSpPr txBox="1"/>
          <p:nvPr/>
        </p:nvSpPr>
        <p:spPr>
          <a:xfrm>
            <a:off x="777240" y="1234440"/>
            <a:ext cx="731520" cy="822960"/>
          </a:xfrm>
          <a:prstGeom prst="rect">
            <a:avLst/>
          </a:prstGeom>
          <a:noFill/>
          <a:ln/>
        </p:spPr>
        <p:txBody>
          <a:bodyPr wrap="square" lIns="0" tIns="0" rIns="0" bIns="0" rtlCol="0" anchor="ctr"/>
          <a:lstStyle/>
          <a:p>
            <a:pPr indent="0" marL="0">
              <a:buNone/>
            </a:pPr>
            <a:r>
              <a:rPr lang="en-US" sz="6000" b="1" dirty="0">
                <a:solidFill>
                  <a:srgbClr val="7C3CFF"/>
                </a:solidFill>
                <a:latin typeface="Arial" pitchFamily="34" charset="0"/>
                <a:ea typeface="Arial" pitchFamily="34" charset="-122"/>
                <a:cs typeface="Arial" pitchFamily="34" charset="-120"/>
              </a:rPr>
              <a:t>“</a:t>
            </a:r>
            <a:endParaRPr lang="en-US" sz="6000" dirty="0"/>
          </a:p>
        </p:txBody>
      </p:sp>
      <p:sp>
        <p:nvSpPr>
          <p:cNvPr id="5" name="Text 3"/>
          <p:cNvSpPr txBox="1"/>
          <p:nvPr/>
        </p:nvSpPr>
        <p:spPr>
          <a:xfrm>
            <a:off x="1005840" y="1600200"/>
            <a:ext cx="7132320" cy="1920240"/>
          </a:xfrm>
          <a:prstGeom prst="rect">
            <a:avLst/>
          </a:prstGeom>
          <a:noFill/>
          <a:ln/>
        </p:spPr>
        <p:txBody>
          <a:bodyPr wrap="square" lIns="0" tIns="0" rIns="0" bIns="0" rtlCol="0" anchor="ctr"/>
          <a:lstStyle/>
          <a:p>
            <a:pPr indent="0" marL="0">
              <a:buNone/>
            </a:pPr>
            <a:r>
              <a:rPr lang="en-US" sz="1600" i="1" dirty="0">
                <a:solidFill>
                  <a:srgbClr val="FFFFFF"/>
                </a:solidFill>
                <a:latin typeface="Arial" pitchFamily="34" charset="0"/>
                <a:ea typeface="Arial" pitchFamily="34" charset="-122"/>
                <a:cs typeface="Arial" pitchFamily="34" charset="-120"/>
              </a:rPr>
              <a:t>I run a live online Arabic program for adults. Other agencies handed me cookie-cutter funnels and generic ad copy. Pacow learned the product, studied my audience, and built a funnel that fits the way my business actually works. I paid back my entire investment within the first 7 days of going live.</a:t>
            </a:r>
            <a:endParaRPr lang="en-US" sz="1600" dirty="0"/>
          </a:p>
        </p:txBody>
      </p:sp>
      <p:sp>
        <p:nvSpPr>
          <p:cNvPr id="6" name="Text 4"/>
          <p:cNvSpPr txBox="1"/>
          <p:nvPr/>
        </p:nvSpPr>
        <p:spPr>
          <a:xfrm>
            <a:off x="1005840" y="3566160"/>
            <a:ext cx="7132320" cy="5943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Alex Willson</a:t>
            </a:r>
            <a:endParaRPr lang="en-US" sz="1300" dirty="0"/>
          </a:p>
          <a:p>
            <a:pPr indent="0" marL="0">
              <a:buNone/>
            </a:pPr>
            <a:r>
              <a:rPr lang="en-US" sz="1300" dirty="0">
                <a:solidFill>
                  <a:srgbClr val="A6A1B5"/>
                </a:solidFill>
                <a:latin typeface="Arial" pitchFamily="34" charset="0"/>
                <a:ea typeface="Arial" pitchFamily="34" charset="-122"/>
                <a:cs typeface="Arial" pitchFamily="34" charset="-120"/>
              </a:rPr>
              <a:t>Founder @ Lingua Verna</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65760"/>
            <a:ext cx="80467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In their own words…</a:t>
            </a:r>
            <a:endParaRPr lang="en-US" sz="3000" dirty="0"/>
          </a:p>
        </p:txBody>
      </p:sp>
      <p:sp>
        <p:nvSpPr>
          <p:cNvPr id="3" name="Shape 1"/>
          <p:cNvSpPr/>
          <p:nvPr/>
        </p:nvSpPr>
        <p:spPr>
          <a:xfrm>
            <a:off x="548640" y="1234440"/>
            <a:ext cx="8046720" cy="3063240"/>
          </a:xfrm>
          <a:prstGeom prst="roundRect">
            <a:avLst>
              <a:gd name="adj" fmla="val 3582"/>
            </a:avLst>
          </a:prstGeom>
          <a:solidFill>
            <a:srgbClr val="17131F"/>
          </a:solidFill>
          <a:ln w="12700">
            <a:solidFill>
              <a:srgbClr val="2C2344"/>
            </a:solidFill>
            <a:prstDash val="solid"/>
          </a:ln>
        </p:spPr>
      </p:sp>
      <p:sp>
        <p:nvSpPr>
          <p:cNvPr id="4" name="Text 2"/>
          <p:cNvSpPr txBox="1"/>
          <p:nvPr/>
        </p:nvSpPr>
        <p:spPr>
          <a:xfrm>
            <a:off x="777240" y="1234440"/>
            <a:ext cx="731520" cy="822960"/>
          </a:xfrm>
          <a:prstGeom prst="rect">
            <a:avLst/>
          </a:prstGeom>
          <a:noFill/>
          <a:ln/>
        </p:spPr>
        <p:txBody>
          <a:bodyPr wrap="square" lIns="0" tIns="0" rIns="0" bIns="0" rtlCol="0" anchor="ctr"/>
          <a:lstStyle/>
          <a:p>
            <a:pPr indent="0" marL="0">
              <a:buNone/>
            </a:pPr>
            <a:r>
              <a:rPr lang="en-US" sz="6000" b="1" dirty="0">
                <a:solidFill>
                  <a:srgbClr val="7C3CFF"/>
                </a:solidFill>
                <a:latin typeface="Arial" pitchFamily="34" charset="0"/>
                <a:ea typeface="Arial" pitchFamily="34" charset="-122"/>
                <a:cs typeface="Arial" pitchFamily="34" charset="-120"/>
              </a:rPr>
              <a:t>“</a:t>
            </a:r>
            <a:endParaRPr lang="en-US" sz="6000" dirty="0"/>
          </a:p>
        </p:txBody>
      </p:sp>
      <p:sp>
        <p:nvSpPr>
          <p:cNvPr id="5" name="Text 3"/>
          <p:cNvSpPr txBox="1"/>
          <p:nvPr/>
        </p:nvSpPr>
        <p:spPr>
          <a:xfrm>
            <a:off x="1005840" y="1600200"/>
            <a:ext cx="7132320" cy="1920240"/>
          </a:xfrm>
          <a:prstGeom prst="rect">
            <a:avLst/>
          </a:prstGeom>
          <a:noFill/>
          <a:ln/>
        </p:spPr>
        <p:txBody>
          <a:bodyPr wrap="square" lIns="0" tIns="0" rIns="0" bIns="0" rtlCol="0" anchor="ctr"/>
          <a:lstStyle/>
          <a:p>
            <a:pPr indent="0" marL="0">
              <a:buNone/>
            </a:pPr>
            <a:r>
              <a:rPr lang="en-US" sz="1600" i="1" dirty="0">
                <a:solidFill>
                  <a:srgbClr val="FFFFFF"/>
                </a:solidFill>
                <a:latin typeface="Arial" pitchFamily="34" charset="0"/>
                <a:ea typeface="Arial" pitchFamily="34" charset="-122"/>
                <a:cs typeface="Arial" pitchFamily="34" charset="-120"/>
              </a:rPr>
              <a:t>Ema and Viktorija were so helpful throughout the whole process, from setting up the funnel to helping us make advertising materials to sales coaching. Their skills and wisdom helped us achieve in just a few months what would have taken us forever to figure out ourselves.</a:t>
            </a:r>
            <a:endParaRPr lang="en-US" sz="1600" dirty="0"/>
          </a:p>
        </p:txBody>
      </p:sp>
      <p:sp>
        <p:nvSpPr>
          <p:cNvPr id="6" name="Text 4"/>
          <p:cNvSpPr txBox="1"/>
          <p:nvPr/>
        </p:nvSpPr>
        <p:spPr>
          <a:xfrm>
            <a:off x="1005840" y="3566160"/>
            <a:ext cx="7132320" cy="5943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Anna Chen Teunis</a:t>
            </a:r>
            <a:endParaRPr lang="en-US" sz="1300" dirty="0"/>
          </a:p>
          <a:p>
            <a:pPr indent="0" marL="0">
              <a:buNone/>
            </a:pPr>
            <a:r>
              <a:rPr lang="en-US" sz="1300" dirty="0">
                <a:solidFill>
                  <a:srgbClr val="A6A1B5"/>
                </a:solidFill>
                <a:latin typeface="Arial" pitchFamily="34" charset="0"/>
                <a:ea typeface="Arial" pitchFamily="34" charset="-122"/>
                <a:cs typeface="Arial" pitchFamily="34" charset="-120"/>
              </a:rPr>
              <a:t>Co-Founder @ Sigma Education</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640080" y="457200"/>
            <a:ext cx="7863840" cy="242316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I'm going to show you the </a:t>
            </a:r>
            <a:pPr algn="ctr" indent="0" marL="0">
              <a:buNone/>
            </a:pPr>
            <a:r>
              <a:rPr lang="en-US" sz="3600" b="1" dirty="0">
                <a:solidFill>
                  <a:srgbClr val="B79CFF"/>
                </a:solidFill>
                <a:latin typeface="Arial" pitchFamily="34" charset="0"/>
                <a:ea typeface="Arial" pitchFamily="34" charset="-122"/>
                <a:cs typeface="Arial" pitchFamily="34" charset="-120"/>
              </a:rPr>
              <a:t>5 steps</a:t>
            </a:r>
            <a:pPr algn="ctr" indent="0" marL="0">
              <a:buNone/>
            </a:pPr>
            <a:r>
              <a:rPr lang="en-US" sz="3600" b="1" dirty="0">
                <a:solidFill>
                  <a:srgbClr val="FFFFFF"/>
                </a:solidFill>
                <a:latin typeface="Arial" pitchFamily="34" charset="0"/>
                <a:ea typeface="Arial" pitchFamily="34" charset="-122"/>
                <a:cs typeface="Arial" pitchFamily="34" charset="-120"/>
              </a:rPr>
              <a:t>…</a:t>
            </a:r>
            <a:endParaRPr lang="en-US" sz="3600" dirty="0"/>
          </a:p>
        </p:txBody>
      </p:sp>
      <p:sp>
        <p:nvSpPr>
          <p:cNvPr id="3" name="Text 1"/>
          <p:cNvSpPr txBox="1"/>
          <p:nvPr/>
        </p:nvSpPr>
        <p:spPr>
          <a:xfrm>
            <a:off x="914400" y="3017520"/>
            <a:ext cx="7315200" cy="1188720"/>
          </a:xfrm>
          <a:prstGeom prst="rect">
            <a:avLst/>
          </a:prstGeom>
          <a:noFill/>
          <a:ln/>
        </p:spPr>
        <p:txBody>
          <a:bodyPr wrap="square" lIns="0" tIns="0" rIns="0" bIns="0" rtlCol="0" anchor="t"/>
          <a:lstStyle/>
          <a:p>
            <a:pPr algn="ctr" indent="0" marL="0">
              <a:buNone/>
            </a:pPr>
            <a:r>
              <a:rPr lang="en-US" sz="1900" dirty="0">
                <a:solidFill>
                  <a:srgbClr val="A6A1B5"/>
                </a:solidFill>
                <a:latin typeface="Arial" pitchFamily="34" charset="0"/>
                <a:ea typeface="Arial" pitchFamily="34" charset="-122"/>
                <a:cs typeface="Arial" pitchFamily="34" charset="-120"/>
              </a:rPr>
              <a:t>The exact process we use with every education brand we work with.</a:t>
            </a:r>
            <a:endParaRPr lang="en-US" sz="1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65760"/>
            <a:ext cx="80467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The 5 steps of GrowthOS™</a:t>
            </a:r>
            <a:endParaRPr lang="en-US" sz="3000" dirty="0"/>
          </a:p>
        </p:txBody>
      </p:sp>
      <p:sp>
        <p:nvSpPr>
          <p:cNvPr id="3" name="Shape 1"/>
          <p:cNvSpPr/>
          <p:nvPr/>
        </p:nvSpPr>
        <p:spPr>
          <a:xfrm>
            <a:off x="548640" y="1234440"/>
            <a:ext cx="8046720" cy="533095"/>
          </a:xfrm>
          <a:prstGeom prst="roundRect">
            <a:avLst>
              <a:gd name="adj" fmla="val 20583"/>
            </a:avLst>
          </a:prstGeom>
          <a:solidFill>
            <a:srgbClr val="17131F"/>
          </a:solidFill>
          <a:ln w="12700">
            <a:solidFill>
              <a:srgbClr val="2C2344"/>
            </a:solidFill>
            <a:prstDash val="solid"/>
          </a:ln>
        </p:spPr>
      </p:sp>
      <p:sp>
        <p:nvSpPr>
          <p:cNvPr id="4" name="Shape 2"/>
          <p:cNvSpPr/>
          <p:nvPr/>
        </p:nvSpPr>
        <p:spPr>
          <a:xfrm>
            <a:off x="713232" y="1308964"/>
            <a:ext cx="384048" cy="384048"/>
          </a:xfrm>
          <a:prstGeom prst="ellipse">
            <a:avLst/>
          </a:prstGeom>
          <a:solidFill>
            <a:srgbClr val="7C3CFF"/>
          </a:solidFill>
          <a:ln w="12700">
            <a:solidFill>
              <a:srgbClr val="7C3CFF"/>
            </a:solidFill>
            <a:prstDash val="solid"/>
          </a:ln>
        </p:spPr>
      </p:sp>
      <p:sp>
        <p:nvSpPr>
          <p:cNvPr id="5" name="Text 3"/>
          <p:cNvSpPr txBox="1"/>
          <p:nvPr/>
        </p:nvSpPr>
        <p:spPr>
          <a:xfrm>
            <a:off x="713232" y="130896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txBox="1"/>
          <p:nvPr/>
        </p:nvSpPr>
        <p:spPr>
          <a:xfrm>
            <a:off x="1280160" y="1234440"/>
            <a:ext cx="7132320" cy="533095"/>
          </a:xfrm>
          <a:prstGeom prst="rect">
            <a:avLst/>
          </a:prstGeom>
          <a:noFill/>
          <a:ln/>
        </p:spPr>
        <p:txBody>
          <a:bodyPr wrap="square" lIns="0" tIns="0" rIns="0" bIns="0" rtlCol="0" anchor="ctr"/>
          <a:lstStyle/>
          <a:p>
            <a:pPr indent="0" marL="0">
              <a:buNone/>
            </a:pPr>
            <a:r>
              <a:rPr lang="en-US" sz="1500" b="1" dirty="0">
                <a:solidFill>
                  <a:srgbClr val="B79CFF"/>
                </a:solidFill>
                <a:latin typeface="Arial" pitchFamily="34" charset="0"/>
                <a:ea typeface="Arial" pitchFamily="34" charset="-122"/>
                <a:cs typeface="Arial" pitchFamily="34" charset="-120"/>
              </a:rPr>
              <a:t>Step 1:</a:t>
            </a:r>
            <a:pPr indent="0" marL="0">
              <a:buNone/>
            </a:pPr>
            <a:r>
              <a:rPr lang="en-US" sz="1500" dirty="0">
                <a:solidFill>
                  <a:srgbClr val="FFFFFF"/>
                </a:solidFill>
                <a:latin typeface="Arial" pitchFamily="34" charset="0"/>
                <a:ea typeface="Arial" pitchFamily="34" charset="-122"/>
                <a:cs typeface="Arial" pitchFamily="34" charset="-120"/>
              </a:rPr>
              <a:t> Strategy, Offer &amp; Database Reactivation</a:t>
            </a:r>
            <a:endParaRPr lang="en-US" sz="1500" dirty="0"/>
          </a:p>
        </p:txBody>
      </p:sp>
      <p:sp>
        <p:nvSpPr>
          <p:cNvPr id="7" name="Shape 5"/>
          <p:cNvSpPr/>
          <p:nvPr/>
        </p:nvSpPr>
        <p:spPr>
          <a:xfrm>
            <a:off x="548640" y="1895551"/>
            <a:ext cx="8046720" cy="533095"/>
          </a:xfrm>
          <a:prstGeom prst="roundRect">
            <a:avLst>
              <a:gd name="adj" fmla="val 20583"/>
            </a:avLst>
          </a:prstGeom>
          <a:solidFill>
            <a:srgbClr val="17131F"/>
          </a:solidFill>
          <a:ln w="12700">
            <a:solidFill>
              <a:srgbClr val="2C2344"/>
            </a:solidFill>
            <a:prstDash val="solid"/>
          </a:ln>
        </p:spPr>
      </p:sp>
      <p:sp>
        <p:nvSpPr>
          <p:cNvPr id="8" name="Shape 6"/>
          <p:cNvSpPr/>
          <p:nvPr/>
        </p:nvSpPr>
        <p:spPr>
          <a:xfrm>
            <a:off x="713232" y="1970075"/>
            <a:ext cx="384048" cy="384048"/>
          </a:xfrm>
          <a:prstGeom prst="ellipse">
            <a:avLst/>
          </a:prstGeom>
          <a:solidFill>
            <a:srgbClr val="7C3CFF"/>
          </a:solidFill>
          <a:ln w="12700">
            <a:solidFill>
              <a:srgbClr val="7C3CFF"/>
            </a:solidFill>
            <a:prstDash val="solid"/>
          </a:ln>
        </p:spPr>
      </p:sp>
      <p:sp>
        <p:nvSpPr>
          <p:cNvPr id="9" name="Text 7"/>
          <p:cNvSpPr txBox="1"/>
          <p:nvPr/>
        </p:nvSpPr>
        <p:spPr>
          <a:xfrm>
            <a:off x="713232" y="1970075"/>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0" name="Text 8"/>
          <p:cNvSpPr txBox="1"/>
          <p:nvPr/>
        </p:nvSpPr>
        <p:spPr>
          <a:xfrm>
            <a:off x="1280160" y="1895551"/>
            <a:ext cx="7132320" cy="533095"/>
          </a:xfrm>
          <a:prstGeom prst="rect">
            <a:avLst/>
          </a:prstGeom>
          <a:noFill/>
          <a:ln/>
        </p:spPr>
        <p:txBody>
          <a:bodyPr wrap="square" lIns="0" tIns="0" rIns="0" bIns="0" rtlCol="0" anchor="ctr"/>
          <a:lstStyle/>
          <a:p>
            <a:pPr indent="0" marL="0">
              <a:buNone/>
            </a:pPr>
            <a:r>
              <a:rPr lang="en-US" sz="1500" b="1" dirty="0">
                <a:solidFill>
                  <a:srgbClr val="B79CFF"/>
                </a:solidFill>
                <a:latin typeface="Arial" pitchFamily="34" charset="0"/>
                <a:ea typeface="Arial" pitchFamily="34" charset="-122"/>
                <a:cs typeface="Arial" pitchFamily="34" charset="-120"/>
              </a:rPr>
              <a:t>Step 2:</a:t>
            </a:r>
            <a:pPr indent="0" marL="0">
              <a:buNone/>
            </a:pPr>
            <a:r>
              <a:rPr lang="en-US" sz="1500" dirty="0">
                <a:solidFill>
                  <a:srgbClr val="FFFFFF"/>
                </a:solidFill>
                <a:latin typeface="Arial" pitchFamily="34" charset="0"/>
                <a:ea typeface="Arial" pitchFamily="34" charset="-122"/>
                <a:cs typeface="Arial" pitchFamily="34" charset="-120"/>
              </a:rPr>
              <a:t> Facebook &amp; Instagram Ads that filter for the right students</a:t>
            </a:r>
            <a:endParaRPr lang="en-US" sz="1500" dirty="0"/>
          </a:p>
        </p:txBody>
      </p:sp>
      <p:sp>
        <p:nvSpPr>
          <p:cNvPr id="11" name="Shape 9"/>
          <p:cNvSpPr/>
          <p:nvPr/>
        </p:nvSpPr>
        <p:spPr>
          <a:xfrm>
            <a:off x="548640" y="2556662"/>
            <a:ext cx="8046720" cy="533095"/>
          </a:xfrm>
          <a:prstGeom prst="roundRect">
            <a:avLst>
              <a:gd name="adj" fmla="val 20583"/>
            </a:avLst>
          </a:prstGeom>
          <a:solidFill>
            <a:srgbClr val="17131F"/>
          </a:solidFill>
          <a:ln w="12700">
            <a:solidFill>
              <a:srgbClr val="2C2344"/>
            </a:solidFill>
            <a:prstDash val="solid"/>
          </a:ln>
        </p:spPr>
      </p:sp>
      <p:sp>
        <p:nvSpPr>
          <p:cNvPr id="12" name="Shape 10"/>
          <p:cNvSpPr/>
          <p:nvPr/>
        </p:nvSpPr>
        <p:spPr>
          <a:xfrm>
            <a:off x="713232" y="2631186"/>
            <a:ext cx="384048" cy="384048"/>
          </a:xfrm>
          <a:prstGeom prst="ellipse">
            <a:avLst/>
          </a:prstGeom>
          <a:solidFill>
            <a:srgbClr val="7C3CFF"/>
          </a:solidFill>
          <a:ln w="12700">
            <a:solidFill>
              <a:srgbClr val="7C3CFF"/>
            </a:solidFill>
            <a:prstDash val="solid"/>
          </a:ln>
        </p:spPr>
      </p:sp>
      <p:sp>
        <p:nvSpPr>
          <p:cNvPr id="13" name="Text 11"/>
          <p:cNvSpPr txBox="1"/>
          <p:nvPr/>
        </p:nvSpPr>
        <p:spPr>
          <a:xfrm>
            <a:off x="713232" y="263118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4" name="Text 12"/>
          <p:cNvSpPr txBox="1"/>
          <p:nvPr/>
        </p:nvSpPr>
        <p:spPr>
          <a:xfrm>
            <a:off x="1280160" y="2556662"/>
            <a:ext cx="7132320" cy="533095"/>
          </a:xfrm>
          <a:prstGeom prst="rect">
            <a:avLst/>
          </a:prstGeom>
          <a:noFill/>
          <a:ln/>
        </p:spPr>
        <p:txBody>
          <a:bodyPr wrap="square" lIns="0" tIns="0" rIns="0" bIns="0" rtlCol="0" anchor="ctr"/>
          <a:lstStyle/>
          <a:p>
            <a:pPr indent="0" marL="0">
              <a:buNone/>
            </a:pPr>
            <a:r>
              <a:rPr lang="en-US" sz="1500" b="1" dirty="0">
                <a:solidFill>
                  <a:srgbClr val="B79CFF"/>
                </a:solidFill>
                <a:latin typeface="Arial" pitchFamily="34" charset="0"/>
                <a:ea typeface="Arial" pitchFamily="34" charset="-122"/>
                <a:cs typeface="Arial" pitchFamily="34" charset="-120"/>
              </a:rPr>
              <a:t>Step 3:</a:t>
            </a:r>
            <a:pPr indent="0" marL="0">
              <a:buNone/>
            </a:pPr>
            <a:r>
              <a:rPr lang="en-US" sz="1500" dirty="0">
                <a:solidFill>
                  <a:srgbClr val="FFFFFF"/>
                </a:solidFill>
                <a:latin typeface="Arial" pitchFamily="34" charset="0"/>
                <a:ea typeface="Arial" pitchFamily="34" charset="-122"/>
                <a:cs typeface="Arial" pitchFamily="34" charset="-120"/>
              </a:rPr>
              <a:t> Lead Qualification</a:t>
            </a:r>
            <a:endParaRPr lang="en-US" sz="1500" dirty="0"/>
          </a:p>
        </p:txBody>
      </p:sp>
      <p:sp>
        <p:nvSpPr>
          <p:cNvPr id="15" name="Shape 13"/>
          <p:cNvSpPr/>
          <p:nvPr/>
        </p:nvSpPr>
        <p:spPr>
          <a:xfrm>
            <a:off x="548640" y="3217774"/>
            <a:ext cx="8046720" cy="533095"/>
          </a:xfrm>
          <a:prstGeom prst="roundRect">
            <a:avLst>
              <a:gd name="adj" fmla="val 20583"/>
            </a:avLst>
          </a:prstGeom>
          <a:solidFill>
            <a:srgbClr val="17131F"/>
          </a:solidFill>
          <a:ln w="12700">
            <a:solidFill>
              <a:srgbClr val="2C2344"/>
            </a:solidFill>
            <a:prstDash val="solid"/>
          </a:ln>
        </p:spPr>
      </p:sp>
      <p:sp>
        <p:nvSpPr>
          <p:cNvPr id="16" name="Shape 14"/>
          <p:cNvSpPr/>
          <p:nvPr/>
        </p:nvSpPr>
        <p:spPr>
          <a:xfrm>
            <a:off x="713232" y="3292297"/>
            <a:ext cx="384048" cy="384048"/>
          </a:xfrm>
          <a:prstGeom prst="ellipse">
            <a:avLst/>
          </a:prstGeom>
          <a:solidFill>
            <a:srgbClr val="7C3CFF"/>
          </a:solidFill>
          <a:ln w="12700">
            <a:solidFill>
              <a:srgbClr val="7C3CFF"/>
            </a:solidFill>
            <a:prstDash val="solid"/>
          </a:ln>
        </p:spPr>
      </p:sp>
      <p:sp>
        <p:nvSpPr>
          <p:cNvPr id="17" name="Text 15"/>
          <p:cNvSpPr txBox="1"/>
          <p:nvPr/>
        </p:nvSpPr>
        <p:spPr>
          <a:xfrm>
            <a:off x="713232" y="3292297"/>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8" name="Text 16"/>
          <p:cNvSpPr txBox="1"/>
          <p:nvPr/>
        </p:nvSpPr>
        <p:spPr>
          <a:xfrm>
            <a:off x="1280160" y="3217774"/>
            <a:ext cx="7132320" cy="533095"/>
          </a:xfrm>
          <a:prstGeom prst="rect">
            <a:avLst/>
          </a:prstGeom>
          <a:noFill/>
          <a:ln/>
        </p:spPr>
        <p:txBody>
          <a:bodyPr wrap="square" lIns="0" tIns="0" rIns="0" bIns="0" rtlCol="0" anchor="ctr"/>
          <a:lstStyle/>
          <a:p>
            <a:pPr indent="0" marL="0">
              <a:buNone/>
            </a:pPr>
            <a:r>
              <a:rPr lang="en-US" sz="1500" b="1" dirty="0">
                <a:solidFill>
                  <a:srgbClr val="B79CFF"/>
                </a:solidFill>
                <a:latin typeface="Arial" pitchFamily="34" charset="0"/>
                <a:ea typeface="Arial" pitchFamily="34" charset="-122"/>
                <a:cs typeface="Arial" pitchFamily="34" charset="-120"/>
              </a:rPr>
              <a:t>Step 4:</a:t>
            </a:r>
            <a:pPr indent="0" marL="0">
              <a:buNone/>
            </a:pPr>
            <a:r>
              <a:rPr lang="en-US" sz="1500" dirty="0">
                <a:solidFill>
                  <a:srgbClr val="FFFFFF"/>
                </a:solidFill>
                <a:latin typeface="Arial" pitchFamily="34" charset="0"/>
                <a:ea typeface="Arial" pitchFamily="34" charset="-122"/>
                <a:cs typeface="Arial" pitchFamily="34" charset="-120"/>
              </a:rPr>
              <a:t> Funnel, CRM &amp; Full Automation</a:t>
            </a:r>
            <a:endParaRPr lang="en-US" sz="1500" dirty="0"/>
          </a:p>
        </p:txBody>
      </p:sp>
      <p:sp>
        <p:nvSpPr>
          <p:cNvPr id="19" name="Shape 17"/>
          <p:cNvSpPr/>
          <p:nvPr/>
        </p:nvSpPr>
        <p:spPr>
          <a:xfrm>
            <a:off x="548640" y="3878885"/>
            <a:ext cx="8046720" cy="533095"/>
          </a:xfrm>
          <a:prstGeom prst="roundRect">
            <a:avLst>
              <a:gd name="adj" fmla="val 20583"/>
            </a:avLst>
          </a:prstGeom>
          <a:solidFill>
            <a:srgbClr val="17131F"/>
          </a:solidFill>
          <a:ln w="12700">
            <a:solidFill>
              <a:srgbClr val="2C2344"/>
            </a:solidFill>
            <a:prstDash val="solid"/>
          </a:ln>
        </p:spPr>
      </p:sp>
      <p:sp>
        <p:nvSpPr>
          <p:cNvPr id="20" name="Shape 18"/>
          <p:cNvSpPr/>
          <p:nvPr/>
        </p:nvSpPr>
        <p:spPr>
          <a:xfrm>
            <a:off x="713232" y="3953408"/>
            <a:ext cx="384048" cy="384048"/>
          </a:xfrm>
          <a:prstGeom prst="ellipse">
            <a:avLst/>
          </a:prstGeom>
          <a:solidFill>
            <a:srgbClr val="7C3CFF"/>
          </a:solidFill>
          <a:ln w="12700">
            <a:solidFill>
              <a:srgbClr val="7C3CFF"/>
            </a:solidFill>
            <a:prstDash val="solid"/>
          </a:ln>
        </p:spPr>
      </p:sp>
      <p:sp>
        <p:nvSpPr>
          <p:cNvPr id="21" name="Text 19"/>
          <p:cNvSpPr txBox="1"/>
          <p:nvPr/>
        </p:nvSpPr>
        <p:spPr>
          <a:xfrm>
            <a:off x="713232" y="39534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2" name="Text 20"/>
          <p:cNvSpPr txBox="1"/>
          <p:nvPr/>
        </p:nvSpPr>
        <p:spPr>
          <a:xfrm>
            <a:off x="1280160" y="3878885"/>
            <a:ext cx="7132320" cy="533095"/>
          </a:xfrm>
          <a:prstGeom prst="rect">
            <a:avLst/>
          </a:prstGeom>
          <a:noFill/>
          <a:ln/>
        </p:spPr>
        <p:txBody>
          <a:bodyPr wrap="square" lIns="0" tIns="0" rIns="0" bIns="0" rtlCol="0" anchor="ctr"/>
          <a:lstStyle/>
          <a:p>
            <a:pPr indent="0" marL="0">
              <a:buNone/>
            </a:pPr>
            <a:r>
              <a:rPr lang="en-US" sz="1500" b="1" dirty="0">
                <a:solidFill>
                  <a:srgbClr val="B79CFF"/>
                </a:solidFill>
                <a:latin typeface="Arial" pitchFamily="34" charset="0"/>
                <a:ea typeface="Arial" pitchFamily="34" charset="-122"/>
                <a:cs typeface="Arial" pitchFamily="34" charset="-120"/>
              </a:rPr>
              <a:t>Step 5:</a:t>
            </a:r>
            <a:pPr indent="0" marL="0">
              <a:buNone/>
            </a:pPr>
            <a:r>
              <a:rPr lang="en-US" sz="1500" dirty="0">
                <a:solidFill>
                  <a:srgbClr val="FFFFFF"/>
                </a:solidFill>
                <a:latin typeface="Arial" pitchFamily="34" charset="0"/>
                <a:ea typeface="Arial" pitchFamily="34" charset="-122"/>
                <a:cs typeface="Arial" pitchFamily="34" charset="-120"/>
              </a:rPr>
              <a:t> Sales Coaching, Optimisation &amp; Scale</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3840480" y="1143000"/>
            <a:ext cx="1463040" cy="365760"/>
          </a:xfrm>
          <a:prstGeom prst="roundRect">
            <a:avLst>
              <a:gd name="adj" fmla="val 50000"/>
            </a:avLst>
          </a:prstGeom>
          <a:solidFill>
            <a:srgbClr val="FFFFFF"/>
          </a:solidFill>
          <a:ln w="12700">
            <a:solidFill>
              <a:srgbClr val="FFFFFF"/>
            </a:solidFill>
            <a:prstDash val="solid"/>
          </a:ln>
        </p:spPr>
      </p:sp>
      <p:sp>
        <p:nvSpPr>
          <p:cNvPr id="3" name="Shape 1"/>
          <p:cNvSpPr/>
          <p:nvPr/>
        </p:nvSpPr>
        <p:spPr>
          <a:xfrm>
            <a:off x="4005072" y="1271016"/>
            <a:ext cx="109728" cy="109728"/>
          </a:xfrm>
          <a:prstGeom prst="ellipse">
            <a:avLst/>
          </a:prstGeom>
          <a:solidFill>
            <a:srgbClr val="7C3CFF"/>
          </a:solidFill>
          <a:ln w="12700">
            <a:solidFill>
              <a:srgbClr val="7C3CFF"/>
            </a:solidFill>
            <a:prstDash val="solid"/>
          </a:ln>
        </p:spPr>
      </p:sp>
      <p:sp>
        <p:nvSpPr>
          <p:cNvPr id="4" name="Text 2"/>
          <p:cNvSpPr txBox="1"/>
          <p:nvPr/>
        </p:nvSpPr>
        <p:spPr>
          <a:xfrm>
            <a:off x="4187952" y="1143000"/>
            <a:ext cx="1005840" cy="365760"/>
          </a:xfrm>
          <a:prstGeom prst="rect">
            <a:avLst/>
          </a:prstGeom>
          <a:noFill/>
          <a:ln/>
        </p:spPr>
        <p:txBody>
          <a:bodyPr wrap="square" lIns="0" tIns="0" rIns="0" bIns="0" rtlCol="0" anchor="ctr"/>
          <a:lstStyle/>
          <a:p>
            <a:pPr indent="0" marL="0">
              <a:buNone/>
            </a:pPr>
            <a:r>
              <a:rPr lang="en-US" sz="1200" b="1" dirty="0">
                <a:solidFill>
                  <a:srgbClr val="15121C"/>
                </a:solidFill>
                <a:latin typeface="Arial" pitchFamily="34" charset="0"/>
                <a:ea typeface="Arial" pitchFamily="34" charset="-122"/>
                <a:cs typeface="Arial" pitchFamily="34" charset="-120"/>
              </a:rPr>
              <a:t>Step 1</a:t>
            </a:r>
            <a:endParaRPr lang="en-US" sz="1200" dirty="0"/>
          </a:p>
        </p:txBody>
      </p:sp>
      <p:sp>
        <p:nvSpPr>
          <p:cNvPr id="5" name="Text 3"/>
          <p:cNvSpPr txBox="1"/>
          <p:nvPr/>
        </p:nvSpPr>
        <p:spPr>
          <a:xfrm>
            <a:off x="640080" y="1737360"/>
            <a:ext cx="7863840" cy="1737360"/>
          </a:xfrm>
          <a:prstGeom prst="rect">
            <a:avLst/>
          </a:prstGeom>
          <a:noFill/>
          <a:ln/>
        </p:spPr>
        <p:txBody>
          <a:bodyPr wrap="square" lIns="0" tIns="0" rIns="0" bIns="0" rtlCol="0" anchor="t"/>
          <a:lstStyle/>
          <a:p>
            <a:pPr algn="ctr" indent="0" marL="0">
              <a:buNone/>
            </a:pPr>
            <a:r>
              <a:rPr lang="en-US" sz="3800" b="1" dirty="0">
                <a:solidFill>
                  <a:srgbClr val="FFFFFF"/>
                </a:solidFill>
                <a:latin typeface="Arial" pitchFamily="34" charset="0"/>
                <a:ea typeface="Arial" pitchFamily="34" charset="-122"/>
                <a:cs typeface="Arial" pitchFamily="34" charset="-120"/>
              </a:rPr>
              <a:t>Strategy, Offer &amp; Database Reactivation</a:t>
            </a:r>
            <a:endParaRPr lang="en-US" sz="3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640080" y="320040"/>
            <a:ext cx="7863840" cy="400050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A muddy offer </a:t>
            </a:r>
            <a:pPr algn="ctr" indent="0" marL="0">
              <a:buNone/>
            </a:pPr>
            <a:r>
              <a:rPr lang="en-US" sz="3600" b="1" dirty="0">
                <a:solidFill>
                  <a:srgbClr val="B79CFF"/>
                </a:solidFill>
                <a:latin typeface="Arial" pitchFamily="34" charset="0"/>
                <a:ea typeface="Arial" pitchFamily="34" charset="-122"/>
                <a:cs typeface="Arial" pitchFamily="34" charset="-120"/>
              </a:rPr>
              <a:t>kills campaigns</a:t>
            </a:r>
            <a:pPr algn="ctr" indent="0" marL="0">
              <a:buNone/>
            </a:pPr>
            <a:r>
              <a:rPr lang="en-US" sz="3600" b="1" dirty="0">
                <a:solidFill>
                  <a:srgbClr val="FFFFFF"/>
                </a:solidFill>
                <a:latin typeface="Arial" pitchFamily="34" charset="0"/>
                <a:ea typeface="Arial" pitchFamily="34" charset="-122"/>
                <a:cs typeface="Arial" pitchFamily="34" charset="-120"/>
              </a:rPr>
              <a:t>… no matter how good the ads are</a:t>
            </a:r>
            <a:endParaRPr lang="en-US" sz="3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65760"/>
            <a:ext cx="80467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Your offer needs ONE of each…</a:t>
            </a:r>
            <a:endParaRPr lang="en-US" sz="3000" dirty="0"/>
          </a:p>
        </p:txBody>
      </p:sp>
      <p:sp>
        <p:nvSpPr>
          <p:cNvPr id="3" name="Shape 1"/>
          <p:cNvSpPr/>
          <p:nvPr/>
        </p:nvSpPr>
        <p:spPr>
          <a:xfrm>
            <a:off x="548640" y="1325880"/>
            <a:ext cx="1805940" cy="2560320"/>
          </a:xfrm>
          <a:prstGeom prst="roundRect">
            <a:avLst>
              <a:gd name="adj" fmla="val 6076"/>
            </a:avLst>
          </a:prstGeom>
          <a:solidFill>
            <a:srgbClr val="17131F"/>
          </a:solidFill>
          <a:ln w="12700">
            <a:solidFill>
              <a:srgbClr val="2C2344"/>
            </a:solidFill>
            <a:prstDash val="solid"/>
          </a:ln>
        </p:spPr>
      </p:sp>
      <p:sp>
        <p:nvSpPr>
          <p:cNvPr id="4" name="Text 2"/>
          <p:cNvSpPr txBox="1"/>
          <p:nvPr/>
        </p:nvSpPr>
        <p:spPr>
          <a:xfrm>
            <a:off x="777240" y="1600200"/>
            <a:ext cx="1348740" cy="822960"/>
          </a:xfrm>
          <a:prstGeom prst="rect">
            <a:avLst/>
          </a:prstGeom>
          <a:noFill/>
          <a:ln/>
        </p:spPr>
        <p:txBody>
          <a:bodyPr wrap="square" lIns="0" tIns="0" rIns="0" bIns="0" rtlCol="0" anchor="t"/>
          <a:lstStyle/>
          <a:p>
            <a:pPr indent="0" marL="0">
              <a:buNone/>
            </a:pPr>
            <a:r>
              <a:rPr lang="en-US" sz="2600" b="1" dirty="0">
                <a:solidFill>
                  <a:srgbClr val="B79CFF"/>
                </a:solidFill>
                <a:latin typeface="Arial" pitchFamily="34" charset="0"/>
                <a:ea typeface="Arial" pitchFamily="34" charset="-122"/>
                <a:cs typeface="Arial" pitchFamily="34" charset="-120"/>
              </a:rPr>
              <a:t>1</a:t>
            </a:r>
            <a:endParaRPr lang="en-US" sz="2600" dirty="0"/>
          </a:p>
        </p:txBody>
      </p:sp>
      <p:sp>
        <p:nvSpPr>
          <p:cNvPr id="5" name="Text 3"/>
          <p:cNvSpPr txBox="1"/>
          <p:nvPr/>
        </p:nvSpPr>
        <p:spPr>
          <a:xfrm>
            <a:off x="777240" y="2468880"/>
            <a:ext cx="1348740" cy="1188720"/>
          </a:xfrm>
          <a:prstGeom prst="rect">
            <a:avLst/>
          </a:prstGeom>
          <a:noFill/>
          <a:ln/>
        </p:spPr>
        <p:txBody>
          <a:bodyPr wrap="square" lIns="0" tIns="0" rIns="0" bIns="0" rtlCol="0" anchor="t"/>
          <a:lstStyle/>
          <a:p>
            <a:pPr indent="0" marL="0">
              <a:buNone/>
            </a:pPr>
            <a:r>
              <a:rPr lang="en-US" sz="1600" b="1" dirty="0">
                <a:solidFill>
                  <a:srgbClr val="B79CFF"/>
                </a:solidFill>
                <a:latin typeface="Arial" pitchFamily="34" charset="0"/>
                <a:ea typeface="Arial" pitchFamily="34" charset="-122"/>
                <a:cs typeface="Arial" pitchFamily="34" charset="-120"/>
              </a:rPr>
              <a:t>Student</a:t>
            </a:r>
            <a:pPr indent="0" marL="0">
              <a:buNone/>
            </a:pPr>
            <a:r>
              <a:rPr lang="en-US" sz="1600" dirty="0">
                <a:solidFill>
                  <a:srgbClr val="FFFFFF"/>
                </a:solidFill>
                <a:latin typeface="Arial" pitchFamily="34" charset="0"/>
                <a:ea typeface="Arial" pitchFamily="34" charset="-122"/>
                <a:cs typeface="Arial" pitchFamily="34" charset="-120"/>
              </a:rPr>
              <a:t> you serve</a:t>
            </a:r>
            <a:endParaRPr lang="en-US" sz="1600" dirty="0"/>
          </a:p>
        </p:txBody>
      </p:sp>
      <p:sp>
        <p:nvSpPr>
          <p:cNvPr id="6" name="Shape 4"/>
          <p:cNvSpPr/>
          <p:nvPr/>
        </p:nvSpPr>
        <p:spPr>
          <a:xfrm>
            <a:off x="2628900" y="1325880"/>
            <a:ext cx="1805940" cy="2560320"/>
          </a:xfrm>
          <a:prstGeom prst="roundRect">
            <a:avLst>
              <a:gd name="adj" fmla="val 6076"/>
            </a:avLst>
          </a:prstGeom>
          <a:solidFill>
            <a:srgbClr val="17131F"/>
          </a:solidFill>
          <a:ln w="12700">
            <a:solidFill>
              <a:srgbClr val="2C2344"/>
            </a:solidFill>
            <a:prstDash val="solid"/>
          </a:ln>
        </p:spPr>
      </p:sp>
      <p:sp>
        <p:nvSpPr>
          <p:cNvPr id="7" name="Text 5"/>
          <p:cNvSpPr txBox="1"/>
          <p:nvPr/>
        </p:nvSpPr>
        <p:spPr>
          <a:xfrm>
            <a:off x="2857500" y="1600200"/>
            <a:ext cx="1348740" cy="822960"/>
          </a:xfrm>
          <a:prstGeom prst="rect">
            <a:avLst/>
          </a:prstGeom>
          <a:noFill/>
          <a:ln/>
        </p:spPr>
        <p:txBody>
          <a:bodyPr wrap="square" lIns="0" tIns="0" rIns="0" bIns="0" rtlCol="0" anchor="t"/>
          <a:lstStyle/>
          <a:p>
            <a:pPr indent="0" marL="0">
              <a:buNone/>
            </a:pPr>
            <a:r>
              <a:rPr lang="en-US" sz="2600" b="1" dirty="0">
                <a:solidFill>
                  <a:srgbClr val="B79CFF"/>
                </a:solidFill>
                <a:latin typeface="Arial" pitchFamily="34" charset="0"/>
                <a:ea typeface="Arial" pitchFamily="34" charset="-122"/>
                <a:cs typeface="Arial" pitchFamily="34" charset="-120"/>
              </a:rPr>
              <a:t>1</a:t>
            </a:r>
            <a:endParaRPr lang="en-US" sz="2600" dirty="0"/>
          </a:p>
        </p:txBody>
      </p:sp>
      <p:sp>
        <p:nvSpPr>
          <p:cNvPr id="8" name="Text 6"/>
          <p:cNvSpPr txBox="1"/>
          <p:nvPr/>
        </p:nvSpPr>
        <p:spPr>
          <a:xfrm>
            <a:off x="2857500" y="2468880"/>
            <a:ext cx="1348740" cy="1188720"/>
          </a:xfrm>
          <a:prstGeom prst="rect">
            <a:avLst/>
          </a:prstGeom>
          <a:noFill/>
          <a:ln/>
        </p:spPr>
        <p:txBody>
          <a:bodyPr wrap="square" lIns="0" tIns="0" rIns="0" bIns="0" rtlCol="0" anchor="t"/>
          <a:lstStyle/>
          <a:p>
            <a:pPr indent="0" marL="0">
              <a:buNone/>
            </a:pPr>
            <a:r>
              <a:rPr lang="en-US" sz="1600" b="1" dirty="0">
                <a:solidFill>
                  <a:srgbClr val="B79CFF"/>
                </a:solidFill>
                <a:latin typeface="Arial" pitchFamily="34" charset="0"/>
                <a:ea typeface="Arial" pitchFamily="34" charset="-122"/>
                <a:cs typeface="Arial" pitchFamily="34" charset="-120"/>
              </a:rPr>
              <a:t>Problem</a:t>
            </a:r>
            <a:pPr indent="0" marL="0">
              <a:buNone/>
            </a:pPr>
            <a:r>
              <a:rPr lang="en-US" sz="1600" dirty="0">
                <a:solidFill>
                  <a:srgbClr val="FFFFFF"/>
                </a:solidFill>
                <a:latin typeface="Arial" pitchFamily="34" charset="0"/>
                <a:ea typeface="Arial" pitchFamily="34" charset="-122"/>
                <a:cs typeface="Arial" pitchFamily="34" charset="-120"/>
              </a:rPr>
              <a:t> you solve</a:t>
            </a:r>
            <a:endParaRPr lang="en-US" sz="1600" dirty="0"/>
          </a:p>
        </p:txBody>
      </p:sp>
      <p:sp>
        <p:nvSpPr>
          <p:cNvPr id="9" name="Shape 7"/>
          <p:cNvSpPr/>
          <p:nvPr/>
        </p:nvSpPr>
        <p:spPr>
          <a:xfrm>
            <a:off x="4709160" y="1325880"/>
            <a:ext cx="1805940" cy="2560320"/>
          </a:xfrm>
          <a:prstGeom prst="roundRect">
            <a:avLst>
              <a:gd name="adj" fmla="val 6076"/>
            </a:avLst>
          </a:prstGeom>
          <a:solidFill>
            <a:srgbClr val="17131F"/>
          </a:solidFill>
          <a:ln w="12700">
            <a:solidFill>
              <a:srgbClr val="2C2344"/>
            </a:solidFill>
            <a:prstDash val="solid"/>
          </a:ln>
        </p:spPr>
      </p:sp>
      <p:sp>
        <p:nvSpPr>
          <p:cNvPr id="10" name="Text 8"/>
          <p:cNvSpPr txBox="1"/>
          <p:nvPr/>
        </p:nvSpPr>
        <p:spPr>
          <a:xfrm>
            <a:off x="4937760" y="1600200"/>
            <a:ext cx="1348740" cy="822960"/>
          </a:xfrm>
          <a:prstGeom prst="rect">
            <a:avLst/>
          </a:prstGeom>
          <a:noFill/>
          <a:ln/>
        </p:spPr>
        <p:txBody>
          <a:bodyPr wrap="square" lIns="0" tIns="0" rIns="0" bIns="0" rtlCol="0" anchor="t"/>
          <a:lstStyle/>
          <a:p>
            <a:pPr indent="0" marL="0">
              <a:buNone/>
            </a:pPr>
            <a:r>
              <a:rPr lang="en-US" sz="2600" b="1" dirty="0">
                <a:solidFill>
                  <a:srgbClr val="B79CFF"/>
                </a:solidFill>
                <a:latin typeface="Arial" pitchFamily="34" charset="0"/>
                <a:ea typeface="Arial" pitchFamily="34" charset="-122"/>
                <a:cs typeface="Arial" pitchFamily="34" charset="-120"/>
              </a:rPr>
              <a:t>1</a:t>
            </a:r>
            <a:endParaRPr lang="en-US" sz="2600" dirty="0"/>
          </a:p>
        </p:txBody>
      </p:sp>
      <p:sp>
        <p:nvSpPr>
          <p:cNvPr id="11" name="Text 9"/>
          <p:cNvSpPr txBox="1"/>
          <p:nvPr/>
        </p:nvSpPr>
        <p:spPr>
          <a:xfrm>
            <a:off x="4937760" y="2468880"/>
            <a:ext cx="1348740" cy="1188720"/>
          </a:xfrm>
          <a:prstGeom prst="rect">
            <a:avLst/>
          </a:prstGeom>
          <a:noFill/>
          <a:ln/>
        </p:spPr>
        <p:txBody>
          <a:bodyPr wrap="square" lIns="0" tIns="0" rIns="0" bIns="0" rtlCol="0" anchor="t"/>
          <a:lstStyle/>
          <a:p>
            <a:pPr indent="0" marL="0">
              <a:buNone/>
            </a:pPr>
            <a:r>
              <a:rPr lang="en-US" sz="1600" b="1" dirty="0">
                <a:solidFill>
                  <a:srgbClr val="B79CFF"/>
                </a:solidFill>
                <a:latin typeface="Arial" pitchFamily="34" charset="0"/>
                <a:ea typeface="Arial" pitchFamily="34" charset="-122"/>
                <a:cs typeface="Arial" pitchFamily="34" charset="-120"/>
              </a:rPr>
              <a:t>Solution</a:t>
            </a:r>
            <a:pPr indent="0" marL="0">
              <a:buNone/>
            </a:pPr>
            <a:r>
              <a:rPr lang="en-US" sz="1600" dirty="0">
                <a:solidFill>
                  <a:srgbClr val="FFFFFF"/>
                </a:solidFill>
                <a:latin typeface="Arial" pitchFamily="34" charset="0"/>
                <a:ea typeface="Arial" pitchFamily="34" charset="-122"/>
                <a:cs typeface="Arial" pitchFamily="34" charset="-120"/>
              </a:rPr>
              <a:t> you deliver</a:t>
            </a:r>
            <a:endParaRPr lang="en-US" sz="1600" dirty="0"/>
          </a:p>
        </p:txBody>
      </p:sp>
      <p:sp>
        <p:nvSpPr>
          <p:cNvPr id="12" name="Shape 10"/>
          <p:cNvSpPr/>
          <p:nvPr/>
        </p:nvSpPr>
        <p:spPr>
          <a:xfrm>
            <a:off x="6789420" y="1325880"/>
            <a:ext cx="1805940" cy="2560320"/>
          </a:xfrm>
          <a:prstGeom prst="roundRect">
            <a:avLst>
              <a:gd name="adj" fmla="val 6076"/>
            </a:avLst>
          </a:prstGeom>
          <a:solidFill>
            <a:srgbClr val="17131F"/>
          </a:solidFill>
          <a:ln w="12700">
            <a:solidFill>
              <a:srgbClr val="2C2344"/>
            </a:solidFill>
            <a:prstDash val="solid"/>
          </a:ln>
        </p:spPr>
      </p:sp>
      <p:sp>
        <p:nvSpPr>
          <p:cNvPr id="13" name="Text 11"/>
          <p:cNvSpPr txBox="1"/>
          <p:nvPr/>
        </p:nvSpPr>
        <p:spPr>
          <a:xfrm>
            <a:off x="7018020" y="1600200"/>
            <a:ext cx="1348740" cy="822960"/>
          </a:xfrm>
          <a:prstGeom prst="rect">
            <a:avLst/>
          </a:prstGeom>
          <a:noFill/>
          <a:ln/>
        </p:spPr>
        <p:txBody>
          <a:bodyPr wrap="square" lIns="0" tIns="0" rIns="0" bIns="0" rtlCol="0" anchor="t"/>
          <a:lstStyle/>
          <a:p>
            <a:pPr indent="0" marL="0">
              <a:buNone/>
            </a:pPr>
            <a:r>
              <a:rPr lang="en-US" sz="2600" b="1" dirty="0">
                <a:solidFill>
                  <a:srgbClr val="B79CFF"/>
                </a:solidFill>
                <a:latin typeface="Arial" pitchFamily="34" charset="0"/>
                <a:ea typeface="Arial" pitchFamily="34" charset="-122"/>
                <a:cs typeface="Arial" pitchFamily="34" charset="-120"/>
              </a:rPr>
              <a:t>1</a:t>
            </a:r>
            <a:endParaRPr lang="en-US" sz="2600" dirty="0"/>
          </a:p>
        </p:txBody>
      </p:sp>
      <p:sp>
        <p:nvSpPr>
          <p:cNvPr id="14" name="Text 12"/>
          <p:cNvSpPr txBox="1"/>
          <p:nvPr/>
        </p:nvSpPr>
        <p:spPr>
          <a:xfrm>
            <a:off x="7018020" y="2468880"/>
            <a:ext cx="1348740" cy="1188720"/>
          </a:xfrm>
          <a:prstGeom prst="rect">
            <a:avLst/>
          </a:prstGeom>
          <a:noFill/>
          <a:ln/>
        </p:spPr>
        <p:txBody>
          <a:bodyPr wrap="square" lIns="0" tIns="0" rIns="0" bIns="0" rtlCol="0" anchor="t"/>
          <a:lstStyle/>
          <a:p>
            <a:pPr indent="0" marL="0">
              <a:buNone/>
            </a:pPr>
            <a:r>
              <a:rPr lang="en-US" sz="1600" b="1" dirty="0">
                <a:solidFill>
                  <a:srgbClr val="B79CFF"/>
                </a:solidFill>
                <a:latin typeface="Arial" pitchFamily="34" charset="0"/>
                <a:ea typeface="Arial" pitchFamily="34" charset="-122"/>
                <a:cs typeface="Arial" pitchFamily="34" charset="-120"/>
              </a:rPr>
              <a:t>Promise</a:t>
            </a:r>
            <a:pPr indent="0" marL="0">
              <a:buNone/>
            </a:pPr>
            <a:r>
              <a:rPr lang="en-US" sz="1600" dirty="0">
                <a:solidFill>
                  <a:srgbClr val="FFFFFF"/>
                </a:solidFill>
                <a:latin typeface="Arial" pitchFamily="34" charset="0"/>
                <a:ea typeface="Arial" pitchFamily="34" charset="-122"/>
                <a:cs typeface="Arial" pitchFamily="34" charset="-120"/>
              </a:rPr>
              <a:t> you make</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640080" y="320040"/>
            <a:ext cx="7863840" cy="400050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Your headline must </a:t>
            </a:r>
            <a:pPr algn="ctr" indent="0" marL="0">
              <a:buNone/>
            </a:pPr>
            <a:r>
              <a:rPr lang="en-US" sz="3600" b="1" dirty="0">
                <a:solidFill>
                  <a:srgbClr val="B79CFF"/>
                </a:solidFill>
                <a:latin typeface="Arial" pitchFamily="34" charset="0"/>
                <a:ea typeface="Arial" pitchFamily="34" charset="-122"/>
                <a:cs typeface="Arial" pitchFamily="34" charset="-120"/>
              </a:rPr>
              <a:t>call out your ideal student</a:t>
            </a:r>
            <a:pPr algn="ctr" indent="0" marL="0">
              <a:buNone/>
            </a:pPr>
            <a:r>
              <a:rPr lang="en-US" sz="3600" b="1" dirty="0">
                <a:solidFill>
                  <a:srgbClr val="FFFFFF"/>
                </a:solidFill>
                <a:latin typeface="Arial" pitchFamily="34" charset="0"/>
                <a:ea typeface="Arial" pitchFamily="34" charset="-122"/>
                <a:cs typeface="Arial" pitchFamily="34" charset="-120"/>
              </a:rPr>
              <a:t> and name their problem or goal</a:t>
            </a:r>
            <a:endParaRPr lang="en-US" sz="3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365760"/>
            <a:ext cx="80467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Examples…</a:t>
            </a:r>
            <a:endParaRPr lang="en-US" sz="3000" dirty="0"/>
          </a:p>
        </p:txBody>
      </p:sp>
      <p:sp>
        <p:nvSpPr>
          <p:cNvPr id="3" name="Shape 1"/>
          <p:cNvSpPr/>
          <p:nvPr/>
        </p:nvSpPr>
        <p:spPr>
          <a:xfrm>
            <a:off x="548640" y="1234440"/>
            <a:ext cx="8046720" cy="713232"/>
          </a:xfrm>
          <a:prstGeom prst="roundRect">
            <a:avLst>
              <a:gd name="adj" fmla="val 15385"/>
            </a:avLst>
          </a:prstGeom>
          <a:solidFill>
            <a:srgbClr val="17131F"/>
          </a:solidFill>
          <a:ln w="12700">
            <a:solidFill>
              <a:srgbClr val="2C2344"/>
            </a:solidFill>
            <a:prstDash val="solid"/>
          </a:ln>
        </p:spPr>
      </p:sp>
      <p:sp>
        <p:nvSpPr>
          <p:cNvPr id="4" name="Shape 2"/>
          <p:cNvSpPr/>
          <p:nvPr/>
        </p:nvSpPr>
        <p:spPr>
          <a:xfrm>
            <a:off x="713232" y="1399032"/>
            <a:ext cx="384048" cy="384048"/>
          </a:xfrm>
          <a:prstGeom prst="ellipse">
            <a:avLst/>
          </a:prstGeom>
          <a:solidFill>
            <a:srgbClr val="7C3CFF"/>
          </a:solidFill>
          <a:ln w="12700">
            <a:solidFill>
              <a:srgbClr val="7C3CFF"/>
            </a:solidFill>
            <a:prstDash val="solid"/>
          </a:ln>
        </p:spPr>
      </p:sp>
      <p:sp>
        <p:nvSpPr>
          <p:cNvPr id="5" name="Text 3"/>
          <p:cNvSpPr txBox="1"/>
          <p:nvPr/>
        </p:nvSpPr>
        <p:spPr>
          <a:xfrm>
            <a:off x="713232" y="139903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txBox="1"/>
          <p:nvPr/>
        </p:nvSpPr>
        <p:spPr>
          <a:xfrm>
            <a:off x="1280160" y="1234440"/>
            <a:ext cx="7132320" cy="713232"/>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“How busy professionals become </a:t>
            </a:r>
            <a:pPr indent="0" marL="0">
              <a:buNone/>
            </a:pPr>
            <a:r>
              <a:rPr lang="en-US" sz="1800" b="1" dirty="0">
                <a:solidFill>
                  <a:srgbClr val="B79CFF"/>
                </a:solidFill>
                <a:latin typeface="Arial" pitchFamily="34" charset="0"/>
                <a:ea typeface="Arial" pitchFamily="34" charset="-122"/>
                <a:cs typeface="Arial" pitchFamily="34" charset="-120"/>
              </a:rPr>
              <a:t>conversational in Spanish</a:t>
            </a:r>
            <a:pPr indent="0" marL="0">
              <a:buNone/>
            </a:pPr>
            <a:r>
              <a:rPr lang="en-US" sz="1800" dirty="0">
                <a:solidFill>
                  <a:srgbClr val="FFFFFF"/>
                </a:solidFill>
                <a:latin typeface="Arial" pitchFamily="34" charset="0"/>
                <a:ea typeface="Arial" pitchFamily="34" charset="-122"/>
                <a:cs typeface="Arial" pitchFamily="34" charset="-120"/>
              </a:rPr>
              <a:t> in 90 days”</a:t>
            </a:r>
            <a:endParaRPr lang="en-US" sz="1800" dirty="0"/>
          </a:p>
        </p:txBody>
      </p:sp>
      <p:sp>
        <p:nvSpPr>
          <p:cNvPr id="7" name="Shape 5"/>
          <p:cNvSpPr/>
          <p:nvPr/>
        </p:nvSpPr>
        <p:spPr>
          <a:xfrm>
            <a:off x="548640" y="2075688"/>
            <a:ext cx="8046720" cy="713232"/>
          </a:xfrm>
          <a:prstGeom prst="roundRect">
            <a:avLst>
              <a:gd name="adj" fmla="val 15385"/>
            </a:avLst>
          </a:prstGeom>
          <a:solidFill>
            <a:srgbClr val="17131F"/>
          </a:solidFill>
          <a:ln w="12700">
            <a:solidFill>
              <a:srgbClr val="2C2344"/>
            </a:solidFill>
            <a:prstDash val="solid"/>
          </a:ln>
        </p:spPr>
      </p:sp>
      <p:sp>
        <p:nvSpPr>
          <p:cNvPr id="8" name="Shape 6"/>
          <p:cNvSpPr/>
          <p:nvPr/>
        </p:nvSpPr>
        <p:spPr>
          <a:xfrm>
            <a:off x="713232" y="2240280"/>
            <a:ext cx="384048" cy="384048"/>
          </a:xfrm>
          <a:prstGeom prst="ellipse">
            <a:avLst/>
          </a:prstGeom>
          <a:solidFill>
            <a:srgbClr val="7C3CFF"/>
          </a:solidFill>
          <a:ln w="12700">
            <a:solidFill>
              <a:srgbClr val="7C3CFF"/>
            </a:solidFill>
            <a:prstDash val="solid"/>
          </a:ln>
        </p:spPr>
      </p:sp>
      <p:sp>
        <p:nvSpPr>
          <p:cNvPr id="9" name="Text 7"/>
          <p:cNvSpPr txBox="1"/>
          <p:nvPr/>
        </p:nvSpPr>
        <p:spPr>
          <a:xfrm>
            <a:off x="713232" y="22402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0" name="Text 8"/>
          <p:cNvSpPr txBox="1"/>
          <p:nvPr/>
        </p:nvSpPr>
        <p:spPr>
          <a:xfrm>
            <a:off x="1280160" y="2075688"/>
            <a:ext cx="7132320" cy="713232"/>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“The </a:t>
            </a:r>
            <a:pPr indent="0" marL="0">
              <a:buNone/>
            </a:pPr>
            <a:r>
              <a:rPr lang="en-US" sz="1800" b="1" dirty="0">
                <a:solidFill>
                  <a:srgbClr val="B79CFF"/>
                </a:solidFill>
                <a:latin typeface="Arial" pitchFamily="34" charset="0"/>
                <a:ea typeface="Arial" pitchFamily="34" charset="-122"/>
                <a:cs typeface="Arial" pitchFamily="34" charset="-120"/>
              </a:rPr>
              <a:t>SAT prep plan</a:t>
            </a:r>
            <a:pPr indent="0" marL="0">
              <a:buNone/>
            </a:pPr>
            <a:r>
              <a:rPr lang="en-US" sz="1800" dirty="0">
                <a:solidFill>
                  <a:srgbClr val="FFFFFF"/>
                </a:solidFill>
                <a:latin typeface="Arial" pitchFamily="34" charset="0"/>
                <a:ea typeface="Arial" pitchFamily="34" charset="-122"/>
                <a:cs typeface="Arial" pitchFamily="34" charset="-120"/>
              </a:rPr>
              <a:t> that gets students 150+ points higher, without cramming”</a:t>
            </a:r>
            <a:endParaRPr lang="en-US" sz="1800" dirty="0"/>
          </a:p>
        </p:txBody>
      </p:sp>
      <p:sp>
        <p:nvSpPr>
          <p:cNvPr id="11" name="Shape 9"/>
          <p:cNvSpPr/>
          <p:nvPr/>
        </p:nvSpPr>
        <p:spPr>
          <a:xfrm>
            <a:off x="548640" y="2916936"/>
            <a:ext cx="8046720" cy="713232"/>
          </a:xfrm>
          <a:prstGeom prst="roundRect">
            <a:avLst>
              <a:gd name="adj" fmla="val 15385"/>
            </a:avLst>
          </a:prstGeom>
          <a:solidFill>
            <a:srgbClr val="17131F"/>
          </a:solidFill>
          <a:ln w="12700">
            <a:solidFill>
              <a:srgbClr val="2C2344"/>
            </a:solidFill>
            <a:prstDash val="solid"/>
          </a:ln>
        </p:spPr>
      </p:sp>
      <p:sp>
        <p:nvSpPr>
          <p:cNvPr id="12" name="Shape 10"/>
          <p:cNvSpPr/>
          <p:nvPr/>
        </p:nvSpPr>
        <p:spPr>
          <a:xfrm>
            <a:off x="713232" y="3081528"/>
            <a:ext cx="384048" cy="384048"/>
          </a:xfrm>
          <a:prstGeom prst="ellipse">
            <a:avLst/>
          </a:prstGeom>
          <a:solidFill>
            <a:srgbClr val="7C3CFF"/>
          </a:solidFill>
          <a:ln w="12700">
            <a:solidFill>
              <a:srgbClr val="7C3CFF"/>
            </a:solidFill>
            <a:prstDash val="solid"/>
          </a:ln>
        </p:spPr>
      </p:sp>
      <p:sp>
        <p:nvSpPr>
          <p:cNvPr id="13" name="Text 11"/>
          <p:cNvSpPr txBox="1"/>
          <p:nvPr/>
        </p:nvSpPr>
        <p:spPr>
          <a:xfrm>
            <a:off x="713232" y="308152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4" name="Text 12"/>
          <p:cNvSpPr txBox="1"/>
          <p:nvPr/>
        </p:nvSpPr>
        <p:spPr>
          <a:xfrm>
            <a:off x="1280160" y="2916936"/>
            <a:ext cx="7132320" cy="713232"/>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“How tutoring centres fill </a:t>
            </a:r>
            <a:pPr indent="0" marL="0">
              <a:buNone/>
            </a:pPr>
            <a:r>
              <a:rPr lang="en-US" sz="1800" b="1" dirty="0">
                <a:solidFill>
                  <a:srgbClr val="B79CFF"/>
                </a:solidFill>
                <a:latin typeface="Arial" pitchFamily="34" charset="0"/>
                <a:ea typeface="Arial" pitchFamily="34" charset="-122"/>
                <a:cs typeface="Arial" pitchFamily="34" charset="-120"/>
              </a:rPr>
              <a:t>fall enrolment</a:t>
            </a:r>
            <a:pPr indent="0" marL="0">
              <a:buNone/>
            </a:pPr>
            <a:r>
              <a:rPr lang="en-US" sz="1800" dirty="0">
                <a:solidFill>
                  <a:srgbClr val="FFFFFF"/>
                </a:solidFill>
                <a:latin typeface="Arial" pitchFamily="34" charset="0"/>
                <a:ea typeface="Arial" pitchFamily="34" charset="-122"/>
                <a:cs typeface="Arial" pitchFamily="34" charset="-120"/>
              </a:rPr>
              <a:t> in 30 days”</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640080" y="457200"/>
            <a:ext cx="7863840" cy="242316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Your old leads are sitting on </a:t>
            </a:r>
            <a:pPr algn="ctr" indent="0" marL="0">
              <a:buNone/>
            </a:pPr>
            <a:r>
              <a:rPr lang="en-US" sz="3600" b="1" dirty="0">
                <a:solidFill>
                  <a:srgbClr val="B79CFF"/>
                </a:solidFill>
                <a:latin typeface="Arial" pitchFamily="34" charset="0"/>
                <a:ea typeface="Arial" pitchFamily="34" charset="-122"/>
                <a:cs typeface="Arial" pitchFamily="34" charset="-120"/>
              </a:rPr>
              <a:t>money</a:t>
            </a:r>
            <a:endParaRPr lang="en-US" sz="3600" dirty="0"/>
          </a:p>
        </p:txBody>
      </p:sp>
      <p:sp>
        <p:nvSpPr>
          <p:cNvPr id="3" name="Text 1"/>
          <p:cNvSpPr txBox="1"/>
          <p:nvPr/>
        </p:nvSpPr>
        <p:spPr>
          <a:xfrm>
            <a:off x="914400" y="3017520"/>
            <a:ext cx="7315200" cy="1188720"/>
          </a:xfrm>
          <a:prstGeom prst="rect">
            <a:avLst/>
          </a:prstGeom>
          <a:noFill/>
          <a:ln/>
        </p:spPr>
        <p:txBody>
          <a:bodyPr wrap="square" lIns="0" tIns="0" rIns="0" bIns="0" rtlCol="0" anchor="t"/>
          <a:lstStyle/>
          <a:p>
            <a:pPr algn="ctr" indent="0" marL="0">
              <a:buNone/>
            </a:pPr>
            <a:r>
              <a:rPr lang="en-US" sz="1900" dirty="0">
                <a:solidFill>
                  <a:srgbClr val="A6A1B5"/>
                </a:solidFill>
                <a:latin typeface="Arial" pitchFamily="34" charset="0"/>
                <a:ea typeface="Arial" pitchFamily="34" charset="-122"/>
                <a:cs typeface="Arial" pitchFamily="34" charset="-120"/>
              </a:rPr>
              <a:t>While we build, we reactivate your existing database. In most cases that brings 1–3 extra sales in the first two weeks, before a single ad goes live.</a:t>
            </a:r>
            <a:endParaRPr lang="en-US" sz="1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3840480" y="1143000"/>
            <a:ext cx="1463040" cy="365760"/>
          </a:xfrm>
          <a:prstGeom prst="roundRect">
            <a:avLst>
              <a:gd name="adj" fmla="val 50000"/>
            </a:avLst>
          </a:prstGeom>
          <a:solidFill>
            <a:srgbClr val="FFFFFF"/>
          </a:solidFill>
          <a:ln w="12700">
            <a:solidFill>
              <a:srgbClr val="FFFFFF"/>
            </a:solidFill>
            <a:prstDash val="solid"/>
          </a:ln>
        </p:spPr>
      </p:sp>
      <p:sp>
        <p:nvSpPr>
          <p:cNvPr id="3" name="Shape 1"/>
          <p:cNvSpPr/>
          <p:nvPr/>
        </p:nvSpPr>
        <p:spPr>
          <a:xfrm>
            <a:off x="4005072" y="1271016"/>
            <a:ext cx="109728" cy="109728"/>
          </a:xfrm>
          <a:prstGeom prst="ellipse">
            <a:avLst/>
          </a:prstGeom>
          <a:solidFill>
            <a:srgbClr val="7C3CFF"/>
          </a:solidFill>
          <a:ln w="12700">
            <a:solidFill>
              <a:srgbClr val="7C3CFF"/>
            </a:solidFill>
            <a:prstDash val="solid"/>
          </a:ln>
        </p:spPr>
      </p:sp>
      <p:sp>
        <p:nvSpPr>
          <p:cNvPr id="4" name="Text 2"/>
          <p:cNvSpPr txBox="1"/>
          <p:nvPr/>
        </p:nvSpPr>
        <p:spPr>
          <a:xfrm>
            <a:off x="4187952" y="1143000"/>
            <a:ext cx="1005840" cy="365760"/>
          </a:xfrm>
          <a:prstGeom prst="rect">
            <a:avLst/>
          </a:prstGeom>
          <a:noFill/>
          <a:ln/>
        </p:spPr>
        <p:txBody>
          <a:bodyPr wrap="square" lIns="0" tIns="0" rIns="0" bIns="0" rtlCol="0" anchor="ctr"/>
          <a:lstStyle/>
          <a:p>
            <a:pPr indent="0" marL="0">
              <a:buNone/>
            </a:pPr>
            <a:r>
              <a:rPr lang="en-US" sz="1200" b="1" dirty="0">
                <a:solidFill>
                  <a:srgbClr val="15121C"/>
                </a:solidFill>
                <a:latin typeface="Arial" pitchFamily="34" charset="0"/>
                <a:ea typeface="Arial" pitchFamily="34" charset="-122"/>
                <a:cs typeface="Arial" pitchFamily="34" charset="-120"/>
              </a:rPr>
              <a:t>Step 2</a:t>
            </a:r>
            <a:endParaRPr lang="en-US" sz="1200" dirty="0"/>
          </a:p>
        </p:txBody>
      </p:sp>
      <p:sp>
        <p:nvSpPr>
          <p:cNvPr id="5" name="Text 3"/>
          <p:cNvSpPr txBox="1"/>
          <p:nvPr/>
        </p:nvSpPr>
        <p:spPr>
          <a:xfrm>
            <a:off x="640080" y="1737360"/>
            <a:ext cx="7863840" cy="1737360"/>
          </a:xfrm>
          <a:prstGeom prst="rect">
            <a:avLst/>
          </a:prstGeom>
          <a:noFill/>
          <a:ln/>
        </p:spPr>
        <p:txBody>
          <a:bodyPr wrap="square" lIns="0" tIns="0" rIns="0" bIns="0" rtlCol="0" anchor="t"/>
          <a:lstStyle/>
          <a:p>
            <a:pPr algn="ctr" indent="0" marL="0">
              <a:buNone/>
            </a:pPr>
            <a:r>
              <a:rPr lang="en-US" sz="3800" b="1" dirty="0">
                <a:solidFill>
                  <a:srgbClr val="FFFFFF"/>
                </a:solidFill>
                <a:latin typeface="Arial" pitchFamily="34" charset="0"/>
                <a:ea typeface="Arial" pitchFamily="34" charset="-122"/>
                <a:cs typeface="Arial" pitchFamily="34" charset="-120"/>
              </a:rPr>
              <a:t>Facebook &amp; Instagram Ads</a:t>
            </a:r>
            <a:endParaRPr lang="en-US" sz="3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640080" y="457200"/>
            <a:ext cx="7863840" cy="242316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The ad is your </a:t>
            </a:r>
            <a:pPr algn="ctr" indent="0" marL="0">
              <a:buNone/>
            </a:pPr>
            <a:r>
              <a:rPr lang="en-US" sz="3600" b="1" dirty="0">
                <a:solidFill>
                  <a:srgbClr val="B79CFF"/>
                </a:solidFill>
                <a:latin typeface="Arial" pitchFamily="34" charset="0"/>
                <a:ea typeface="Arial" pitchFamily="34" charset="-122"/>
                <a:cs typeface="Arial" pitchFamily="34" charset="-120"/>
              </a:rPr>
              <a:t>first filter</a:t>
            </a:r>
            <a:endParaRPr lang="en-US" sz="3600" dirty="0"/>
          </a:p>
        </p:txBody>
      </p:sp>
      <p:sp>
        <p:nvSpPr>
          <p:cNvPr id="3" name="Text 1"/>
          <p:cNvSpPr txBox="1"/>
          <p:nvPr/>
        </p:nvSpPr>
        <p:spPr>
          <a:xfrm>
            <a:off x="914400" y="3017520"/>
            <a:ext cx="7315200" cy="1188720"/>
          </a:xfrm>
          <a:prstGeom prst="rect">
            <a:avLst/>
          </a:prstGeom>
          <a:noFill/>
          <a:ln/>
        </p:spPr>
        <p:txBody>
          <a:bodyPr wrap="square" lIns="0" tIns="0" rIns="0" bIns="0" rtlCol="0" anchor="t"/>
          <a:lstStyle/>
          <a:p>
            <a:pPr algn="ctr" indent="0" marL="0">
              <a:buNone/>
            </a:pPr>
            <a:r>
              <a:rPr lang="en-US" sz="1900" dirty="0">
                <a:solidFill>
                  <a:srgbClr val="A6A1B5"/>
                </a:solidFill>
                <a:latin typeface="Arial" pitchFamily="34" charset="0"/>
                <a:ea typeface="Arial" pitchFamily="34" charset="-122"/>
                <a:cs typeface="Arial" pitchFamily="34" charset="-120"/>
              </a:rPr>
              <a:t>The copy and targeting should turn away the wrong people and attract the right families and students.</a:t>
            </a:r>
            <a:endParaRPr lang="en-US" sz="1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365760"/>
            <a:ext cx="80467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How we run it…</a:t>
            </a:r>
            <a:endParaRPr lang="en-US" sz="3000" dirty="0"/>
          </a:p>
        </p:txBody>
      </p:sp>
      <p:sp>
        <p:nvSpPr>
          <p:cNvPr id="3" name="Shape 1"/>
          <p:cNvSpPr/>
          <p:nvPr/>
        </p:nvSpPr>
        <p:spPr>
          <a:xfrm>
            <a:off x="548640" y="1234440"/>
            <a:ext cx="8046720" cy="698373"/>
          </a:xfrm>
          <a:prstGeom prst="roundRect">
            <a:avLst>
              <a:gd name="adj" fmla="val 15712"/>
            </a:avLst>
          </a:prstGeom>
          <a:solidFill>
            <a:srgbClr val="17131F"/>
          </a:solidFill>
          <a:ln w="12700">
            <a:solidFill>
              <a:srgbClr val="2C2344"/>
            </a:solidFill>
            <a:prstDash val="solid"/>
          </a:ln>
        </p:spPr>
      </p:sp>
      <p:sp>
        <p:nvSpPr>
          <p:cNvPr id="4" name="Shape 2"/>
          <p:cNvSpPr/>
          <p:nvPr/>
        </p:nvSpPr>
        <p:spPr>
          <a:xfrm>
            <a:off x="713232" y="1391603"/>
            <a:ext cx="384048" cy="384048"/>
          </a:xfrm>
          <a:prstGeom prst="ellipse">
            <a:avLst/>
          </a:prstGeom>
          <a:solidFill>
            <a:srgbClr val="7C3CFF"/>
          </a:solidFill>
          <a:ln w="12700">
            <a:solidFill>
              <a:srgbClr val="7C3CFF"/>
            </a:solidFill>
            <a:prstDash val="solid"/>
          </a:ln>
        </p:spPr>
      </p:sp>
      <p:sp>
        <p:nvSpPr>
          <p:cNvPr id="5" name="Text 3"/>
          <p:cNvSpPr txBox="1"/>
          <p:nvPr/>
        </p:nvSpPr>
        <p:spPr>
          <a:xfrm>
            <a:off x="713232" y="1391603"/>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txBox="1"/>
          <p:nvPr/>
        </p:nvSpPr>
        <p:spPr>
          <a:xfrm>
            <a:off x="1280160" y="1234440"/>
            <a:ext cx="7132320" cy="698373"/>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Launch </a:t>
            </a:r>
            <a:pPr indent="0" marL="0">
              <a:buNone/>
            </a:pPr>
            <a:r>
              <a:rPr lang="en-US" sz="1800" b="1" dirty="0">
                <a:solidFill>
                  <a:srgbClr val="B79CFF"/>
                </a:solidFill>
                <a:latin typeface="Arial" pitchFamily="34" charset="0"/>
                <a:ea typeface="Arial" pitchFamily="34" charset="-122"/>
                <a:cs typeface="Arial" pitchFamily="34" charset="-120"/>
              </a:rPr>
              <a:t>3–10 ad angles</a:t>
            </a:r>
            <a:pPr indent="0" marL="0">
              <a:buNone/>
            </a:pPr>
            <a:r>
              <a:rPr lang="en-US" sz="1800" dirty="0">
                <a:solidFill>
                  <a:srgbClr val="FFFFFF"/>
                </a:solidFill>
                <a:latin typeface="Arial" pitchFamily="34" charset="0"/>
                <a:ea typeface="Arial" pitchFamily="34" charset="-122"/>
                <a:cs typeface="Arial" pitchFamily="34" charset="-120"/>
              </a:rPr>
              <a:t> built from your ideal student's top pain points</a:t>
            </a:r>
            <a:endParaRPr lang="en-US" sz="1800" dirty="0"/>
          </a:p>
        </p:txBody>
      </p:sp>
      <p:sp>
        <p:nvSpPr>
          <p:cNvPr id="7" name="Shape 5"/>
          <p:cNvSpPr/>
          <p:nvPr/>
        </p:nvSpPr>
        <p:spPr>
          <a:xfrm>
            <a:off x="548640" y="2060829"/>
            <a:ext cx="8046720" cy="698373"/>
          </a:xfrm>
          <a:prstGeom prst="roundRect">
            <a:avLst>
              <a:gd name="adj" fmla="val 15712"/>
            </a:avLst>
          </a:prstGeom>
          <a:solidFill>
            <a:srgbClr val="17131F"/>
          </a:solidFill>
          <a:ln w="12700">
            <a:solidFill>
              <a:srgbClr val="2C2344"/>
            </a:solidFill>
            <a:prstDash val="solid"/>
          </a:ln>
        </p:spPr>
      </p:sp>
      <p:sp>
        <p:nvSpPr>
          <p:cNvPr id="8" name="Shape 6"/>
          <p:cNvSpPr/>
          <p:nvPr/>
        </p:nvSpPr>
        <p:spPr>
          <a:xfrm>
            <a:off x="713232" y="2217992"/>
            <a:ext cx="384048" cy="384048"/>
          </a:xfrm>
          <a:prstGeom prst="ellipse">
            <a:avLst/>
          </a:prstGeom>
          <a:solidFill>
            <a:srgbClr val="7C3CFF"/>
          </a:solidFill>
          <a:ln w="12700">
            <a:solidFill>
              <a:srgbClr val="7C3CFF"/>
            </a:solidFill>
            <a:prstDash val="solid"/>
          </a:ln>
        </p:spPr>
      </p:sp>
      <p:sp>
        <p:nvSpPr>
          <p:cNvPr id="9" name="Text 7"/>
          <p:cNvSpPr txBox="1"/>
          <p:nvPr/>
        </p:nvSpPr>
        <p:spPr>
          <a:xfrm>
            <a:off x="713232" y="22179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0" name="Text 8"/>
          <p:cNvSpPr txBox="1"/>
          <p:nvPr/>
        </p:nvSpPr>
        <p:spPr>
          <a:xfrm>
            <a:off x="1280160" y="2060829"/>
            <a:ext cx="7132320" cy="698373"/>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Start at </a:t>
            </a:r>
            <a:pPr indent="0" marL="0">
              <a:buNone/>
            </a:pPr>
            <a:r>
              <a:rPr lang="en-US" sz="1800" b="1" dirty="0">
                <a:solidFill>
                  <a:srgbClr val="B79CFF"/>
                </a:solidFill>
                <a:latin typeface="Arial" pitchFamily="34" charset="0"/>
                <a:ea typeface="Arial" pitchFamily="34" charset="-122"/>
                <a:cs typeface="Arial" pitchFamily="34" charset="-120"/>
              </a:rPr>
              <a:t>$100+/day</a:t>
            </a:r>
            <a:pPr indent="0" marL="0">
              <a:buNone/>
            </a:pPr>
            <a:r>
              <a:rPr lang="en-US" sz="1800" dirty="0">
                <a:solidFill>
                  <a:srgbClr val="FFFFFF"/>
                </a:solidFill>
                <a:latin typeface="Arial" pitchFamily="34" charset="0"/>
                <a:ea typeface="Arial" pitchFamily="34" charset="-122"/>
                <a:cs typeface="Arial" pitchFamily="34" charset="-120"/>
              </a:rPr>
              <a:t> in ad spend</a:t>
            </a:r>
            <a:endParaRPr lang="en-US" sz="1800" dirty="0"/>
          </a:p>
        </p:txBody>
      </p:sp>
      <p:sp>
        <p:nvSpPr>
          <p:cNvPr id="11" name="Shape 9"/>
          <p:cNvSpPr/>
          <p:nvPr/>
        </p:nvSpPr>
        <p:spPr>
          <a:xfrm>
            <a:off x="548640" y="2887218"/>
            <a:ext cx="8046720" cy="698373"/>
          </a:xfrm>
          <a:prstGeom prst="roundRect">
            <a:avLst>
              <a:gd name="adj" fmla="val 15712"/>
            </a:avLst>
          </a:prstGeom>
          <a:solidFill>
            <a:srgbClr val="17131F"/>
          </a:solidFill>
          <a:ln w="12700">
            <a:solidFill>
              <a:srgbClr val="2C2344"/>
            </a:solidFill>
            <a:prstDash val="solid"/>
          </a:ln>
        </p:spPr>
      </p:sp>
      <p:sp>
        <p:nvSpPr>
          <p:cNvPr id="12" name="Shape 10"/>
          <p:cNvSpPr/>
          <p:nvPr/>
        </p:nvSpPr>
        <p:spPr>
          <a:xfrm>
            <a:off x="713232" y="3044381"/>
            <a:ext cx="384048" cy="384048"/>
          </a:xfrm>
          <a:prstGeom prst="ellipse">
            <a:avLst/>
          </a:prstGeom>
          <a:solidFill>
            <a:srgbClr val="7C3CFF"/>
          </a:solidFill>
          <a:ln w="12700">
            <a:solidFill>
              <a:srgbClr val="7C3CFF"/>
            </a:solidFill>
            <a:prstDash val="solid"/>
          </a:ln>
        </p:spPr>
      </p:sp>
      <p:sp>
        <p:nvSpPr>
          <p:cNvPr id="13" name="Text 11"/>
          <p:cNvSpPr txBox="1"/>
          <p:nvPr/>
        </p:nvSpPr>
        <p:spPr>
          <a:xfrm>
            <a:off x="713232" y="3044381"/>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4" name="Text 12"/>
          <p:cNvSpPr txBox="1"/>
          <p:nvPr/>
        </p:nvSpPr>
        <p:spPr>
          <a:xfrm>
            <a:off x="1280160" y="2887218"/>
            <a:ext cx="7132320" cy="698373"/>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Track </a:t>
            </a:r>
            <a:pPr indent="0" marL="0">
              <a:buNone/>
            </a:pPr>
            <a:r>
              <a:rPr lang="en-US" sz="1800" b="1" dirty="0">
                <a:solidFill>
                  <a:srgbClr val="B79CFF"/>
                </a:solidFill>
                <a:latin typeface="Arial" pitchFamily="34" charset="0"/>
                <a:ea typeface="Arial" pitchFamily="34" charset="-122"/>
                <a:cs typeface="Arial" pitchFamily="34" charset="-120"/>
              </a:rPr>
              <a:t>cost per lead, cost per booked call</a:t>
            </a:r>
            <a:pPr indent="0" marL="0">
              <a:buNone/>
            </a:pPr>
            <a:r>
              <a:rPr lang="en-US" sz="1800" dirty="0">
                <a:solidFill>
                  <a:srgbClr val="FFFFFF"/>
                </a:solidFill>
                <a:latin typeface="Arial" pitchFamily="34" charset="0"/>
                <a:ea typeface="Arial" pitchFamily="34" charset="-122"/>
                <a:cs typeface="Arial" pitchFamily="34" charset="-120"/>
              </a:rPr>
              <a:t> and lead quality from day one</a:t>
            </a:r>
            <a:endParaRPr lang="en-US" sz="1800" dirty="0"/>
          </a:p>
        </p:txBody>
      </p:sp>
      <p:sp>
        <p:nvSpPr>
          <p:cNvPr id="15" name="Shape 13"/>
          <p:cNvSpPr/>
          <p:nvPr/>
        </p:nvSpPr>
        <p:spPr>
          <a:xfrm>
            <a:off x="548640" y="3713607"/>
            <a:ext cx="8046720" cy="698373"/>
          </a:xfrm>
          <a:prstGeom prst="roundRect">
            <a:avLst>
              <a:gd name="adj" fmla="val 15712"/>
            </a:avLst>
          </a:prstGeom>
          <a:solidFill>
            <a:srgbClr val="17131F"/>
          </a:solidFill>
          <a:ln w="12700">
            <a:solidFill>
              <a:srgbClr val="2C2344"/>
            </a:solidFill>
            <a:prstDash val="solid"/>
          </a:ln>
        </p:spPr>
      </p:sp>
      <p:sp>
        <p:nvSpPr>
          <p:cNvPr id="16" name="Shape 14"/>
          <p:cNvSpPr/>
          <p:nvPr/>
        </p:nvSpPr>
        <p:spPr>
          <a:xfrm>
            <a:off x="713232" y="3870769"/>
            <a:ext cx="384048" cy="384048"/>
          </a:xfrm>
          <a:prstGeom prst="ellipse">
            <a:avLst/>
          </a:prstGeom>
          <a:solidFill>
            <a:srgbClr val="7C3CFF"/>
          </a:solidFill>
          <a:ln w="12700">
            <a:solidFill>
              <a:srgbClr val="7C3CFF"/>
            </a:solidFill>
            <a:prstDash val="solid"/>
          </a:ln>
        </p:spPr>
      </p:sp>
      <p:sp>
        <p:nvSpPr>
          <p:cNvPr id="17" name="Text 15"/>
          <p:cNvSpPr txBox="1"/>
          <p:nvPr/>
        </p:nvSpPr>
        <p:spPr>
          <a:xfrm>
            <a:off x="713232" y="3870769"/>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8" name="Text 16"/>
          <p:cNvSpPr txBox="1"/>
          <p:nvPr/>
        </p:nvSpPr>
        <p:spPr>
          <a:xfrm>
            <a:off x="1280160" y="3713607"/>
            <a:ext cx="7132320" cy="698373"/>
          </a:xfrm>
          <a:prstGeom prst="rect">
            <a:avLst/>
          </a:prstGeom>
          <a:noFill/>
          <a:ln/>
        </p:spPr>
        <p:txBody>
          <a:bodyPr wrap="square" lIns="0" tIns="0" rIns="0" bIns="0" rtlCol="0" anchor="ctr"/>
          <a:lstStyle/>
          <a:p>
            <a:pPr indent="0" marL="0">
              <a:buNone/>
            </a:pPr>
            <a:r>
              <a:rPr lang="en-US" sz="1800" b="1" dirty="0">
                <a:solidFill>
                  <a:srgbClr val="B79CFF"/>
                </a:solidFill>
                <a:latin typeface="Arial" pitchFamily="34" charset="0"/>
                <a:ea typeface="Arial" pitchFamily="34" charset="-122"/>
                <a:cs typeface="Arial" pitchFamily="34" charset="-120"/>
              </a:rPr>
              <a:t>Kill</a:t>
            </a:r>
            <a:pPr indent="0" marL="0">
              <a:buNone/>
            </a:pPr>
            <a:r>
              <a:rPr lang="en-US" sz="1800" dirty="0">
                <a:solidFill>
                  <a:srgbClr val="FFFFFF"/>
                </a:solidFill>
                <a:latin typeface="Arial" pitchFamily="34" charset="0"/>
                <a:ea typeface="Arial" pitchFamily="34" charset="-122"/>
                <a:cs typeface="Arial" pitchFamily="34" charset="-120"/>
              </a:rPr>
              <a:t> what isn't working, </a:t>
            </a:r>
            <a:pPr indent="0" marL="0">
              <a:buNone/>
            </a:pPr>
            <a:r>
              <a:rPr lang="en-US" sz="1800" b="1" dirty="0">
                <a:solidFill>
                  <a:srgbClr val="B79CFF"/>
                </a:solidFill>
                <a:latin typeface="Arial" pitchFamily="34" charset="0"/>
                <a:ea typeface="Arial" pitchFamily="34" charset="-122"/>
                <a:cs typeface="Arial" pitchFamily="34" charset="-120"/>
              </a:rPr>
              <a:t>scale</a:t>
            </a:r>
            <a:pPr indent="0" marL="0">
              <a:buNone/>
            </a:pPr>
            <a:r>
              <a:rPr lang="en-US" sz="1800" dirty="0">
                <a:solidFill>
                  <a:srgbClr val="FFFFFF"/>
                </a:solidFill>
                <a:latin typeface="Arial" pitchFamily="34" charset="0"/>
                <a:ea typeface="Arial" pitchFamily="34" charset="-122"/>
                <a:cs typeface="Arial" pitchFamily="34" charset="-120"/>
              </a:rPr>
              <a:t> what is</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3840480" y="1143000"/>
            <a:ext cx="1463040" cy="365760"/>
          </a:xfrm>
          <a:prstGeom prst="roundRect">
            <a:avLst>
              <a:gd name="adj" fmla="val 50000"/>
            </a:avLst>
          </a:prstGeom>
          <a:solidFill>
            <a:srgbClr val="FFFFFF"/>
          </a:solidFill>
          <a:ln w="12700">
            <a:solidFill>
              <a:srgbClr val="FFFFFF"/>
            </a:solidFill>
            <a:prstDash val="solid"/>
          </a:ln>
        </p:spPr>
      </p:sp>
      <p:sp>
        <p:nvSpPr>
          <p:cNvPr id="3" name="Shape 1"/>
          <p:cNvSpPr/>
          <p:nvPr/>
        </p:nvSpPr>
        <p:spPr>
          <a:xfrm>
            <a:off x="4005072" y="1271016"/>
            <a:ext cx="109728" cy="109728"/>
          </a:xfrm>
          <a:prstGeom prst="ellipse">
            <a:avLst/>
          </a:prstGeom>
          <a:solidFill>
            <a:srgbClr val="7C3CFF"/>
          </a:solidFill>
          <a:ln w="12700">
            <a:solidFill>
              <a:srgbClr val="7C3CFF"/>
            </a:solidFill>
            <a:prstDash val="solid"/>
          </a:ln>
        </p:spPr>
      </p:sp>
      <p:sp>
        <p:nvSpPr>
          <p:cNvPr id="4" name="Text 2"/>
          <p:cNvSpPr txBox="1"/>
          <p:nvPr/>
        </p:nvSpPr>
        <p:spPr>
          <a:xfrm>
            <a:off x="4187952" y="1143000"/>
            <a:ext cx="1005840" cy="365760"/>
          </a:xfrm>
          <a:prstGeom prst="rect">
            <a:avLst/>
          </a:prstGeom>
          <a:noFill/>
          <a:ln/>
        </p:spPr>
        <p:txBody>
          <a:bodyPr wrap="square" lIns="0" tIns="0" rIns="0" bIns="0" rtlCol="0" anchor="ctr"/>
          <a:lstStyle/>
          <a:p>
            <a:pPr indent="0" marL="0">
              <a:buNone/>
            </a:pPr>
            <a:r>
              <a:rPr lang="en-US" sz="1200" b="1" dirty="0">
                <a:solidFill>
                  <a:srgbClr val="15121C"/>
                </a:solidFill>
                <a:latin typeface="Arial" pitchFamily="34" charset="0"/>
                <a:ea typeface="Arial" pitchFamily="34" charset="-122"/>
                <a:cs typeface="Arial" pitchFamily="34" charset="-120"/>
              </a:rPr>
              <a:t>Step 3</a:t>
            </a:r>
            <a:endParaRPr lang="en-US" sz="1200" dirty="0"/>
          </a:p>
        </p:txBody>
      </p:sp>
      <p:sp>
        <p:nvSpPr>
          <p:cNvPr id="5" name="Text 3"/>
          <p:cNvSpPr txBox="1"/>
          <p:nvPr/>
        </p:nvSpPr>
        <p:spPr>
          <a:xfrm>
            <a:off x="640080" y="1737360"/>
            <a:ext cx="7863840" cy="1737360"/>
          </a:xfrm>
          <a:prstGeom prst="rect">
            <a:avLst/>
          </a:prstGeom>
          <a:noFill/>
          <a:ln/>
        </p:spPr>
        <p:txBody>
          <a:bodyPr wrap="square" lIns="0" tIns="0" rIns="0" bIns="0" rtlCol="0" anchor="t"/>
          <a:lstStyle/>
          <a:p>
            <a:pPr algn="ctr" indent="0" marL="0">
              <a:buNone/>
            </a:pPr>
            <a:r>
              <a:rPr lang="en-US" sz="3800" b="1" dirty="0">
                <a:solidFill>
                  <a:srgbClr val="FFFFFF"/>
                </a:solidFill>
                <a:latin typeface="Arial" pitchFamily="34" charset="0"/>
                <a:ea typeface="Arial" pitchFamily="34" charset="-122"/>
                <a:cs typeface="Arial" pitchFamily="34" charset="-120"/>
              </a:rPr>
              <a:t>Lead Qualification</a:t>
            </a:r>
            <a:endParaRPr lang="en-US" sz="3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48640" y="365760"/>
            <a:ext cx="80467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Two layers of filtering</a:t>
            </a:r>
            <a:endParaRPr lang="en-US" sz="3000" dirty="0"/>
          </a:p>
        </p:txBody>
      </p:sp>
      <p:sp>
        <p:nvSpPr>
          <p:cNvPr id="3" name="Shape 1"/>
          <p:cNvSpPr/>
          <p:nvPr/>
        </p:nvSpPr>
        <p:spPr>
          <a:xfrm>
            <a:off x="548640" y="1463040"/>
            <a:ext cx="2511552" cy="1600200"/>
          </a:xfrm>
          <a:prstGeom prst="roundRect">
            <a:avLst>
              <a:gd name="adj" fmla="val 6857"/>
            </a:avLst>
          </a:prstGeom>
          <a:solidFill>
            <a:srgbClr val="17131F"/>
          </a:solidFill>
          <a:ln w="12700">
            <a:solidFill>
              <a:srgbClr val="2C2344"/>
            </a:solidFill>
            <a:prstDash val="solid"/>
          </a:ln>
        </p:spPr>
      </p:sp>
      <p:sp>
        <p:nvSpPr>
          <p:cNvPr id="4" name="Text 2"/>
          <p:cNvSpPr txBox="1"/>
          <p:nvPr/>
        </p:nvSpPr>
        <p:spPr>
          <a:xfrm>
            <a:off x="621792" y="1600200"/>
            <a:ext cx="2365248"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Layer 1: The Ad</a:t>
            </a:r>
            <a:endParaRPr lang="en-US" sz="1300" dirty="0"/>
          </a:p>
        </p:txBody>
      </p:sp>
      <p:sp>
        <p:nvSpPr>
          <p:cNvPr id="5" name="Text 3"/>
          <p:cNvSpPr txBox="1"/>
          <p:nvPr/>
        </p:nvSpPr>
        <p:spPr>
          <a:xfrm>
            <a:off x="621792" y="2194560"/>
            <a:ext cx="2365248" cy="777240"/>
          </a:xfrm>
          <a:prstGeom prst="rect">
            <a:avLst/>
          </a:prstGeom>
          <a:noFill/>
          <a:ln/>
        </p:spPr>
        <p:txBody>
          <a:bodyPr wrap="square" lIns="0" tIns="0" rIns="0" bIns="0" rtlCol="0" anchor="t"/>
          <a:lstStyle/>
          <a:p>
            <a:pPr algn="ctr" indent="0" marL="0">
              <a:buNone/>
            </a:pPr>
            <a:r>
              <a:rPr lang="en-US" sz="1150" dirty="0">
                <a:solidFill>
                  <a:srgbClr val="A6A1B5"/>
                </a:solidFill>
                <a:latin typeface="Arial" pitchFamily="34" charset="0"/>
                <a:ea typeface="Arial" pitchFamily="34" charset="-122"/>
                <a:cs typeface="Arial" pitchFamily="34" charset="-120"/>
              </a:rPr>
              <a:t>Targeting + messaging repel the wrong people</a:t>
            </a:r>
            <a:endParaRPr lang="en-US" sz="1150" dirty="0"/>
          </a:p>
        </p:txBody>
      </p:sp>
      <p:sp>
        <p:nvSpPr>
          <p:cNvPr id="6" name="Text 4"/>
          <p:cNvSpPr txBox="1"/>
          <p:nvPr/>
        </p:nvSpPr>
        <p:spPr>
          <a:xfrm>
            <a:off x="3060192" y="2034540"/>
            <a:ext cx="256032" cy="457200"/>
          </a:xfrm>
          <a:prstGeom prst="rect">
            <a:avLst/>
          </a:prstGeom>
          <a:noFill/>
          <a:ln/>
        </p:spPr>
        <p:txBody>
          <a:bodyPr wrap="square" lIns="0" tIns="0" rIns="0" bIns="0" rtlCol="0" anchor="ctr"/>
          <a:lstStyle/>
          <a:p>
            <a:pPr algn="ctr" indent="0" marL="0">
              <a:buNone/>
            </a:pPr>
            <a:r>
              <a:rPr lang="en-US" sz="1800" b="1" dirty="0">
                <a:solidFill>
                  <a:srgbClr val="B79CFF"/>
                </a:solidFill>
                <a:latin typeface="Arial" pitchFamily="34" charset="0"/>
                <a:ea typeface="Arial" pitchFamily="34" charset="-122"/>
                <a:cs typeface="Arial" pitchFamily="34" charset="-120"/>
              </a:rPr>
              <a:t>→</a:t>
            </a:r>
            <a:endParaRPr lang="en-US" sz="1800" dirty="0"/>
          </a:p>
        </p:txBody>
      </p:sp>
      <p:sp>
        <p:nvSpPr>
          <p:cNvPr id="7" name="Shape 5"/>
          <p:cNvSpPr/>
          <p:nvPr/>
        </p:nvSpPr>
        <p:spPr>
          <a:xfrm>
            <a:off x="3316224" y="1463040"/>
            <a:ext cx="2511552" cy="1600200"/>
          </a:xfrm>
          <a:prstGeom prst="roundRect">
            <a:avLst>
              <a:gd name="adj" fmla="val 6857"/>
            </a:avLst>
          </a:prstGeom>
          <a:solidFill>
            <a:srgbClr val="17131F"/>
          </a:solidFill>
          <a:ln w="12700">
            <a:solidFill>
              <a:srgbClr val="2C2344"/>
            </a:solidFill>
            <a:prstDash val="solid"/>
          </a:ln>
        </p:spPr>
      </p:sp>
      <p:sp>
        <p:nvSpPr>
          <p:cNvPr id="8" name="Text 6"/>
          <p:cNvSpPr txBox="1"/>
          <p:nvPr/>
        </p:nvSpPr>
        <p:spPr>
          <a:xfrm>
            <a:off x="3389376" y="1600200"/>
            <a:ext cx="2365248"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Layer 2: The Form</a:t>
            </a:r>
            <a:endParaRPr lang="en-US" sz="1300" dirty="0"/>
          </a:p>
        </p:txBody>
      </p:sp>
      <p:sp>
        <p:nvSpPr>
          <p:cNvPr id="9" name="Text 7"/>
          <p:cNvSpPr txBox="1"/>
          <p:nvPr/>
        </p:nvSpPr>
        <p:spPr>
          <a:xfrm>
            <a:off x="3389376" y="2194560"/>
            <a:ext cx="2365248" cy="777240"/>
          </a:xfrm>
          <a:prstGeom prst="rect">
            <a:avLst/>
          </a:prstGeom>
          <a:noFill/>
          <a:ln/>
        </p:spPr>
        <p:txBody>
          <a:bodyPr wrap="square" lIns="0" tIns="0" rIns="0" bIns="0" rtlCol="0" anchor="t"/>
          <a:lstStyle/>
          <a:p>
            <a:pPr algn="ctr" indent="0" marL="0">
              <a:buNone/>
            </a:pPr>
            <a:r>
              <a:rPr lang="en-US" sz="1150" dirty="0">
                <a:solidFill>
                  <a:srgbClr val="A6A1B5"/>
                </a:solidFill>
                <a:latin typeface="Arial" pitchFamily="34" charset="0"/>
                <a:ea typeface="Arial" pitchFamily="34" charset="-122"/>
                <a:cs typeface="Arial" pitchFamily="34" charset="-120"/>
              </a:rPr>
              <a:t>Questions screen for budget, intent &amp; fit</a:t>
            </a:r>
            <a:endParaRPr lang="en-US" sz="1150" dirty="0"/>
          </a:p>
        </p:txBody>
      </p:sp>
      <p:sp>
        <p:nvSpPr>
          <p:cNvPr id="10" name="Text 8"/>
          <p:cNvSpPr txBox="1"/>
          <p:nvPr/>
        </p:nvSpPr>
        <p:spPr>
          <a:xfrm>
            <a:off x="5827776" y="2034540"/>
            <a:ext cx="256032" cy="457200"/>
          </a:xfrm>
          <a:prstGeom prst="rect">
            <a:avLst/>
          </a:prstGeom>
          <a:noFill/>
          <a:ln/>
        </p:spPr>
        <p:txBody>
          <a:bodyPr wrap="square" lIns="0" tIns="0" rIns="0" bIns="0" rtlCol="0" anchor="ctr"/>
          <a:lstStyle/>
          <a:p>
            <a:pPr algn="ctr" indent="0" marL="0">
              <a:buNone/>
            </a:pPr>
            <a:r>
              <a:rPr lang="en-US" sz="1800" b="1" dirty="0">
                <a:solidFill>
                  <a:srgbClr val="B79CFF"/>
                </a:solidFill>
                <a:latin typeface="Arial" pitchFamily="34" charset="0"/>
                <a:ea typeface="Arial" pitchFamily="34" charset="-122"/>
                <a:cs typeface="Arial" pitchFamily="34" charset="-120"/>
              </a:rPr>
              <a:t>→</a:t>
            </a:r>
            <a:endParaRPr lang="en-US" sz="1800" dirty="0"/>
          </a:p>
        </p:txBody>
      </p:sp>
      <p:sp>
        <p:nvSpPr>
          <p:cNvPr id="11" name="Shape 9"/>
          <p:cNvSpPr/>
          <p:nvPr/>
        </p:nvSpPr>
        <p:spPr>
          <a:xfrm>
            <a:off x="6083808" y="1463040"/>
            <a:ext cx="2511552" cy="1600200"/>
          </a:xfrm>
          <a:prstGeom prst="roundRect">
            <a:avLst>
              <a:gd name="adj" fmla="val 6857"/>
            </a:avLst>
          </a:prstGeom>
          <a:solidFill>
            <a:srgbClr val="7C3CFF"/>
          </a:solidFill>
          <a:ln w="12700">
            <a:solidFill>
              <a:srgbClr val="7C3CFF"/>
            </a:solidFill>
            <a:prstDash val="solid"/>
          </a:ln>
        </p:spPr>
      </p:sp>
      <p:sp>
        <p:nvSpPr>
          <p:cNvPr id="12" name="Text 10"/>
          <p:cNvSpPr txBox="1"/>
          <p:nvPr/>
        </p:nvSpPr>
        <p:spPr>
          <a:xfrm>
            <a:off x="6156960" y="1600200"/>
            <a:ext cx="2365248"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Your Calendar</a:t>
            </a:r>
            <a:endParaRPr lang="en-US" sz="1300" dirty="0"/>
          </a:p>
        </p:txBody>
      </p:sp>
      <p:sp>
        <p:nvSpPr>
          <p:cNvPr id="13" name="Text 11"/>
          <p:cNvSpPr txBox="1"/>
          <p:nvPr/>
        </p:nvSpPr>
        <p:spPr>
          <a:xfrm>
            <a:off x="6156960" y="2194560"/>
            <a:ext cx="2365248" cy="777240"/>
          </a:xfrm>
          <a:prstGeom prst="rect">
            <a:avLst/>
          </a:prstGeom>
          <a:noFill/>
          <a:ln/>
        </p:spPr>
        <p:txBody>
          <a:bodyPr wrap="square" lIns="0" tIns="0" rIns="0" bIns="0" rtlCol="0" anchor="t"/>
          <a:lstStyle/>
          <a:p>
            <a:pPr algn="ctr" indent="0" marL="0">
              <a:buNone/>
            </a:pPr>
            <a:r>
              <a:rPr lang="en-US" sz="1150" dirty="0">
                <a:solidFill>
                  <a:srgbClr val="EDE6FF"/>
                </a:solidFill>
                <a:latin typeface="Arial" pitchFamily="34" charset="0"/>
                <a:ea typeface="Arial" pitchFamily="34" charset="-122"/>
                <a:cs typeface="Arial" pitchFamily="34" charset="-120"/>
              </a:rPr>
              <a:t>Only people who pass both can book</a:t>
            </a:r>
            <a:endParaRPr lang="en-US" sz="1150" dirty="0"/>
          </a:p>
        </p:txBody>
      </p:sp>
      <p:sp>
        <p:nvSpPr>
          <p:cNvPr id="14" name="Text 12"/>
          <p:cNvSpPr txBox="1"/>
          <p:nvPr/>
        </p:nvSpPr>
        <p:spPr>
          <a:xfrm>
            <a:off x="548640" y="3383280"/>
            <a:ext cx="8046720" cy="548640"/>
          </a:xfrm>
          <a:prstGeom prst="rect">
            <a:avLst/>
          </a:prstGeom>
          <a:noFill/>
          <a:ln/>
        </p:spPr>
        <p:txBody>
          <a:bodyPr wrap="square" lIns="0" tIns="0" rIns="0" bIns="0" rtlCol="0" anchor="ctr"/>
          <a:lstStyle/>
          <a:p>
            <a:pPr algn="ctr" indent="0" marL="0">
              <a:buNone/>
            </a:pPr>
            <a:r>
              <a:rPr lang="en-US" sz="1600" dirty="0">
                <a:solidFill>
                  <a:srgbClr val="A6A1B5"/>
                </a:solidFill>
                <a:latin typeface="Arial" pitchFamily="34" charset="0"/>
                <a:ea typeface="Arial" pitchFamily="34" charset="-122"/>
                <a:cs typeface="Arial" pitchFamily="34" charset="-120"/>
              </a:rPr>
              <a:t>Your time is protected and your </a:t>
            </a:r>
            <a:pPr algn="ctr" indent="0" marL="0">
              <a:buNone/>
            </a:pPr>
            <a:r>
              <a:rPr lang="en-US" sz="1600" b="1" dirty="0">
                <a:solidFill>
                  <a:srgbClr val="B79CFF"/>
                </a:solidFill>
                <a:latin typeface="Arial" pitchFamily="34" charset="0"/>
                <a:ea typeface="Arial" pitchFamily="34" charset="-122"/>
                <a:cs typeface="Arial" pitchFamily="34" charset="-120"/>
              </a:rPr>
              <a:t>close rate goes up</a:t>
            </a:r>
            <a:pPr algn="ctr" indent="0" marL="0">
              <a:buNone/>
            </a:pPr>
            <a:r>
              <a:rPr lang="en-US" sz="1600" dirty="0">
                <a:solidFill>
                  <a:srgbClr val="A6A1B5"/>
                </a:solidFill>
                <a:latin typeface="Arial" pitchFamily="34" charset="0"/>
                <a:ea typeface="Arial" pitchFamily="34" charset="-122"/>
                <a:cs typeface="Arial" pitchFamily="34" charset="-120"/>
              </a:rPr>
              <a:t>.</a:t>
            </a:r>
            <a:endParaRPr lang="en-US" sz="16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640080" y="457200"/>
            <a:ext cx="7863840" cy="242316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Pro tip: qualify enough… but </a:t>
            </a:r>
            <a:pPr algn="ctr" indent="0" marL="0">
              <a:buNone/>
            </a:pPr>
            <a:r>
              <a:rPr lang="en-US" sz="3600" b="1" dirty="0">
                <a:solidFill>
                  <a:srgbClr val="B79CFF"/>
                </a:solidFill>
                <a:latin typeface="Arial" pitchFamily="34" charset="0"/>
                <a:ea typeface="Arial" pitchFamily="34" charset="-122"/>
                <a:cs typeface="Arial" pitchFamily="34" charset="-120"/>
              </a:rPr>
              <a:t>not too much</a:t>
            </a:r>
            <a:endParaRPr lang="en-US" sz="3600" dirty="0"/>
          </a:p>
        </p:txBody>
      </p:sp>
      <p:sp>
        <p:nvSpPr>
          <p:cNvPr id="3" name="Text 1"/>
          <p:cNvSpPr txBox="1"/>
          <p:nvPr/>
        </p:nvSpPr>
        <p:spPr>
          <a:xfrm>
            <a:off x="914400" y="3017520"/>
            <a:ext cx="7315200" cy="1188720"/>
          </a:xfrm>
          <a:prstGeom prst="rect">
            <a:avLst/>
          </a:prstGeom>
          <a:noFill/>
          <a:ln/>
        </p:spPr>
        <p:txBody>
          <a:bodyPr wrap="square" lIns="0" tIns="0" rIns="0" bIns="0" rtlCol="0" anchor="t"/>
          <a:lstStyle/>
          <a:p>
            <a:pPr algn="ctr" indent="0" marL="0">
              <a:buNone/>
            </a:pPr>
            <a:r>
              <a:rPr lang="en-US" sz="1900" dirty="0">
                <a:solidFill>
                  <a:srgbClr val="A6A1B5"/>
                </a:solidFill>
                <a:latin typeface="Arial" pitchFamily="34" charset="0"/>
                <a:ea typeface="Arial" pitchFamily="34" charset="-122"/>
                <a:cs typeface="Arial" pitchFamily="34" charset="-120"/>
              </a:rPr>
              <a:t>Too many questions cause a big drop-off. Keep only the ones that decide fit.</a:t>
            </a:r>
            <a:endParaRPr lang="en-US" sz="1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Shape 0"/>
          <p:cNvSpPr/>
          <p:nvPr/>
        </p:nvSpPr>
        <p:spPr>
          <a:xfrm>
            <a:off x="3840480" y="1143000"/>
            <a:ext cx="1463040" cy="365760"/>
          </a:xfrm>
          <a:prstGeom prst="roundRect">
            <a:avLst>
              <a:gd name="adj" fmla="val 50000"/>
            </a:avLst>
          </a:prstGeom>
          <a:solidFill>
            <a:srgbClr val="FFFFFF"/>
          </a:solidFill>
          <a:ln w="12700">
            <a:solidFill>
              <a:srgbClr val="FFFFFF"/>
            </a:solidFill>
            <a:prstDash val="solid"/>
          </a:ln>
        </p:spPr>
      </p:sp>
      <p:sp>
        <p:nvSpPr>
          <p:cNvPr id="3" name="Shape 1"/>
          <p:cNvSpPr/>
          <p:nvPr/>
        </p:nvSpPr>
        <p:spPr>
          <a:xfrm>
            <a:off x="4005072" y="1271016"/>
            <a:ext cx="109728" cy="109728"/>
          </a:xfrm>
          <a:prstGeom prst="ellipse">
            <a:avLst/>
          </a:prstGeom>
          <a:solidFill>
            <a:srgbClr val="7C3CFF"/>
          </a:solidFill>
          <a:ln w="12700">
            <a:solidFill>
              <a:srgbClr val="7C3CFF"/>
            </a:solidFill>
            <a:prstDash val="solid"/>
          </a:ln>
        </p:spPr>
      </p:sp>
      <p:sp>
        <p:nvSpPr>
          <p:cNvPr id="4" name="Text 2"/>
          <p:cNvSpPr txBox="1"/>
          <p:nvPr/>
        </p:nvSpPr>
        <p:spPr>
          <a:xfrm>
            <a:off x="4187952" y="1143000"/>
            <a:ext cx="1005840" cy="365760"/>
          </a:xfrm>
          <a:prstGeom prst="rect">
            <a:avLst/>
          </a:prstGeom>
          <a:noFill/>
          <a:ln/>
        </p:spPr>
        <p:txBody>
          <a:bodyPr wrap="square" lIns="0" tIns="0" rIns="0" bIns="0" rtlCol="0" anchor="ctr"/>
          <a:lstStyle/>
          <a:p>
            <a:pPr indent="0" marL="0">
              <a:buNone/>
            </a:pPr>
            <a:r>
              <a:rPr lang="en-US" sz="1200" b="1" dirty="0">
                <a:solidFill>
                  <a:srgbClr val="15121C"/>
                </a:solidFill>
                <a:latin typeface="Arial" pitchFamily="34" charset="0"/>
                <a:ea typeface="Arial" pitchFamily="34" charset="-122"/>
                <a:cs typeface="Arial" pitchFamily="34" charset="-120"/>
              </a:rPr>
              <a:t>Step 4</a:t>
            </a:r>
            <a:endParaRPr lang="en-US" sz="1200" dirty="0"/>
          </a:p>
        </p:txBody>
      </p:sp>
      <p:sp>
        <p:nvSpPr>
          <p:cNvPr id="5" name="Text 3"/>
          <p:cNvSpPr txBox="1"/>
          <p:nvPr/>
        </p:nvSpPr>
        <p:spPr>
          <a:xfrm>
            <a:off x="640080" y="1737360"/>
            <a:ext cx="7863840" cy="1737360"/>
          </a:xfrm>
          <a:prstGeom prst="rect">
            <a:avLst/>
          </a:prstGeom>
          <a:noFill/>
          <a:ln/>
        </p:spPr>
        <p:txBody>
          <a:bodyPr wrap="square" lIns="0" tIns="0" rIns="0" bIns="0" rtlCol="0" anchor="t"/>
          <a:lstStyle/>
          <a:p>
            <a:pPr algn="ctr" indent="0" marL="0">
              <a:buNone/>
            </a:pPr>
            <a:r>
              <a:rPr lang="en-US" sz="3800" b="1" dirty="0">
                <a:solidFill>
                  <a:srgbClr val="FFFFFF"/>
                </a:solidFill>
                <a:latin typeface="Arial" pitchFamily="34" charset="0"/>
                <a:ea typeface="Arial" pitchFamily="34" charset="-122"/>
                <a:cs typeface="Arial" pitchFamily="34" charset="-120"/>
              </a:rPr>
              <a:t>Funnel, CRM &amp; Full Automation</a:t>
            </a:r>
            <a:endParaRPr lang="en-US" sz="3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48640" y="365760"/>
            <a:ext cx="80467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What we build…</a:t>
            </a:r>
            <a:endParaRPr lang="en-US" sz="3000" dirty="0"/>
          </a:p>
        </p:txBody>
      </p:sp>
      <p:sp>
        <p:nvSpPr>
          <p:cNvPr id="3" name="Shape 1"/>
          <p:cNvSpPr/>
          <p:nvPr/>
        </p:nvSpPr>
        <p:spPr>
          <a:xfrm>
            <a:off x="548640" y="1325880"/>
            <a:ext cx="2499360" cy="2560320"/>
          </a:xfrm>
          <a:prstGeom prst="roundRect">
            <a:avLst>
              <a:gd name="adj" fmla="val 4390"/>
            </a:avLst>
          </a:prstGeom>
          <a:solidFill>
            <a:srgbClr val="17131F"/>
          </a:solidFill>
          <a:ln w="12700">
            <a:solidFill>
              <a:srgbClr val="2C2344"/>
            </a:solidFill>
            <a:prstDash val="solid"/>
          </a:ln>
        </p:spPr>
      </p:sp>
      <p:sp>
        <p:nvSpPr>
          <p:cNvPr id="4" name="Text 2"/>
          <p:cNvSpPr txBox="1"/>
          <p:nvPr/>
        </p:nvSpPr>
        <p:spPr>
          <a:xfrm>
            <a:off x="777240" y="1600200"/>
            <a:ext cx="2042160" cy="822960"/>
          </a:xfrm>
          <a:prstGeom prst="rect">
            <a:avLst/>
          </a:prstGeom>
          <a:noFill/>
          <a:ln/>
        </p:spPr>
        <p:txBody>
          <a:bodyPr wrap="square" lIns="0" tIns="0" rIns="0" bIns="0" rtlCol="0" anchor="t"/>
          <a:lstStyle/>
          <a:p>
            <a:pPr indent="0" marL="0">
              <a:buNone/>
            </a:pPr>
            <a:r>
              <a:rPr lang="en-US" sz="2400" b="1" dirty="0">
                <a:solidFill>
                  <a:srgbClr val="B79CFF"/>
                </a:solidFill>
                <a:latin typeface="Arial" pitchFamily="34" charset="0"/>
                <a:ea typeface="Arial" pitchFamily="34" charset="-122"/>
                <a:cs typeface="Arial" pitchFamily="34" charset="-120"/>
              </a:rPr>
              <a:t>Funnel</a:t>
            </a:r>
            <a:endParaRPr lang="en-US" sz="2400" dirty="0"/>
          </a:p>
        </p:txBody>
      </p:sp>
      <p:sp>
        <p:nvSpPr>
          <p:cNvPr id="5" name="Text 3"/>
          <p:cNvSpPr txBox="1"/>
          <p:nvPr/>
        </p:nvSpPr>
        <p:spPr>
          <a:xfrm>
            <a:off x="777240" y="2468880"/>
            <a:ext cx="2042160" cy="118872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Landing page, VSL and call booking flow</a:t>
            </a:r>
            <a:endParaRPr lang="en-US" sz="2000" dirty="0"/>
          </a:p>
        </p:txBody>
      </p:sp>
      <p:sp>
        <p:nvSpPr>
          <p:cNvPr id="6" name="Shape 4"/>
          <p:cNvSpPr/>
          <p:nvPr/>
        </p:nvSpPr>
        <p:spPr>
          <a:xfrm>
            <a:off x="3322320" y="1325880"/>
            <a:ext cx="2499360" cy="2560320"/>
          </a:xfrm>
          <a:prstGeom prst="roundRect">
            <a:avLst>
              <a:gd name="adj" fmla="val 4390"/>
            </a:avLst>
          </a:prstGeom>
          <a:solidFill>
            <a:srgbClr val="17131F"/>
          </a:solidFill>
          <a:ln w="12700">
            <a:solidFill>
              <a:srgbClr val="2C2344"/>
            </a:solidFill>
            <a:prstDash val="solid"/>
          </a:ln>
        </p:spPr>
      </p:sp>
      <p:sp>
        <p:nvSpPr>
          <p:cNvPr id="7" name="Text 5"/>
          <p:cNvSpPr txBox="1"/>
          <p:nvPr/>
        </p:nvSpPr>
        <p:spPr>
          <a:xfrm>
            <a:off x="3550920" y="1600200"/>
            <a:ext cx="2042160" cy="822960"/>
          </a:xfrm>
          <a:prstGeom prst="rect">
            <a:avLst/>
          </a:prstGeom>
          <a:noFill/>
          <a:ln/>
        </p:spPr>
        <p:txBody>
          <a:bodyPr wrap="square" lIns="0" tIns="0" rIns="0" bIns="0" rtlCol="0" anchor="t"/>
          <a:lstStyle/>
          <a:p>
            <a:pPr indent="0" marL="0">
              <a:buNone/>
            </a:pPr>
            <a:r>
              <a:rPr lang="en-US" sz="2400" b="1" dirty="0">
                <a:solidFill>
                  <a:srgbClr val="B79CFF"/>
                </a:solidFill>
                <a:latin typeface="Arial" pitchFamily="34" charset="0"/>
                <a:ea typeface="Arial" pitchFamily="34" charset="-122"/>
                <a:cs typeface="Arial" pitchFamily="34" charset="-120"/>
              </a:rPr>
              <a:t>Reminders</a:t>
            </a:r>
            <a:endParaRPr lang="en-US" sz="2400" dirty="0"/>
          </a:p>
        </p:txBody>
      </p:sp>
      <p:sp>
        <p:nvSpPr>
          <p:cNvPr id="8" name="Text 6"/>
          <p:cNvSpPr txBox="1"/>
          <p:nvPr/>
        </p:nvSpPr>
        <p:spPr>
          <a:xfrm>
            <a:off x="3550920" y="2468880"/>
            <a:ext cx="2042160" cy="118872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Automated email + SMS confirmations and reminders</a:t>
            </a:r>
            <a:endParaRPr lang="en-US" sz="2000" dirty="0"/>
          </a:p>
        </p:txBody>
      </p:sp>
      <p:sp>
        <p:nvSpPr>
          <p:cNvPr id="9" name="Shape 7"/>
          <p:cNvSpPr/>
          <p:nvPr/>
        </p:nvSpPr>
        <p:spPr>
          <a:xfrm>
            <a:off x="6096000" y="1325880"/>
            <a:ext cx="2499360" cy="2560320"/>
          </a:xfrm>
          <a:prstGeom prst="roundRect">
            <a:avLst>
              <a:gd name="adj" fmla="val 4390"/>
            </a:avLst>
          </a:prstGeom>
          <a:solidFill>
            <a:srgbClr val="17131F"/>
          </a:solidFill>
          <a:ln w="12700">
            <a:solidFill>
              <a:srgbClr val="2C2344"/>
            </a:solidFill>
            <a:prstDash val="solid"/>
          </a:ln>
        </p:spPr>
      </p:sp>
      <p:sp>
        <p:nvSpPr>
          <p:cNvPr id="10" name="Text 8"/>
          <p:cNvSpPr txBox="1"/>
          <p:nvPr/>
        </p:nvSpPr>
        <p:spPr>
          <a:xfrm>
            <a:off x="6324600" y="1600200"/>
            <a:ext cx="2042160" cy="822960"/>
          </a:xfrm>
          <a:prstGeom prst="rect">
            <a:avLst/>
          </a:prstGeom>
          <a:noFill/>
          <a:ln/>
        </p:spPr>
        <p:txBody>
          <a:bodyPr wrap="square" lIns="0" tIns="0" rIns="0" bIns="0" rtlCol="0" anchor="t"/>
          <a:lstStyle/>
          <a:p>
            <a:pPr indent="0" marL="0">
              <a:buNone/>
            </a:pPr>
            <a:r>
              <a:rPr lang="en-US" sz="2400" b="1" dirty="0">
                <a:solidFill>
                  <a:srgbClr val="B79CFF"/>
                </a:solidFill>
                <a:latin typeface="Arial" pitchFamily="34" charset="0"/>
                <a:ea typeface="Arial" pitchFamily="34" charset="-122"/>
                <a:cs typeface="Arial" pitchFamily="34" charset="-120"/>
              </a:rPr>
              <a:t>CRM</a:t>
            </a:r>
            <a:endParaRPr lang="en-US" sz="2400" dirty="0"/>
          </a:p>
        </p:txBody>
      </p:sp>
      <p:sp>
        <p:nvSpPr>
          <p:cNvPr id="11" name="Text 9"/>
          <p:cNvSpPr txBox="1"/>
          <p:nvPr/>
        </p:nvSpPr>
        <p:spPr>
          <a:xfrm>
            <a:off x="6324600" y="2468880"/>
            <a:ext cx="2042160" cy="118872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Pipeline stages, no-show follow-up and nurture</a:t>
            </a:r>
            <a:endParaRPr lang="en-US"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640080" y="457200"/>
            <a:ext cx="7863840" cy="242316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The moment someone books, the </a:t>
            </a:r>
            <a:pPr algn="ctr" indent="0" marL="0">
              <a:buNone/>
            </a:pPr>
            <a:r>
              <a:rPr lang="en-US" sz="3600" b="1" dirty="0">
                <a:solidFill>
                  <a:srgbClr val="B79CFF"/>
                </a:solidFill>
                <a:latin typeface="Arial" pitchFamily="34" charset="0"/>
                <a:ea typeface="Arial" pitchFamily="34" charset="-122"/>
                <a:cs typeface="Arial" pitchFamily="34" charset="-120"/>
              </a:rPr>
              <a:t>system takes over</a:t>
            </a:r>
            <a:endParaRPr lang="en-US" sz="3600" dirty="0"/>
          </a:p>
        </p:txBody>
      </p:sp>
      <p:sp>
        <p:nvSpPr>
          <p:cNvPr id="3" name="Text 1"/>
          <p:cNvSpPr txBox="1"/>
          <p:nvPr/>
        </p:nvSpPr>
        <p:spPr>
          <a:xfrm>
            <a:off x="914400" y="3017520"/>
            <a:ext cx="7315200" cy="1188720"/>
          </a:xfrm>
          <a:prstGeom prst="rect">
            <a:avLst/>
          </a:prstGeom>
          <a:noFill/>
          <a:ln/>
        </p:spPr>
        <p:txBody>
          <a:bodyPr wrap="square" lIns="0" tIns="0" rIns="0" bIns="0" rtlCol="0" anchor="t"/>
          <a:lstStyle/>
          <a:p>
            <a:pPr algn="ctr" indent="0" marL="0">
              <a:buNone/>
            </a:pPr>
            <a:r>
              <a:rPr lang="en-US" sz="1900" dirty="0">
                <a:solidFill>
                  <a:srgbClr val="A6A1B5"/>
                </a:solidFill>
                <a:latin typeface="Arial" pitchFamily="34" charset="0"/>
                <a:ea typeface="Arial" pitchFamily="34" charset="-122"/>
                <a:cs typeface="Arial" pitchFamily="34" charset="-120"/>
              </a:rPr>
              <a:t>It reminds them, warms them up, and gets them to show up ready to enrol, without you chasing anyone.</a:t>
            </a:r>
            <a:endParaRPr lang="en-US" sz="1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48640" y="365760"/>
            <a:ext cx="80467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Quick check-in…</a:t>
            </a:r>
            <a:endParaRPr lang="en-US" sz="3000" dirty="0"/>
          </a:p>
        </p:txBody>
      </p:sp>
      <p:sp>
        <p:nvSpPr>
          <p:cNvPr id="3" name="Shape 1"/>
          <p:cNvSpPr/>
          <p:nvPr/>
        </p:nvSpPr>
        <p:spPr>
          <a:xfrm>
            <a:off x="548640" y="1234440"/>
            <a:ext cx="8046720" cy="713232"/>
          </a:xfrm>
          <a:prstGeom prst="roundRect">
            <a:avLst>
              <a:gd name="adj" fmla="val 15385"/>
            </a:avLst>
          </a:prstGeom>
          <a:solidFill>
            <a:srgbClr val="17131F"/>
          </a:solidFill>
          <a:ln w="12700">
            <a:solidFill>
              <a:srgbClr val="2C2344"/>
            </a:solidFill>
            <a:prstDash val="solid"/>
          </a:ln>
        </p:spPr>
      </p:sp>
      <p:sp>
        <p:nvSpPr>
          <p:cNvPr id="4" name="Shape 2"/>
          <p:cNvSpPr/>
          <p:nvPr/>
        </p:nvSpPr>
        <p:spPr>
          <a:xfrm>
            <a:off x="713232" y="1399032"/>
            <a:ext cx="384048" cy="384048"/>
          </a:xfrm>
          <a:prstGeom prst="ellipse">
            <a:avLst/>
          </a:prstGeom>
          <a:solidFill>
            <a:srgbClr val="7C3CFF"/>
          </a:solidFill>
          <a:ln w="12700">
            <a:solidFill>
              <a:srgbClr val="7C3CFF"/>
            </a:solidFill>
            <a:prstDash val="solid"/>
          </a:ln>
        </p:spPr>
      </p:sp>
      <p:sp>
        <p:nvSpPr>
          <p:cNvPr id="5" name="Text 3"/>
          <p:cNvSpPr txBox="1"/>
          <p:nvPr/>
        </p:nvSpPr>
        <p:spPr>
          <a:xfrm>
            <a:off x="713232" y="139903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txBox="1"/>
          <p:nvPr/>
        </p:nvSpPr>
        <p:spPr>
          <a:xfrm>
            <a:off x="1280160" y="1234440"/>
            <a:ext cx="7132320" cy="713232"/>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How are you doing so far?</a:t>
            </a:r>
            <a:endParaRPr lang="en-US" sz="1800" dirty="0"/>
          </a:p>
        </p:txBody>
      </p:sp>
      <p:sp>
        <p:nvSpPr>
          <p:cNvPr id="7" name="Shape 5"/>
          <p:cNvSpPr/>
          <p:nvPr/>
        </p:nvSpPr>
        <p:spPr>
          <a:xfrm>
            <a:off x="548640" y="2075688"/>
            <a:ext cx="8046720" cy="713232"/>
          </a:xfrm>
          <a:prstGeom prst="roundRect">
            <a:avLst>
              <a:gd name="adj" fmla="val 15385"/>
            </a:avLst>
          </a:prstGeom>
          <a:solidFill>
            <a:srgbClr val="17131F"/>
          </a:solidFill>
          <a:ln w="12700">
            <a:solidFill>
              <a:srgbClr val="2C2344"/>
            </a:solidFill>
            <a:prstDash val="solid"/>
          </a:ln>
        </p:spPr>
      </p:sp>
      <p:sp>
        <p:nvSpPr>
          <p:cNvPr id="8" name="Shape 6"/>
          <p:cNvSpPr/>
          <p:nvPr/>
        </p:nvSpPr>
        <p:spPr>
          <a:xfrm>
            <a:off x="713232" y="2240280"/>
            <a:ext cx="384048" cy="384048"/>
          </a:xfrm>
          <a:prstGeom prst="ellipse">
            <a:avLst/>
          </a:prstGeom>
          <a:solidFill>
            <a:srgbClr val="7C3CFF"/>
          </a:solidFill>
          <a:ln w="12700">
            <a:solidFill>
              <a:srgbClr val="7C3CFF"/>
            </a:solidFill>
            <a:prstDash val="solid"/>
          </a:ln>
        </p:spPr>
      </p:sp>
      <p:sp>
        <p:nvSpPr>
          <p:cNvPr id="9" name="Text 7"/>
          <p:cNvSpPr txBox="1"/>
          <p:nvPr/>
        </p:nvSpPr>
        <p:spPr>
          <a:xfrm>
            <a:off x="713232" y="22402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0" name="Text 8"/>
          <p:cNvSpPr txBox="1"/>
          <p:nvPr/>
        </p:nvSpPr>
        <p:spPr>
          <a:xfrm>
            <a:off x="1280160" y="2075688"/>
            <a:ext cx="7132320" cy="713232"/>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Can you see how </a:t>
            </a:r>
            <a:pPr indent="0" marL="0">
              <a:buNone/>
            </a:pPr>
            <a:r>
              <a:rPr lang="en-US" sz="1800" b="1" dirty="0">
                <a:solidFill>
                  <a:srgbClr val="B79CFF"/>
                </a:solidFill>
                <a:latin typeface="Arial" pitchFamily="34" charset="0"/>
                <a:ea typeface="Arial" pitchFamily="34" charset="-122"/>
                <a:cs typeface="Arial" pitchFamily="34" charset="-120"/>
              </a:rPr>
              <a:t>powerful</a:t>
            </a:r>
            <a:pPr indent="0" marL="0">
              <a:buNone/>
            </a:pPr>
            <a:r>
              <a:rPr lang="en-US" sz="1800" dirty="0">
                <a:solidFill>
                  <a:srgbClr val="FFFFFF"/>
                </a:solidFill>
                <a:latin typeface="Arial" pitchFamily="34" charset="0"/>
                <a:ea typeface="Arial" pitchFamily="34" charset="-122"/>
                <a:cs typeface="Arial" pitchFamily="34" charset="-120"/>
              </a:rPr>
              <a:t> this can be?</a:t>
            </a:r>
            <a:endParaRPr lang="en-US" sz="1800" dirty="0"/>
          </a:p>
        </p:txBody>
      </p:sp>
      <p:sp>
        <p:nvSpPr>
          <p:cNvPr id="11" name="Shape 9"/>
          <p:cNvSpPr/>
          <p:nvPr/>
        </p:nvSpPr>
        <p:spPr>
          <a:xfrm>
            <a:off x="548640" y="2916936"/>
            <a:ext cx="8046720" cy="713232"/>
          </a:xfrm>
          <a:prstGeom prst="roundRect">
            <a:avLst>
              <a:gd name="adj" fmla="val 15385"/>
            </a:avLst>
          </a:prstGeom>
          <a:solidFill>
            <a:srgbClr val="17131F"/>
          </a:solidFill>
          <a:ln w="12700">
            <a:solidFill>
              <a:srgbClr val="2C2344"/>
            </a:solidFill>
            <a:prstDash val="solid"/>
          </a:ln>
        </p:spPr>
      </p:sp>
      <p:sp>
        <p:nvSpPr>
          <p:cNvPr id="12" name="Shape 10"/>
          <p:cNvSpPr/>
          <p:nvPr/>
        </p:nvSpPr>
        <p:spPr>
          <a:xfrm>
            <a:off x="713232" y="3081528"/>
            <a:ext cx="384048" cy="384048"/>
          </a:xfrm>
          <a:prstGeom prst="ellipse">
            <a:avLst/>
          </a:prstGeom>
          <a:solidFill>
            <a:srgbClr val="7C3CFF"/>
          </a:solidFill>
          <a:ln w="12700">
            <a:solidFill>
              <a:srgbClr val="7C3CFF"/>
            </a:solidFill>
            <a:prstDash val="solid"/>
          </a:ln>
        </p:spPr>
      </p:sp>
      <p:sp>
        <p:nvSpPr>
          <p:cNvPr id="13" name="Text 11"/>
          <p:cNvSpPr txBox="1"/>
          <p:nvPr/>
        </p:nvSpPr>
        <p:spPr>
          <a:xfrm>
            <a:off x="713232" y="308152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4" name="Text 12"/>
          <p:cNvSpPr txBox="1"/>
          <p:nvPr/>
        </p:nvSpPr>
        <p:spPr>
          <a:xfrm>
            <a:off x="1280160" y="2916936"/>
            <a:ext cx="7132320" cy="713232"/>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Can you see how this could bring you </a:t>
            </a:r>
            <a:pPr indent="0" marL="0">
              <a:buNone/>
            </a:pPr>
            <a:r>
              <a:rPr lang="en-US" sz="1800" b="1" dirty="0">
                <a:solidFill>
                  <a:srgbClr val="B79CFF"/>
                </a:solidFill>
                <a:latin typeface="Arial" pitchFamily="34" charset="0"/>
                <a:ea typeface="Arial" pitchFamily="34" charset="-122"/>
                <a:cs typeface="Arial" pitchFamily="34" charset="-120"/>
              </a:rPr>
              <a:t>more students</a:t>
            </a:r>
            <a:pP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Shape 0"/>
          <p:cNvSpPr/>
          <p:nvPr/>
        </p:nvSpPr>
        <p:spPr>
          <a:xfrm>
            <a:off x="3840480" y="1143000"/>
            <a:ext cx="1463040" cy="365760"/>
          </a:xfrm>
          <a:prstGeom prst="roundRect">
            <a:avLst>
              <a:gd name="adj" fmla="val 50000"/>
            </a:avLst>
          </a:prstGeom>
          <a:solidFill>
            <a:srgbClr val="FFFFFF"/>
          </a:solidFill>
          <a:ln w="12700">
            <a:solidFill>
              <a:srgbClr val="FFFFFF"/>
            </a:solidFill>
            <a:prstDash val="solid"/>
          </a:ln>
        </p:spPr>
      </p:sp>
      <p:sp>
        <p:nvSpPr>
          <p:cNvPr id="3" name="Shape 1"/>
          <p:cNvSpPr/>
          <p:nvPr/>
        </p:nvSpPr>
        <p:spPr>
          <a:xfrm>
            <a:off x="4005072" y="1271016"/>
            <a:ext cx="109728" cy="109728"/>
          </a:xfrm>
          <a:prstGeom prst="ellipse">
            <a:avLst/>
          </a:prstGeom>
          <a:solidFill>
            <a:srgbClr val="7C3CFF"/>
          </a:solidFill>
          <a:ln w="12700">
            <a:solidFill>
              <a:srgbClr val="7C3CFF"/>
            </a:solidFill>
            <a:prstDash val="solid"/>
          </a:ln>
        </p:spPr>
      </p:sp>
      <p:sp>
        <p:nvSpPr>
          <p:cNvPr id="4" name="Text 2"/>
          <p:cNvSpPr txBox="1"/>
          <p:nvPr/>
        </p:nvSpPr>
        <p:spPr>
          <a:xfrm>
            <a:off x="4187952" y="1143000"/>
            <a:ext cx="1005840" cy="365760"/>
          </a:xfrm>
          <a:prstGeom prst="rect">
            <a:avLst/>
          </a:prstGeom>
          <a:noFill/>
          <a:ln/>
        </p:spPr>
        <p:txBody>
          <a:bodyPr wrap="square" lIns="0" tIns="0" rIns="0" bIns="0" rtlCol="0" anchor="ctr"/>
          <a:lstStyle/>
          <a:p>
            <a:pPr indent="0" marL="0">
              <a:buNone/>
            </a:pPr>
            <a:r>
              <a:rPr lang="en-US" sz="1200" b="1" dirty="0">
                <a:solidFill>
                  <a:srgbClr val="15121C"/>
                </a:solidFill>
                <a:latin typeface="Arial" pitchFamily="34" charset="0"/>
                <a:ea typeface="Arial" pitchFamily="34" charset="-122"/>
                <a:cs typeface="Arial" pitchFamily="34" charset="-120"/>
              </a:rPr>
              <a:t>Step 5</a:t>
            </a:r>
            <a:endParaRPr lang="en-US" sz="1200" dirty="0"/>
          </a:p>
        </p:txBody>
      </p:sp>
      <p:sp>
        <p:nvSpPr>
          <p:cNvPr id="5" name="Text 3"/>
          <p:cNvSpPr txBox="1"/>
          <p:nvPr/>
        </p:nvSpPr>
        <p:spPr>
          <a:xfrm>
            <a:off x="640080" y="1737360"/>
            <a:ext cx="7863840" cy="1737360"/>
          </a:xfrm>
          <a:prstGeom prst="rect">
            <a:avLst/>
          </a:prstGeom>
          <a:noFill/>
          <a:ln/>
        </p:spPr>
        <p:txBody>
          <a:bodyPr wrap="square" lIns="0" tIns="0" rIns="0" bIns="0" rtlCol="0" anchor="t"/>
          <a:lstStyle/>
          <a:p>
            <a:pPr algn="ctr" indent="0" marL="0">
              <a:buNone/>
            </a:pPr>
            <a:r>
              <a:rPr lang="en-US" sz="3800" b="1" dirty="0">
                <a:solidFill>
                  <a:srgbClr val="FFFFFF"/>
                </a:solidFill>
                <a:latin typeface="Arial" pitchFamily="34" charset="0"/>
                <a:ea typeface="Arial" pitchFamily="34" charset="-122"/>
                <a:cs typeface="Arial" pitchFamily="34" charset="-120"/>
              </a:rPr>
              <a:t>Sales Coaching, Optimisation &amp; Scale</a:t>
            </a:r>
            <a:endParaRPr lang="en-US" sz="3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640080" y="320040"/>
            <a:ext cx="7863840" cy="400050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A </a:t>
            </a:r>
            <a:pPr algn="ctr" indent="0" marL="0">
              <a:buNone/>
            </a:pPr>
            <a:r>
              <a:rPr lang="en-US" sz="3600" b="1" dirty="0">
                <a:solidFill>
                  <a:srgbClr val="B79CFF"/>
                </a:solidFill>
                <a:latin typeface="Arial" pitchFamily="34" charset="0"/>
                <a:ea typeface="Arial" pitchFamily="34" charset="-122"/>
                <a:cs typeface="Arial" pitchFamily="34" charset="-120"/>
              </a:rPr>
              <a:t>10% lift</a:t>
            </a:r>
            <a:pPr algn="ctr" indent="0" marL="0">
              <a:buNone/>
            </a:pPr>
            <a:r>
              <a:rPr lang="en-US" sz="3600" b="1" dirty="0">
                <a:solidFill>
                  <a:srgbClr val="FFFFFF"/>
                </a:solidFill>
                <a:latin typeface="Arial" pitchFamily="34" charset="0"/>
                <a:ea typeface="Arial" pitchFamily="34" charset="-122"/>
                <a:cs typeface="Arial" pitchFamily="34" charset="-120"/>
              </a:rPr>
              <a:t> in your close rate = thousands more every month… with the </a:t>
            </a:r>
            <a:pPr algn="ctr" indent="0" marL="0">
              <a:buNone/>
            </a:pPr>
            <a:r>
              <a:rPr lang="en-US" sz="3600" b="1" u="heavy" dirty="0">
                <a:solidFill>
                  <a:srgbClr val="FFFFFF"/>
                </a:solidFill>
                <a:uFill>
                  <a:solidFill>
                    <a:srgbClr val="7C3CFF"/>
                  </a:solidFill>
                </a:uFill>
                <a:latin typeface="Arial" pitchFamily="34" charset="0"/>
                <a:ea typeface="Arial" pitchFamily="34" charset="-122"/>
                <a:cs typeface="Arial" pitchFamily="34" charset="-120"/>
              </a:rPr>
              <a:t>same ad spend</a:t>
            </a:r>
            <a:endParaRPr lang="en-US" sz="36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548640" y="365760"/>
            <a:ext cx="80467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The numbers we watch</a:t>
            </a:r>
            <a:endParaRPr lang="en-US" sz="30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371600" y="1188720"/>
          <a:ext cx="6400800" cy="914400"/>
        </p:xfrm>
        <a:graphic>
          <a:graphicData uri="http://schemas.openxmlformats.org/drawingml/2006/table">
            <a:tbl>
              <a:tblPr/>
              <a:tblGrid>
                <a:gridCol w="4206240"/>
                <a:gridCol w="2194560"/>
              </a:tblGrid>
              <a:tr h="365760">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Metric</a:t>
                      </a:r>
                      <a:endParaRPr lang="en-US" sz="1400" dirty="0">
                        <a:latin typeface="Arial" charset="0"/>
                        <a:ea typeface="Arial" charset="0"/>
                        <a:cs typeface="Arial" charset="0"/>
                      </a:endParaRPr>
                    </a:p>
                  </a:txBody>
                  <a:tcPr marL="91440" marR="91440" marT="45720" marB="45720" anchor="ctr">
                    <a:lnL w="6350" cap="flat" cmpd="sng" algn="ctr">
                      <a:solidFill>
                        <a:srgbClr val="2C2344"/>
                      </a:solidFill>
                      <a:prstDash val="solid"/>
                      <a:round/>
                      <a:headEnd type="none" w="med" len="med"/>
                      <a:tailEnd type="none" w="med" len="med"/>
                    </a:lnL>
                    <a:lnR w="6350" cap="flat" cmpd="sng" algn="ctr">
                      <a:solidFill>
                        <a:srgbClr val="2C2344"/>
                      </a:solidFill>
                      <a:prstDash val="solid"/>
                      <a:round/>
                      <a:headEnd type="none" w="med" len="med"/>
                      <a:tailEnd type="none" w="med" len="med"/>
                    </a:lnR>
                    <a:lnT w="6350" cap="flat" cmpd="sng" algn="ctr">
                      <a:solidFill>
                        <a:srgbClr val="2C2344"/>
                      </a:solidFill>
                      <a:prstDash val="solid"/>
                      <a:round/>
                      <a:headEnd type="none" w="med" len="med"/>
                      <a:tailEnd type="none" w="med" len="med"/>
                    </a:lnT>
                    <a:lnB w="6350" cap="flat" cmpd="sng" algn="ctr">
                      <a:solidFill>
                        <a:srgbClr val="2C2344"/>
                      </a:solidFill>
                      <a:prstDash val="solid"/>
                      <a:round/>
                      <a:headEnd type="none" w="med" len="med"/>
                      <a:tailEnd type="none" w="med" len="med"/>
                    </a:lnB>
                    <a:solidFill>
                      <a:srgbClr val="7C3CFF"/>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Target</a:t>
                      </a:r>
                      <a:endParaRPr lang="en-US" sz="1400" dirty="0">
                        <a:latin typeface="Arial" charset="0"/>
                        <a:ea typeface="Arial" charset="0"/>
                        <a:cs typeface="Arial" charset="0"/>
                      </a:endParaRPr>
                    </a:p>
                  </a:txBody>
                  <a:tcPr marL="91440" marR="91440" marT="45720" marB="45720" anchor="ctr">
                    <a:lnL w="6350" cap="flat" cmpd="sng" algn="ctr">
                      <a:solidFill>
                        <a:srgbClr val="2C2344"/>
                      </a:solidFill>
                      <a:prstDash val="solid"/>
                      <a:round/>
                      <a:headEnd type="none" w="med" len="med"/>
                      <a:tailEnd type="none" w="med" len="med"/>
                    </a:lnL>
                    <a:lnR w="6350" cap="flat" cmpd="sng" algn="ctr">
                      <a:solidFill>
                        <a:srgbClr val="2C2344"/>
                      </a:solidFill>
                      <a:prstDash val="solid"/>
                      <a:round/>
                      <a:headEnd type="none" w="med" len="med"/>
                      <a:tailEnd type="none" w="med" len="med"/>
                    </a:lnR>
                    <a:lnT w="6350" cap="flat" cmpd="sng" algn="ctr">
                      <a:solidFill>
                        <a:srgbClr val="2C2344"/>
                      </a:solidFill>
                      <a:prstDash val="solid"/>
                      <a:round/>
                      <a:headEnd type="none" w="med" len="med"/>
                      <a:tailEnd type="none" w="med" len="med"/>
                    </a:lnT>
                    <a:lnB w="6350" cap="flat" cmpd="sng" algn="ctr">
                      <a:solidFill>
                        <a:srgbClr val="2C2344"/>
                      </a:solidFill>
                      <a:prstDash val="solid"/>
                      <a:round/>
                      <a:headEnd type="none" w="med" len="med"/>
                      <a:tailEnd type="none" w="med" len="med"/>
                    </a:lnB>
                    <a:solidFill>
                      <a:srgbClr val="7C3CFF"/>
                    </a:solidFill>
                  </a:tcPr>
                </a:tc>
              </a:tr>
              <a:tr h="365760">
                <a:tc>
                  <a:txBody>
                    <a:bodyPr/>
                    <a:lstStyle/>
                    <a:p>
                      <a:pPr indent="0" marL="0">
                        <a:buNone/>
                      </a:pPr>
                      <a:r>
                        <a:rPr lang="en-US" sz="1400" dirty="0">
                          <a:solidFill>
                            <a:srgbClr val="FFFFFF"/>
                          </a:solidFill>
                          <a:latin typeface="Arial" pitchFamily="34" charset="0"/>
                          <a:ea typeface="Arial" pitchFamily="34" charset="-122"/>
                          <a:cs typeface="Arial" pitchFamily="34" charset="-120"/>
                        </a:rPr>
                        <a:t>Click-through rate</a:t>
                      </a:r>
                      <a:endParaRPr lang="en-US" sz="1400" dirty="0">
                        <a:latin typeface="Arial" charset="0"/>
                        <a:ea typeface="Arial" charset="0"/>
                        <a:cs typeface="Arial" charset="0"/>
                      </a:endParaRPr>
                    </a:p>
                  </a:txBody>
                  <a:tcPr marL="91440" marR="91440" marT="45720" marB="45720" anchor="ctr">
                    <a:lnL w="6350" cap="flat" cmpd="sng" algn="ctr">
                      <a:solidFill>
                        <a:srgbClr val="2C2344"/>
                      </a:solidFill>
                      <a:prstDash val="solid"/>
                      <a:round/>
                      <a:headEnd type="none" w="med" len="med"/>
                      <a:tailEnd type="none" w="med" len="med"/>
                    </a:lnL>
                    <a:lnR w="6350" cap="flat" cmpd="sng" algn="ctr">
                      <a:solidFill>
                        <a:srgbClr val="2C2344"/>
                      </a:solidFill>
                      <a:prstDash val="solid"/>
                      <a:round/>
                      <a:headEnd type="none" w="med" len="med"/>
                      <a:tailEnd type="none" w="med" len="med"/>
                    </a:lnR>
                    <a:lnT w="6350" cap="flat" cmpd="sng" algn="ctr">
                      <a:solidFill>
                        <a:srgbClr val="2C2344"/>
                      </a:solidFill>
                      <a:prstDash val="solid"/>
                      <a:round/>
                      <a:headEnd type="none" w="med" len="med"/>
                      <a:tailEnd type="none" w="med" len="med"/>
                    </a:lnT>
                    <a:lnB w="6350" cap="flat" cmpd="sng" algn="ctr">
                      <a:solidFill>
                        <a:srgbClr val="2C2344"/>
                      </a:solidFill>
                      <a:prstDash val="solid"/>
                      <a:round/>
                      <a:headEnd type="none" w="med" len="med"/>
                      <a:tailEnd type="none" w="med" len="med"/>
                    </a:lnB>
                    <a:solidFill>
                      <a:srgbClr val="17131F"/>
                    </a:solidFill>
                  </a:tcPr>
                </a:tc>
                <a:tc>
                  <a:txBody>
                    <a:bodyPr/>
                    <a:lstStyle/>
                    <a:p>
                      <a:pPr algn="ctr" indent="0" marL="0">
                        <a:buNone/>
                      </a:pPr>
                      <a:r>
                        <a:rPr lang="en-US" sz="1400" b="1" dirty="0">
                          <a:solidFill>
                            <a:srgbClr val="B79CFF"/>
                          </a:solidFill>
                          <a:latin typeface="Arial" pitchFamily="34" charset="0"/>
                          <a:ea typeface="Arial" pitchFamily="34" charset="-122"/>
                          <a:cs typeface="Arial" pitchFamily="34" charset="-120"/>
                        </a:rPr>
                        <a:t>&gt; 1%</a:t>
                      </a:r>
                      <a:endParaRPr lang="en-US" sz="1400" dirty="0">
                        <a:latin typeface="Arial" charset="0"/>
                        <a:ea typeface="Arial" charset="0"/>
                        <a:cs typeface="Arial" charset="0"/>
                      </a:endParaRPr>
                    </a:p>
                  </a:txBody>
                  <a:tcPr marL="91440" marR="91440" marT="45720" marB="45720" anchor="ctr">
                    <a:lnL w="6350" cap="flat" cmpd="sng" algn="ctr">
                      <a:solidFill>
                        <a:srgbClr val="2C2344"/>
                      </a:solidFill>
                      <a:prstDash val="solid"/>
                      <a:round/>
                      <a:headEnd type="none" w="med" len="med"/>
                      <a:tailEnd type="none" w="med" len="med"/>
                    </a:lnL>
                    <a:lnR w="6350" cap="flat" cmpd="sng" algn="ctr">
                      <a:solidFill>
                        <a:srgbClr val="2C2344"/>
                      </a:solidFill>
                      <a:prstDash val="solid"/>
                      <a:round/>
                      <a:headEnd type="none" w="med" len="med"/>
                      <a:tailEnd type="none" w="med" len="med"/>
                    </a:lnR>
                    <a:lnT w="6350" cap="flat" cmpd="sng" algn="ctr">
                      <a:solidFill>
                        <a:srgbClr val="2C2344"/>
                      </a:solidFill>
                      <a:prstDash val="solid"/>
                      <a:round/>
                      <a:headEnd type="none" w="med" len="med"/>
                      <a:tailEnd type="none" w="med" len="med"/>
                    </a:lnT>
                    <a:lnB w="6350" cap="flat" cmpd="sng" algn="ctr">
                      <a:solidFill>
                        <a:srgbClr val="2C2344"/>
                      </a:solidFill>
                      <a:prstDash val="solid"/>
                      <a:round/>
                      <a:headEnd type="none" w="med" len="med"/>
                      <a:tailEnd type="none" w="med" len="med"/>
                    </a:lnB>
                    <a:solidFill>
                      <a:srgbClr val="17131F"/>
                    </a:solidFill>
                  </a:tcPr>
                </a:tc>
              </a:tr>
              <a:tr h="365760">
                <a:tc>
                  <a:txBody>
                    <a:bodyPr/>
                    <a:lstStyle/>
                    <a:p>
                      <a:pPr indent="0" marL="0">
                        <a:buNone/>
                      </a:pPr>
                      <a:r>
                        <a:rPr lang="en-US" sz="1400" dirty="0">
                          <a:solidFill>
                            <a:srgbClr val="FFFFFF"/>
                          </a:solidFill>
                          <a:latin typeface="Arial" pitchFamily="34" charset="0"/>
                          <a:ea typeface="Arial" pitchFamily="34" charset="-122"/>
                          <a:cs typeface="Arial" pitchFamily="34" charset="-120"/>
                        </a:rPr>
                        <a:t>Qualified lead → booked call</a:t>
                      </a:r>
                      <a:endParaRPr lang="en-US" sz="1400" dirty="0">
                        <a:latin typeface="Arial" charset="0"/>
                        <a:ea typeface="Arial" charset="0"/>
                        <a:cs typeface="Arial" charset="0"/>
                      </a:endParaRPr>
                    </a:p>
                  </a:txBody>
                  <a:tcPr marL="91440" marR="91440" marT="45720" marB="45720" anchor="ctr">
                    <a:lnL w="6350" cap="flat" cmpd="sng" algn="ctr">
                      <a:solidFill>
                        <a:srgbClr val="2C2344"/>
                      </a:solidFill>
                      <a:prstDash val="solid"/>
                      <a:round/>
                      <a:headEnd type="none" w="med" len="med"/>
                      <a:tailEnd type="none" w="med" len="med"/>
                    </a:lnL>
                    <a:lnR w="6350" cap="flat" cmpd="sng" algn="ctr">
                      <a:solidFill>
                        <a:srgbClr val="2C2344"/>
                      </a:solidFill>
                      <a:prstDash val="solid"/>
                      <a:round/>
                      <a:headEnd type="none" w="med" len="med"/>
                      <a:tailEnd type="none" w="med" len="med"/>
                    </a:lnR>
                    <a:lnT w="6350" cap="flat" cmpd="sng" algn="ctr">
                      <a:solidFill>
                        <a:srgbClr val="2C2344"/>
                      </a:solidFill>
                      <a:prstDash val="solid"/>
                      <a:round/>
                      <a:headEnd type="none" w="med" len="med"/>
                      <a:tailEnd type="none" w="med" len="med"/>
                    </a:lnT>
                    <a:lnB w="6350" cap="flat" cmpd="sng" algn="ctr">
                      <a:solidFill>
                        <a:srgbClr val="2C2344"/>
                      </a:solidFill>
                      <a:prstDash val="solid"/>
                      <a:round/>
                      <a:headEnd type="none" w="med" len="med"/>
                      <a:tailEnd type="none" w="med" len="med"/>
                    </a:lnB>
                    <a:solidFill>
                      <a:srgbClr val="120F18"/>
                    </a:solidFill>
                  </a:tcPr>
                </a:tc>
                <a:tc>
                  <a:txBody>
                    <a:bodyPr/>
                    <a:lstStyle/>
                    <a:p>
                      <a:pPr algn="ctr" indent="0" marL="0">
                        <a:buNone/>
                      </a:pPr>
                      <a:r>
                        <a:rPr lang="en-US" sz="1400" b="1" dirty="0">
                          <a:solidFill>
                            <a:srgbClr val="B79CFF"/>
                          </a:solidFill>
                          <a:latin typeface="Arial" pitchFamily="34" charset="0"/>
                          <a:ea typeface="Arial" pitchFamily="34" charset="-122"/>
                          <a:cs typeface="Arial" pitchFamily="34" charset="-120"/>
                        </a:rPr>
                        <a:t>&gt; 65%</a:t>
                      </a:r>
                      <a:endParaRPr lang="en-US" sz="1400" dirty="0">
                        <a:latin typeface="Arial" charset="0"/>
                        <a:ea typeface="Arial" charset="0"/>
                        <a:cs typeface="Arial" charset="0"/>
                      </a:endParaRPr>
                    </a:p>
                  </a:txBody>
                  <a:tcPr marL="91440" marR="91440" marT="45720" marB="45720" anchor="ctr">
                    <a:lnL w="6350" cap="flat" cmpd="sng" algn="ctr">
                      <a:solidFill>
                        <a:srgbClr val="2C2344"/>
                      </a:solidFill>
                      <a:prstDash val="solid"/>
                      <a:round/>
                      <a:headEnd type="none" w="med" len="med"/>
                      <a:tailEnd type="none" w="med" len="med"/>
                    </a:lnL>
                    <a:lnR w="6350" cap="flat" cmpd="sng" algn="ctr">
                      <a:solidFill>
                        <a:srgbClr val="2C2344"/>
                      </a:solidFill>
                      <a:prstDash val="solid"/>
                      <a:round/>
                      <a:headEnd type="none" w="med" len="med"/>
                      <a:tailEnd type="none" w="med" len="med"/>
                    </a:lnR>
                    <a:lnT w="6350" cap="flat" cmpd="sng" algn="ctr">
                      <a:solidFill>
                        <a:srgbClr val="2C2344"/>
                      </a:solidFill>
                      <a:prstDash val="solid"/>
                      <a:round/>
                      <a:headEnd type="none" w="med" len="med"/>
                      <a:tailEnd type="none" w="med" len="med"/>
                    </a:lnT>
                    <a:lnB w="6350" cap="flat" cmpd="sng" algn="ctr">
                      <a:solidFill>
                        <a:srgbClr val="2C2344"/>
                      </a:solidFill>
                      <a:prstDash val="solid"/>
                      <a:round/>
                      <a:headEnd type="none" w="med" len="med"/>
                      <a:tailEnd type="none" w="med" len="med"/>
                    </a:lnB>
                    <a:solidFill>
                      <a:srgbClr val="120F18"/>
                    </a:solidFill>
                  </a:tcPr>
                </a:tc>
              </a:tr>
              <a:tr h="365760">
                <a:tc>
                  <a:txBody>
                    <a:bodyPr/>
                    <a:lstStyle/>
                    <a:p>
                      <a:pPr indent="0" marL="0">
                        <a:buNone/>
                      </a:pPr>
                      <a:r>
                        <a:rPr lang="en-US" sz="1400" dirty="0">
                          <a:solidFill>
                            <a:srgbClr val="FFFFFF"/>
                          </a:solidFill>
                          <a:latin typeface="Arial" pitchFamily="34" charset="0"/>
                          <a:ea typeface="Arial" pitchFamily="34" charset="-122"/>
                          <a:cs typeface="Arial" pitchFamily="34" charset="-120"/>
                        </a:rPr>
                        <a:t>Show-up rate</a:t>
                      </a:r>
                      <a:endParaRPr lang="en-US" sz="1400" dirty="0">
                        <a:latin typeface="Arial" charset="0"/>
                        <a:ea typeface="Arial" charset="0"/>
                        <a:cs typeface="Arial" charset="0"/>
                      </a:endParaRPr>
                    </a:p>
                  </a:txBody>
                  <a:tcPr marL="91440" marR="91440" marT="45720" marB="45720" anchor="ctr">
                    <a:lnL w="6350" cap="flat" cmpd="sng" algn="ctr">
                      <a:solidFill>
                        <a:srgbClr val="2C2344"/>
                      </a:solidFill>
                      <a:prstDash val="solid"/>
                      <a:round/>
                      <a:headEnd type="none" w="med" len="med"/>
                      <a:tailEnd type="none" w="med" len="med"/>
                    </a:lnL>
                    <a:lnR w="6350" cap="flat" cmpd="sng" algn="ctr">
                      <a:solidFill>
                        <a:srgbClr val="2C2344"/>
                      </a:solidFill>
                      <a:prstDash val="solid"/>
                      <a:round/>
                      <a:headEnd type="none" w="med" len="med"/>
                      <a:tailEnd type="none" w="med" len="med"/>
                    </a:lnR>
                    <a:lnT w="6350" cap="flat" cmpd="sng" algn="ctr">
                      <a:solidFill>
                        <a:srgbClr val="2C2344"/>
                      </a:solidFill>
                      <a:prstDash val="solid"/>
                      <a:round/>
                      <a:headEnd type="none" w="med" len="med"/>
                      <a:tailEnd type="none" w="med" len="med"/>
                    </a:lnT>
                    <a:lnB w="6350" cap="flat" cmpd="sng" algn="ctr">
                      <a:solidFill>
                        <a:srgbClr val="2C2344"/>
                      </a:solidFill>
                      <a:prstDash val="solid"/>
                      <a:round/>
                      <a:headEnd type="none" w="med" len="med"/>
                      <a:tailEnd type="none" w="med" len="med"/>
                    </a:lnB>
                    <a:solidFill>
                      <a:srgbClr val="17131F"/>
                    </a:solidFill>
                  </a:tcPr>
                </a:tc>
                <a:tc>
                  <a:txBody>
                    <a:bodyPr/>
                    <a:lstStyle/>
                    <a:p>
                      <a:pPr algn="ctr" indent="0" marL="0">
                        <a:buNone/>
                      </a:pPr>
                      <a:r>
                        <a:rPr lang="en-US" sz="1400" b="1" dirty="0">
                          <a:solidFill>
                            <a:srgbClr val="B79CFF"/>
                          </a:solidFill>
                          <a:latin typeface="Arial" pitchFamily="34" charset="0"/>
                          <a:ea typeface="Arial" pitchFamily="34" charset="-122"/>
                          <a:cs typeface="Arial" pitchFamily="34" charset="-120"/>
                        </a:rPr>
                        <a:t>&gt; 75%</a:t>
                      </a:r>
                      <a:endParaRPr lang="en-US" sz="1400" dirty="0">
                        <a:latin typeface="Arial" charset="0"/>
                        <a:ea typeface="Arial" charset="0"/>
                        <a:cs typeface="Arial" charset="0"/>
                      </a:endParaRPr>
                    </a:p>
                  </a:txBody>
                  <a:tcPr marL="91440" marR="91440" marT="45720" marB="45720" anchor="ctr">
                    <a:lnL w="6350" cap="flat" cmpd="sng" algn="ctr">
                      <a:solidFill>
                        <a:srgbClr val="2C2344"/>
                      </a:solidFill>
                      <a:prstDash val="solid"/>
                      <a:round/>
                      <a:headEnd type="none" w="med" len="med"/>
                      <a:tailEnd type="none" w="med" len="med"/>
                    </a:lnL>
                    <a:lnR w="6350" cap="flat" cmpd="sng" algn="ctr">
                      <a:solidFill>
                        <a:srgbClr val="2C2344"/>
                      </a:solidFill>
                      <a:prstDash val="solid"/>
                      <a:round/>
                      <a:headEnd type="none" w="med" len="med"/>
                      <a:tailEnd type="none" w="med" len="med"/>
                    </a:lnR>
                    <a:lnT w="6350" cap="flat" cmpd="sng" algn="ctr">
                      <a:solidFill>
                        <a:srgbClr val="2C2344"/>
                      </a:solidFill>
                      <a:prstDash val="solid"/>
                      <a:round/>
                      <a:headEnd type="none" w="med" len="med"/>
                      <a:tailEnd type="none" w="med" len="med"/>
                    </a:lnT>
                    <a:lnB w="6350" cap="flat" cmpd="sng" algn="ctr">
                      <a:solidFill>
                        <a:srgbClr val="2C2344"/>
                      </a:solidFill>
                      <a:prstDash val="solid"/>
                      <a:round/>
                      <a:headEnd type="none" w="med" len="med"/>
                      <a:tailEnd type="none" w="med" len="med"/>
                    </a:lnB>
                    <a:solidFill>
                      <a:srgbClr val="17131F"/>
                    </a:solidFill>
                  </a:tcPr>
                </a:tc>
              </a:tr>
              <a:tr h="365760">
                <a:tc>
                  <a:txBody>
                    <a:bodyPr/>
                    <a:lstStyle/>
                    <a:p>
                      <a:pPr indent="0" marL="0">
                        <a:buNone/>
                      </a:pPr>
                      <a:r>
                        <a:rPr lang="en-US" sz="1400" dirty="0">
                          <a:solidFill>
                            <a:srgbClr val="FFFFFF"/>
                          </a:solidFill>
                          <a:latin typeface="Arial" pitchFamily="34" charset="0"/>
                          <a:ea typeface="Arial" pitchFamily="34" charset="-122"/>
                          <a:cs typeface="Arial" pitchFamily="34" charset="-120"/>
                        </a:rPr>
                        <a:t>Close rate</a:t>
                      </a:r>
                      <a:endParaRPr lang="en-US" sz="1400" dirty="0">
                        <a:latin typeface="Arial" charset="0"/>
                        <a:ea typeface="Arial" charset="0"/>
                        <a:cs typeface="Arial" charset="0"/>
                      </a:endParaRPr>
                    </a:p>
                  </a:txBody>
                  <a:tcPr marL="91440" marR="91440" marT="45720" marB="45720" anchor="ctr">
                    <a:lnL w="6350" cap="flat" cmpd="sng" algn="ctr">
                      <a:solidFill>
                        <a:srgbClr val="2C2344"/>
                      </a:solidFill>
                      <a:prstDash val="solid"/>
                      <a:round/>
                      <a:headEnd type="none" w="med" len="med"/>
                      <a:tailEnd type="none" w="med" len="med"/>
                    </a:lnL>
                    <a:lnR w="6350" cap="flat" cmpd="sng" algn="ctr">
                      <a:solidFill>
                        <a:srgbClr val="2C2344"/>
                      </a:solidFill>
                      <a:prstDash val="solid"/>
                      <a:round/>
                      <a:headEnd type="none" w="med" len="med"/>
                      <a:tailEnd type="none" w="med" len="med"/>
                    </a:lnR>
                    <a:lnT w="6350" cap="flat" cmpd="sng" algn="ctr">
                      <a:solidFill>
                        <a:srgbClr val="2C2344"/>
                      </a:solidFill>
                      <a:prstDash val="solid"/>
                      <a:round/>
                      <a:headEnd type="none" w="med" len="med"/>
                      <a:tailEnd type="none" w="med" len="med"/>
                    </a:lnT>
                    <a:lnB w="6350" cap="flat" cmpd="sng" algn="ctr">
                      <a:solidFill>
                        <a:srgbClr val="2C2344"/>
                      </a:solidFill>
                      <a:prstDash val="solid"/>
                      <a:round/>
                      <a:headEnd type="none" w="med" len="med"/>
                      <a:tailEnd type="none" w="med" len="med"/>
                    </a:lnB>
                    <a:solidFill>
                      <a:srgbClr val="120F18"/>
                    </a:solidFill>
                  </a:tcPr>
                </a:tc>
                <a:tc>
                  <a:txBody>
                    <a:bodyPr/>
                    <a:lstStyle/>
                    <a:p>
                      <a:pPr algn="ctr" indent="0" marL="0">
                        <a:buNone/>
                      </a:pPr>
                      <a:r>
                        <a:rPr lang="en-US" sz="1400" b="1" dirty="0">
                          <a:solidFill>
                            <a:srgbClr val="B79CFF"/>
                          </a:solidFill>
                          <a:latin typeface="Arial" pitchFamily="34" charset="0"/>
                          <a:ea typeface="Arial" pitchFamily="34" charset="-122"/>
                          <a:cs typeface="Arial" pitchFamily="34" charset="-120"/>
                        </a:rPr>
                        <a:t>&gt; 30%</a:t>
                      </a:r>
                      <a:endParaRPr lang="en-US" sz="1400" dirty="0">
                        <a:latin typeface="Arial" charset="0"/>
                        <a:ea typeface="Arial" charset="0"/>
                        <a:cs typeface="Arial" charset="0"/>
                      </a:endParaRPr>
                    </a:p>
                  </a:txBody>
                  <a:tcPr marL="91440" marR="91440" marT="45720" marB="45720" anchor="ctr">
                    <a:lnL w="6350" cap="flat" cmpd="sng" algn="ctr">
                      <a:solidFill>
                        <a:srgbClr val="2C2344"/>
                      </a:solidFill>
                      <a:prstDash val="solid"/>
                      <a:round/>
                      <a:headEnd type="none" w="med" len="med"/>
                      <a:tailEnd type="none" w="med" len="med"/>
                    </a:lnL>
                    <a:lnR w="6350" cap="flat" cmpd="sng" algn="ctr">
                      <a:solidFill>
                        <a:srgbClr val="2C2344"/>
                      </a:solidFill>
                      <a:prstDash val="solid"/>
                      <a:round/>
                      <a:headEnd type="none" w="med" len="med"/>
                      <a:tailEnd type="none" w="med" len="med"/>
                    </a:lnR>
                    <a:lnT w="6350" cap="flat" cmpd="sng" algn="ctr">
                      <a:solidFill>
                        <a:srgbClr val="2C2344"/>
                      </a:solidFill>
                      <a:prstDash val="solid"/>
                      <a:round/>
                      <a:headEnd type="none" w="med" len="med"/>
                      <a:tailEnd type="none" w="med" len="med"/>
                    </a:lnT>
                    <a:lnB w="6350" cap="flat" cmpd="sng" algn="ctr">
                      <a:solidFill>
                        <a:srgbClr val="2C2344"/>
                      </a:solidFill>
                      <a:prstDash val="solid"/>
                      <a:round/>
                      <a:headEnd type="none" w="med" len="med"/>
                      <a:tailEnd type="none" w="med" len="med"/>
                    </a:lnB>
                    <a:solidFill>
                      <a:srgbClr val="120F18"/>
                    </a:solidFill>
                  </a:tcPr>
                </a:tc>
              </a:tr>
              <a:tr h="365760">
                <a:tc>
                  <a:txBody>
                    <a:bodyPr/>
                    <a:lstStyle/>
                    <a:p>
                      <a:pPr indent="0" marL="0">
                        <a:buNone/>
                      </a:pPr>
                      <a:r>
                        <a:rPr lang="en-US" sz="1400" dirty="0">
                          <a:solidFill>
                            <a:srgbClr val="FFFFFF"/>
                          </a:solidFill>
                          <a:latin typeface="Arial" pitchFamily="34" charset="0"/>
                          <a:ea typeface="Arial" pitchFamily="34" charset="-122"/>
                          <a:cs typeface="Arial" pitchFamily="34" charset="-120"/>
                        </a:rPr>
                        <a:t>Return on contracted revenue</a:t>
                      </a:r>
                      <a:endParaRPr lang="en-US" sz="1400" dirty="0">
                        <a:latin typeface="Arial" charset="0"/>
                        <a:ea typeface="Arial" charset="0"/>
                        <a:cs typeface="Arial" charset="0"/>
                      </a:endParaRPr>
                    </a:p>
                  </a:txBody>
                  <a:tcPr marL="91440" marR="91440" marT="45720" marB="45720" anchor="ctr">
                    <a:lnL w="6350" cap="flat" cmpd="sng" algn="ctr">
                      <a:solidFill>
                        <a:srgbClr val="2C2344"/>
                      </a:solidFill>
                      <a:prstDash val="solid"/>
                      <a:round/>
                      <a:headEnd type="none" w="med" len="med"/>
                      <a:tailEnd type="none" w="med" len="med"/>
                    </a:lnL>
                    <a:lnR w="6350" cap="flat" cmpd="sng" algn="ctr">
                      <a:solidFill>
                        <a:srgbClr val="2C2344"/>
                      </a:solidFill>
                      <a:prstDash val="solid"/>
                      <a:round/>
                      <a:headEnd type="none" w="med" len="med"/>
                      <a:tailEnd type="none" w="med" len="med"/>
                    </a:lnR>
                    <a:lnT w="6350" cap="flat" cmpd="sng" algn="ctr">
                      <a:solidFill>
                        <a:srgbClr val="2C2344"/>
                      </a:solidFill>
                      <a:prstDash val="solid"/>
                      <a:round/>
                      <a:headEnd type="none" w="med" len="med"/>
                      <a:tailEnd type="none" w="med" len="med"/>
                    </a:lnT>
                    <a:lnB w="6350" cap="flat" cmpd="sng" algn="ctr">
                      <a:solidFill>
                        <a:srgbClr val="2C2344"/>
                      </a:solidFill>
                      <a:prstDash val="solid"/>
                      <a:round/>
                      <a:headEnd type="none" w="med" len="med"/>
                      <a:tailEnd type="none" w="med" len="med"/>
                    </a:lnB>
                    <a:solidFill>
                      <a:srgbClr val="17131F"/>
                    </a:solidFill>
                  </a:tcPr>
                </a:tc>
                <a:tc>
                  <a:txBody>
                    <a:bodyPr/>
                    <a:lstStyle/>
                    <a:p>
                      <a:pPr algn="ctr" indent="0" marL="0">
                        <a:buNone/>
                      </a:pPr>
                      <a:r>
                        <a:rPr lang="en-US" sz="1400" b="1" dirty="0">
                          <a:solidFill>
                            <a:srgbClr val="B79CFF"/>
                          </a:solidFill>
                          <a:latin typeface="Arial" pitchFamily="34" charset="0"/>
                          <a:ea typeface="Arial" pitchFamily="34" charset="-122"/>
                          <a:cs typeface="Arial" pitchFamily="34" charset="-120"/>
                        </a:rPr>
                        <a:t>&gt; 4x</a:t>
                      </a:r>
                      <a:endParaRPr lang="en-US" sz="1400" dirty="0">
                        <a:latin typeface="Arial" charset="0"/>
                        <a:ea typeface="Arial" charset="0"/>
                        <a:cs typeface="Arial" charset="0"/>
                      </a:endParaRPr>
                    </a:p>
                  </a:txBody>
                  <a:tcPr marL="91440" marR="91440" marT="45720" marB="45720" anchor="ctr">
                    <a:lnL w="6350" cap="flat" cmpd="sng" algn="ctr">
                      <a:solidFill>
                        <a:srgbClr val="2C2344"/>
                      </a:solidFill>
                      <a:prstDash val="solid"/>
                      <a:round/>
                      <a:headEnd type="none" w="med" len="med"/>
                      <a:tailEnd type="none" w="med" len="med"/>
                    </a:lnL>
                    <a:lnR w="6350" cap="flat" cmpd="sng" algn="ctr">
                      <a:solidFill>
                        <a:srgbClr val="2C2344"/>
                      </a:solidFill>
                      <a:prstDash val="solid"/>
                      <a:round/>
                      <a:headEnd type="none" w="med" len="med"/>
                      <a:tailEnd type="none" w="med" len="med"/>
                    </a:lnR>
                    <a:lnT w="6350" cap="flat" cmpd="sng" algn="ctr">
                      <a:solidFill>
                        <a:srgbClr val="2C2344"/>
                      </a:solidFill>
                      <a:prstDash val="solid"/>
                      <a:round/>
                      <a:headEnd type="none" w="med" len="med"/>
                      <a:tailEnd type="none" w="med" len="med"/>
                    </a:lnT>
                    <a:lnB w="6350" cap="flat" cmpd="sng" algn="ctr">
                      <a:solidFill>
                        <a:srgbClr val="2C2344"/>
                      </a:solidFill>
                      <a:prstDash val="solid"/>
                      <a:round/>
                      <a:headEnd type="none" w="med" len="med"/>
                      <a:tailEnd type="none" w="med" len="med"/>
                    </a:lnB>
                    <a:solidFill>
                      <a:srgbClr val="17131F"/>
                    </a:solidFill>
                  </a:tcPr>
                </a:tc>
              </a:tr>
              <a:tr h="365760">
                <a:tc>
                  <a:txBody>
                    <a:bodyPr/>
                    <a:lstStyle/>
                    <a:p>
                      <a:pPr indent="0" marL="0">
                        <a:buNone/>
                      </a:pPr>
                      <a:r>
                        <a:rPr lang="en-US" sz="1400" dirty="0">
                          <a:solidFill>
                            <a:srgbClr val="FFFFFF"/>
                          </a:solidFill>
                          <a:latin typeface="Arial" pitchFamily="34" charset="0"/>
                          <a:ea typeface="Arial" pitchFamily="34" charset="-122"/>
                          <a:cs typeface="Arial" pitchFamily="34" charset="-120"/>
                        </a:rPr>
                        <a:t>Return on cash collected</a:t>
                      </a:r>
                      <a:endParaRPr lang="en-US" sz="1400" dirty="0">
                        <a:latin typeface="Arial" charset="0"/>
                        <a:ea typeface="Arial" charset="0"/>
                        <a:cs typeface="Arial" charset="0"/>
                      </a:endParaRPr>
                    </a:p>
                  </a:txBody>
                  <a:tcPr marL="91440" marR="91440" marT="45720" marB="45720" anchor="ctr">
                    <a:lnL w="6350" cap="flat" cmpd="sng" algn="ctr">
                      <a:solidFill>
                        <a:srgbClr val="2C2344"/>
                      </a:solidFill>
                      <a:prstDash val="solid"/>
                      <a:round/>
                      <a:headEnd type="none" w="med" len="med"/>
                      <a:tailEnd type="none" w="med" len="med"/>
                    </a:lnL>
                    <a:lnR w="6350" cap="flat" cmpd="sng" algn="ctr">
                      <a:solidFill>
                        <a:srgbClr val="2C2344"/>
                      </a:solidFill>
                      <a:prstDash val="solid"/>
                      <a:round/>
                      <a:headEnd type="none" w="med" len="med"/>
                      <a:tailEnd type="none" w="med" len="med"/>
                    </a:lnR>
                    <a:lnT w="6350" cap="flat" cmpd="sng" algn="ctr">
                      <a:solidFill>
                        <a:srgbClr val="2C2344"/>
                      </a:solidFill>
                      <a:prstDash val="solid"/>
                      <a:round/>
                      <a:headEnd type="none" w="med" len="med"/>
                      <a:tailEnd type="none" w="med" len="med"/>
                    </a:lnT>
                    <a:lnB w="6350" cap="flat" cmpd="sng" algn="ctr">
                      <a:solidFill>
                        <a:srgbClr val="2C2344"/>
                      </a:solidFill>
                      <a:prstDash val="solid"/>
                      <a:round/>
                      <a:headEnd type="none" w="med" len="med"/>
                      <a:tailEnd type="none" w="med" len="med"/>
                    </a:lnB>
                    <a:solidFill>
                      <a:srgbClr val="120F18"/>
                    </a:solidFill>
                  </a:tcPr>
                </a:tc>
                <a:tc>
                  <a:txBody>
                    <a:bodyPr/>
                    <a:lstStyle/>
                    <a:p>
                      <a:pPr algn="ctr" indent="0" marL="0">
                        <a:buNone/>
                      </a:pPr>
                      <a:r>
                        <a:rPr lang="en-US" sz="1400" b="1" dirty="0">
                          <a:solidFill>
                            <a:srgbClr val="B79CFF"/>
                          </a:solidFill>
                          <a:latin typeface="Arial" pitchFamily="34" charset="0"/>
                          <a:ea typeface="Arial" pitchFamily="34" charset="-122"/>
                          <a:cs typeface="Arial" pitchFamily="34" charset="-120"/>
                        </a:rPr>
                        <a:t>&gt; 2x</a:t>
                      </a:r>
                      <a:endParaRPr lang="en-US" sz="1400" dirty="0">
                        <a:latin typeface="Arial" charset="0"/>
                        <a:ea typeface="Arial" charset="0"/>
                        <a:cs typeface="Arial" charset="0"/>
                      </a:endParaRPr>
                    </a:p>
                  </a:txBody>
                  <a:tcPr marL="91440" marR="91440" marT="45720" marB="45720" anchor="ctr">
                    <a:lnL w="6350" cap="flat" cmpd="sng" algn="ctr">
                      <a:solidFill>
                        <a:srgbClr val="2C2344"/>
                      </a:solidFill>
                      <a:prstDash val="solid"/>
                      <a:round/>
                      <a:headEnd type="none" w="med" len="med"/>
                      <a:tailEnd type="none" w="med" len="med"/>
                    </a:lnL>
                    <a:lnR w="6350" cap="flat" cmpd="sng" algn="ctr">
                      <a:solidFill>
                        <a:srgbClr val="2C2344"/>
                      </a:solidFill>
                      <a:prstDash val="solid"/>
                      <a:round/>
                      <a:headEnd type="none" w="med" len="med"/>
                      <a:tailEnd type="none" w="med" len="med"/>
                    </a:lnR>
                    <a:lnT w="6350" cap="flat" cmpd="sng" algn="ctr">
                      <a:solidFill>
                        <a:srgbClr val="2C2344"/>
                      </a:solidFill>
                      <a:prstDash val="solid"/>
                      <a:round/>
                      <a:headEnd type="none" w="med" len="med"/>
                      <a:tailEnd type="none" w="med" len="med"/>
                    </a:lnT>
                    <a:lnB w="6350" cap="flat" cmpd="sng" algn="ctr">
                      <a:solidFill>
                        <a:srgbClr val="2C2344"/>
                      </a:solidFill>
                      <a:prstDash val="solid"/>
                      <a:round/>
                      <a:headEnd type="none" w="med" len="med"/>
                      <a:tailEnd type="none" w="med" len="med"/>
                    </a:lnB>
                    <a:solidFill>
                      <a:srgbClr val="120F18"/>
                    </a:solidFill>
                  </a:tcPr>
                </a:tc>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548640" y="365760"/>
            <a:ext cx="80467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The </a:t>
            </a:r>
            <a:pPr indent="0" marL="0">
              <a:buNone/>
            </a:pPr>
            <a:r>
              <a:rPr lang="en-US" sz="3000" b="1" dirty="0">
                <a:solidFill>
                  <a:srgbClr val="B79CFF"/>
                </a:solidFill>
                <a:latin typeface="Arial" pitchFamily="34" charset="0"/>
                <a:ea typeface="Arial" pitchFamily="34" charset="-122"/>
                <a:cs typeface="Arial" pitchFamily="34" charset="-120"/>
              </a:rPr>
              <a:t>90-day</a:t>
            </a:r>
            <a:pPr indent="0" marL="0">
              <a:buNone/>
            </a:pPr>
            <a:r>
              <a:rPr lang="en-US" sz="3000" b="1" dirty="0">
                <a:solidFill>
                  <a:srgbClr val="FFFFFF"/>
                </a:solidFill>
                <a:latin typeface="Arial" pitchFamily="34" charset="0"/>
                <a:ea typeface="Arial" pitchFamily="34" charset="-122"/>
                <a:cs typeface="Arial" pitchFamily="34" charset="-120"/>
              </a:rPr>
              <a:t> journey</a:t>
            </a:r>
            <a:endParaRPr lang="en-US" sz="3000" dirty="0"/>
          </a:p>
        </p:txBody>
      </p:sp>
      <p:sp>
        <p:nvSpPr>
          <p:cNvPr id="3" name="Shape 1"/>
          <p:cNvSpPr/>
          <p:nvPr/>
        </p:nvSpPr>
        <p:spPr>
          <a:xfrm>
            <a:off x="548640" y="1234440"/>
            <a:ext cx="2499360" cy="3017520"/>
          </a:xfrm>
          <a:prstGeom prst="roundRect">
            <a:avLst>
              <a:gd name="adj" fmla="val 4390"/>
            </a:avLst>
          </a:prstGeom>
          <a:solidFill>
            <a:srgbClr val="17131F"/>
          </a:solidFill>
          <a:ln w="12700">
            <a:solidFill>
              <a:srgbClr val="2C2344"/>
            </a:solidFill>
            <a:prstDash val="solid"/>
          </a:ln>
        </p:spPr>
      </p:sp>
      <p:sp>
        <p:nvSpPr>
          <p:cNvPr id="4" name="Text 2"/>
          <p:cNvSpPr txBox="1"/>
          <p:nvPr/>
        </p:nvSpPr>
        <p:spPr>
          <a:xfrm>
            <a:off x="777240" y="1417320"/>
            <a:ext cx="914400" cy="457200"/>
          </a:xfrm>
          <a:prstGeom prst="rect">
            <a:avLst/>
          </a:prstGeom>
          <a:noFill/>
          <a:ln/>
        </p:spPr>
        <p:txBody>
          <a:bodyPr wrap="square" lIns="0" tIns="0" rIns="0" bIns="0" rtlCol="0" anchor="ctr"/>
          <a:lstStyle/>
          <a:p>
            <a:pPr indent="0" marL="0">
              <a:buNone/>
            </a:pPr>
            <a:r>
              <a:rPr lang="en-US" sz="2600" b="1" dirty="0">
                <a:solidFill>
                  <a:srgbClr val="7C3CFF"/>
                </a:solidFill>
                <a:latin typeface="Arial" pitchFamily="34" charset="0"/>
                <a:ea typeface="Arial" pitchFamily="34" charset="-122"/>
                <a:cs typeface="Arial" pitchFamily="34" charset="-120"/>
              </a:rPr>
              <a:t>01</a:t>
            </a:r>
            <a:endParaRPr lang="en-US" sz="2600" dirty="0"/>
          </a:p>
        </p:txBody>
      </p:sp>
      <p:sp>
        <p:nvSpPr>
          <p:cNvPr id="5" name="Shape 3"/>
          <p:cNvSpPr/>
          <p:nvPr/>
        </p:nvSpPr>
        <p:spPr>
          <a:xfrm>
            <a:off x="1722120" y="1481328"/>
            <a:ext cx="1097280" cy="292608"/>
          </a:xfrm>
          <a:prstGeom prst="roundRect">
            <a:avLst>
              <a:gd name="adj" fmla="val 50000"/>
            </a:avLst>
          </a:prstGeom>
          <a:solidFill>
            <a:srgbClr val="7C3CFF"/>
          </a:solidFill>
          <a:ln w="12700">
            <a:solidFill>
              <a:srgbClr val="7C3CFF"/>
            </a:solidFill>
            <a:prstDash val="solid"/>
          </a:ln>
        </p:spPr>
      </p:sp>
      <p:sp>
        <p:nvSpPr>
          <p:cNvPr id="6" name="Text 4"/>
          <p:cNvSpPr txBox="1"/>
          <p:nvPr/>
        </p:nvSpPr>
        <p:spPr>
          <a:xfrm>
            <a:off x="1722120" y="1481328"/>
            <a:ext cx="10972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Done for you</a:t>
            </a:r>
            <a:endParaRPr lang="en-US" sz="1000" dirty="0"/>
          </a:p>
        </p:txBody>
      </p:sp>
      <p:sp>
        <p:nvSpPr>
          <p:cNvPr id="7" name="Text 5"/>
          <p:cNvSpPr txBox="1"/>
          <p:nvPr/>
        </p:nvSpPr>
        <p:spPr>
          <a:xfrm>
            <a:off x="777240" y="2011680"/>
            <a:ext cx="2042160" cy="274320"/>
          </a:xfrm>
          <a:prstGeom prst="rect">
            <a:avLst/>
          </a:prstGeom>
          <a:noFill/>
          <a:ln/>
        </p:spPr>
        <p:txBody>
          <a:bodyPr wrap="square" lIns="0" tIns="0" rIns="0" bIns="0" rtlCol="0" anchor="ctr"/>
          <a:lstStyle/>
          <a:p>
            <a:pPr indent="0" marL="0">
              <a:buNone/>
            </a:pPr>
            <a:r>
              <a:rPr lang="en-US" sz="1200" dirty="0">
                <a:solidFill>
                  <a:srgbClr val="A6A1B5"/>
                </a:solidFill>
                <a:latin typeface="Arial" pitchFamily="34" charset="0"/>
                <a:ea typeface="Arial" pitchFamily="34" charset="-122"/>
                <a:cs typeface="Arial" pitchFamily="34" charset="-120"/>
              </a:rPr>
              <a:t>Week 1</a:t>
            </a:r>
            <a:endParaRPr lang="en-US" sz="1200" dirty="0"/>
          </a:p>
        </p:txBody>
      </p:sp>
      <p:sp>
        <p:nvSpPr>
          <p:cNvPr id="8" name="Text 6"/>
          <p:cNvSpPr txBox="1"/>
          <p:nvPr/>
        </p:nvSpPr>
        <p:spPr>
          <a:xfrm>
            <a:off x="777240" y="2286000"/>
            <a:ext cx="2042160" cy="4114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Welcome &amp; setup</a:t>
            </a:r>
            <a:endParaRPr lang="en-US" sz="1800" dirty="0"/>
          </a:p>
        </p:txBody>
      </p:sp>
      <p:sp>
        <p:nvSpPr>
          <p:cNvPr id="9" name="Text 7"/>
          <p:cNvSpPr txBox="1"/>
          <p:nvPr/>
        </p:nvSpPr>
        <p:spPr>
          <a:xfrm>
            <a:off x="777240" y="2788920"/>
            <a:ext cx="2042160" cy="1325880"/>
          </a:xfrm>
          <a:prstGeom prst="rect">
            <a:avLst/>
          </a:prstGeom>
          <a:noFill/>
          <a:ln/>
        </p:spPr>
        <p:txBody>
          <a:bodyPr wrap="square" lIns="0" tIns="0" rIns="0" bIns="0" rtlCol="0" anchor="t"/>
          <a:lstStyle/>
          <a:p>
            <a:pPr indent="0" marL="0">
              <a:buNone/>
            </a:pPr>
            <a:r>
              <a:rPr lang="en-US" sz="1250" dirty="0">
                <a:solidFill>
                  <a:srgbClr val="A6A1B5"/>
                </a:solidFill>
                <a:latin typeface="Arial" pitchFamily="34" charset="0"/>
                <a:ea typeface="Arial" pitchFamily="34" charset="-122"/>
                <a:cs typeface="Arial" pitchFamily="34" charset="-120"/>
              </a:rPr>
              <a:t>GrowthOS™ portal, 1:1 onboarding with Ema &amp; Viktorija, private Slack, ad accounts &amp; tracking connected</a:t>
            </a:r>
            <a:endParaRPr lang="en-US" sz="1250" dirty="0"/>
          </a:p>
        </p:txBody>
      </p:sp>
      <p:sp>
        <p:nvSpPr>
          <p:cNvPr id="10" name="Shape 8"/>
          <p:cNvSpPr/>
          <p:nvPr/>
        </p:nvSpPr>
        <p:spPr>
          <a:xfrm>
            <a:off x="3322320" y="1234440"/>
            <a:ext cx="2499360" cy="3017520"/>
          </a:xfrm>
          <a:prstGeom prst="roundRect">
            <a:avLst>
              <a:gd name="adj" fmla="val 4390"/>
            </a:avLst>
          </a:prstGeom>
          <a:solidFill>
            <a:srgbClr val="17131F"/>
          </a:solidFill>
          <a:ln w="12700">
            <a:solidFill>
              <a:srgbClr val="2C2344"/>
            </a:solidFill>
            <a:prstDash val="solid"/>
          </a:ln>
        </p:spPr>
      </p:sp>
      <p:sp>
        <p:nvSpPr>
          <p:cNvPr id="11" name="Text 9"/>
          <p:cNvSpPr txBox="1"/>
          <p:nvPr/>
        </p:nvSpPr>
        <p:spPr>
          <a:xfrm>
            <a:off x="3550920" y="1417320"/>
            <a:ext cx="914400" cy="457200"/>
          </a:xfrm>
          <a:prstGeom prst="rect">
            <a:avLst/>
          </a:prstGeom>
          <a:noFill/>
          <a:ln/>
        </p:spPr>
        <p:txBody>
          <a:bodyPr wrap="square" lIns="0" tIns="0" rIns="0" bIns="0" rtlCol="0" anchor="ctr"/>
          <a:lstStyle/>
          <a:p>
            <a:pPr indent="0" marL="0">
              <a:buNone/>
            </a:pPr>
            <a:r>
              <a:rPr lang="en-US" sz="2600" b="1" dirty="0">
                <a:solidFill>
                  <a:srgbClr val="7C3CFF"/>
                </a:solidFill>
                <a:latin typeface="Arial" pitchFamily="34" charset="0"/>
                <a:ea typeface="Arial" pitchFamily="34" charset="-122"/>
                <a:cs typeface="Arial" pitchFamily="34" charset="-120"/>
              </a:rPr>
              <a:t>02</a:t>
            </a:r>
            <a:endParaRPr lang="en-US" sz="2600" dirty="0"/>
          </a:p>
        </p:txBody>
      </p:sp>
      <p:sp>
        <p:nvSpPr>
          <p:cNvPr id="12" name="Shape 10"/>
          <p:cNvSpPr/>
          <p:nvPr/>
        </p:nvSpPr>
        <p:spPr>
          <a:xfrm>
            <a:off x="4495800" y="1481328"/>
            <a:ext cx="1097280" cy="292608"/>
          </a:xfrm>
          <a:prstGeom prst="roundRect">
            <a:avLst>
              <a:gd name="adj" fmla="val 50000"/>
            </a:avLst>
          </a:prstGeom>
          <a:solidFill>
            <a:srgbClr val="7C3CFF"/>
          </a:solidFill>
          <a:ln w="12700">
            <a:solidFill>
              <a:srgbClr val="7C3CFF"/>
            </a:solidFill>
            <a:prstDash val="solid"/>
          </a:ln>
        </p:spPr>
      </p:sp>
      <p:sp>
        <p:nvSpPr>
          <p:cNvPr id="13" name="Text 11"/>
          <p:cNvSpPr txBox="1"/>
          <p:nvPr/>
        </p:nvSpPr>
        <p:spPr>
          <a:xfrm>
            <a:off x="4495800" y="1481328"/>
            <a:ext cx="10972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Done for you</a:t>
            </a:r>
            <a:endParaRPr lang="en-US" sz="1000" dirty="0"/>
          </a:p>
        </p:txBody>
      </p:sp>
      <p:sp>
        <p:nvSpPr>
          <p:cNvPr id="14" name="Text 12"/>
          <p:cNvSpPr txBox="1"/>
          <p:nvPr/>
        </p:nvSpPr>
        <p:spPr>
          <a:xfrm>
            <a:off x="3550920" y="2011680"/>
            <a:ext cx="2042160" cy="274320"/>
          </a:xfrm>
          <a:prstGeom prst="rect">
            <a:avLst/>
          </a:prstGeom>
          <a:noFill/>
          <a:ln/>
        </p:spPr>
        <p:txBody>
          <a:bodyPr wrap="square" lIns="0" tIns="0" rIns="0" bIns="0" rtlCol="0" anchor="ctr"/>
          <a:lstStyle/>
          <a:p>
            <a:pPr indent="0" marL="0">
              <a:buNone/>
            </a:pPr>
            <a:r>
              <a:rPr lang="en-US" sz="1200" dirty="0">
                <a:solidFill>
                  <a:srgbClr val="A6A1B5"/>
                </a:solidFill>
                <a:latin typeface="Arial" pitchFamily="34" charset="0"/>
                <a:ea typeface="Arial" pitchFamily="34" charset="-122"/>
                <a:cs typeface="Arial" pitchFamily="34" charset="-120"/>
              </a:rPr>
              <a:t>Weeks 2–4</a:t>
            </a:r>
            <a:endParaRPr lang="en-US" sz="1200" dirty="0"/>
          </a:p>
        </p:txBody>
      </p:sp>
      <p:sp>
        <p:nvSpPr>
          <p:cNvPr id="15" name="Text 13"/>
          <p:cNvSpPr txBox="1"/>
          <p:nvPr/>
        </p:nvSpPr>
        <p:spPr>
          <a:xfrm>
            <a:off x="3550920" y="2286000"/>
            <a:ext cx="2042160" cy="4114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Strategy &amp; build</a:t>
            </a:r>
            <a:endParaRPr lang="en-US" sz="1800" dirty="0"/>
          </a:p>
        </p:txBody>
      </p:sp>
      <p:sp>
        <p:nvSpPr>
          <p:cNvPr id="16" name="Text 14"/>
          <p:cNvSpPr txBox="1"/>
          <p:nvPr/>
        </p:nvSpPr>
        <p:spPr>
          <a:xfrm>
            <a:off x="3550920" y="2788920"/>
            <a:ext cx="2042160" cy="1325880"/>
          </a:xfrm>
          <a:prstGeom prst="rect">
            <a:avLst/>
          </a:prstGeom>
          <a:noFill/>
          <a:ln/>
        </p:spPr>
        <p:txBody>
          <a:bodyPr wrap="square" lIns="0" tIns="0" rIns="0" bIns="0" rtlCol="0" anchor="t"/>
          <a:lstStyle/>
          <a:p>
            <a:pPr indent="0" marL="0">
              <a:buNone/>
            </a:pPr>
            <a:r>
              <a:rPr lang="en-US" sz="1250" dirty="0">
                <a:solidFill>
                  <a:srgbClr val="A6A1B5"/>
                </a:solidFill>
                <a:latin typeface="Arial" pitchFamily="34" charset="0"/>
                <a:ea typeface="Arial" pitchFamily="34" charset="-122"/>
                <a:cs typeface="Arial" pitchFamily="34" charset="-120"/>
              </a:rPr>
              <a:t>Offer, ads, landing pages, funnel and sales process built. Ads live in 14 days</a:t>
            </a:r>
            <a:endParaRPr lang="en-US" sz="1250" dirty="0"/>
          </a:p>
        </p:txBody>
      </p:sp>
      <p:sp>
        <p:nvSpPr>
          <p:cNvPr id="17" name="Shape 15"/>
          <p:cNvSpPr/>
          <p:nvPr/>
        </p:nvSpPr>
        <p:spPr>
          <a:xfrm>
            <a:off x="6096000" y="1234440"/>
            <a:ext cx="2499360" cy="3017520"/>
          </a:xfrm>
          <a:prstGeom prst="roundRect">
            <a:avLst>
              <a:gd name="adj" fmla="val 4390"/>
            </a:avLst>
          </a:prstGeom>
          <a:solidFill>
            <a:srgbClr val="17131F"/>
          </a:solidFill>
          <a:ln w="12700">
            <a:solidFill>
              <a:srgbClr val="2C2344"/>
            </a:solidFill>
            <a:prstDash val="solid"/>
          </a:ln>
        </p:spPr>
      </p:sp>
      <p:sp>
        <p:nvSpPr>
          <p:cNvPr id="18" name="Text 16"/>
          <p:cNvSpPr txBox="1"/>
          <p:nvPr/>
        </p:nvSpPr>
        <p:spPr>
          <a:xfrm>
            <a:off x="6324600" y="1417320"/>
            <a:ext cx="914400" cy="457200"/>
          </a:xfrm>
          <a:prstGeom prst="rect">
            <a:avLst/>
          </a:prstGeom>
          <a:noFill/>
          <a:ln/>
        </p:spPr>
        <p:txBody>
          <a:bodyPr wrap="square" lIns="0" tIns="0" rIns="0" bIns="0" rtlCol="0" anchor="ctr"/>
          <a:lstStyle/>
          <a:p>
            <a:pPr indent="0" marL="0">
              <a:buNone/>
            </a:pPr>
            <a:r>
              <a:rPr lang="en-US" sz="2600" b="1" dirty="0">
                <a:solidFill>
                  <a:srgbClr val="7C3CFF"/>
                </a:solidFill>
                <a:latin typeface="Arial" pitchFamily="34" charset="0"/>
                <a:ea typeface="Arial" pitchFamily="34" charset="-122"/>
                <a:cs typeface="Arial" pitchFamily="34" charset="-120"/>
              </a:rPr>
              <a:t>03</a:t>
            </a:r>
            <a:endParaRPr lang="en-US" sz="2600" dirty="0"/>
          </a:p>
        </p:txBody>
      </p:sp>
      <p:sp>
        <p:nvSpPr>
          <p:cNvPr id="19" name="Shape 17"/>
          <p:cNvSpPr/>
          <p:nvPr/>
        </p:nvSpPr>
        <p:spPr>
          <a:xfrm>
            <a:off x="7269480" y="1481328"/>
            <a:ext cx="1097280" cy="292608"/>
          </a:xfrm>
          <a:prstGeom prst="roundRect">
            <a:avLst>
              <a:gd name="adj" fmla="val 50000"/>
            </a:avLst>
          </a:prstGeom>
          <a:solidFill>
            <a:srgbClr val="2C2344"/>
          </a:solidFill>
          <a:ln w="12700">
            <a:solidFill>
              <a:srgbClr val="2C2344"/>
            </a:solidFill>
            <a:prstDash val="solid"/>
          </a:ln>
        </p:spPr>
      </p:sp>
      <p:sp>
        <p:nvSpPr>
          <p:cNvPr id="20" name="Text 18"/>
          <p:cNvSpPr txBox="1"/>
          <p:nvPr/>
        </p:nvSpPr>
        <p:spPr>
          <a:xfrm>
            <a:off x="7269480" y="1481328"/>
            <a:ext cx="10972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Coaching</a:t>
            </a:r>
            <a:endParaRPr lang="en-US" sz="1000" dirty="0"/>
          </a:p>
        </p:txBody>
      </p:sp>
      <p:sp>
        <p:nvSpPr>
          <p:cNvPr id="21" name="Text 19"/>
          <p:cNvSpPr txBox="1"/>
          <p:nvPr/>
        </p:nvSpPr>
        <p:spPr>
          <a:xfrm>
            <a:off x="6324600" y="2011680"/>
            <a:ext cx="2042160" cy="274320"/>
          </a:xfrm>
          <a:prstGeom prst="rect">
            <a:avLst/>
          </a:prstGeom>
          <a:noFill/>
          <a:ln/>
        </p:spPr>
        <p:txBody>
          <a:bodyPr wrap="square" lIns="0" tIns="0" rIns="0" bIns="0" rtlCol="0" anchor="ctr"/>
          <a:lstStyle/>
          <a:p>
            <a:pPr indent="0" marL="0">
              <a:buNone/>
            </a:pPr>
            <a:r>
              <a:rPr lang="en-US" sz="1200" dirty="0">
                <a:solidFill>
                  <a:srgbClr val="A6A1B5"/>
                </a:solidFill>
                <a:latin typeface="Arial" pitchFamily="34" charset="0"/>
                <a:ea typeface="Arial" pitchFamily="34" charset="-122"/>
                <a:cs typeface="Arial" pitchFamily="34" charset="-120"/>
              </a:rPr>
              <a:t>Days 30–90</a:t>
            </a:r>
            <a:endParaRPr lang="en-US" sz="1200" dirty="0"/>
          </a:p>
        </p:txBody>
      </p:sp>
      <p:sp>
        <p:nvSpPr>
          <p:cNvPr id="22" name="Text 20"/>
          <p:cNvSpPr txBox="1"/>
          <p:nvPr/>
        </p:nvSpPr>
        <p:spPr>
          <a:xfrm>
            <a:off x="6324600" y="2286000"/>
            <a:ext cx="2042160" cy="4114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Optimise &amp; grow</a:t>
            </a:r>
            <a:endParaRPr lang="en-US" sz="1800" dirty="0"/>
          </a:p>
        </p:txBody>
      </p:sp>
      <p:sp>
        <p:nvSpPr>
          <p:cNvPr id="23" name="Text 21"/>
          <p:cNvSpPr txBox="1"/>
          <p:nvPr/>
        </p:nvSpPr>
        <p:spPr>
          <a:xfrm>
            <a:off x="6324600" y="2788920"/>
            <a:ext cx="2042160" cy="1325880"/>
          </a:xfrm>
          <a:prstGeom prst="rect">
            <a:avLst/>
          </a:prstGeom>
          <a:noFill/>
          <a:ln/>
        </p:spPr>
        <p:txBody>
          <a:bodyPr wrap="square" lIns="0" tIns="0" rIns="0" bIns="0" rtlCol="0" anchor="t"/>
          <a:lstStyle/>
          <a:p>
            <a:pPr indent="0" marL="0">
              <a:buNone/>
            </a:pPr>
            <a:r>
              <a:rPr lang="en-US" sz="1250" dirty="0">
                <a:solidFill>
                  <a:srgbClr val="A6A1B5"/>
                </a:solidFill>
                <a:latin typeface="Arial" pitchFamily="34" charset="0"/>
                <a:ea typeface="Arial" pitchFamily="34" charset="-122"/>
                <a:cs typeface="Arial" pitchFamily="34" charset="-120"/>
              </a:rPr>
              <a:t>We optimise the campaigns and coach you and your team on sales as we scale</a:t>
            </a:r>
            <a:endParaRPr lang="en-US" sz="12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548640" y="365760"/>
            <a:ext cx="80467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Let's recap the 5 steps</a:t>
            </a:r>
            <a:endParaRPr lang="en-US" sz="3000" dirty="0"/>
          </a:p>
        </p:txBody>
      </p:sp>
      <p:sp>
        <p:nvSpPr>
          <p:cNvPr id="3" name="Shape 1"/>
          <p:cNvSpPr/>
          <p:nvPr/>
        </p:nvSpPr>
        <p:spPr>
          <a:xfrm>
            <a:off x="548640" y="1234440"/>
            <a:ext cx="8046720" cy="533095"/>
          </a:xfrm>
          <a:prstGeom prst="roundRect">
            <a:avLst>
              <a:gd name="adj" fmla="val 20583"/>
            </a:avLst>
          </a:prstGeom>
          <a:solidFill>
            <a:srgbClr val="17131F"/>
          </a:solidFill>
          <a:ln w="12700">
            <a:solidFill>
              <a:srgbClr val="2C2344"/>
            </a:solidFill>
            <a:prstDash val="solid"/>
          </a:ln>
        </p:spPr>
      </p:sp>
      <p:sp>
        <p:nvSpPr>
          <p:cNvPr id="4" name="Shape 2"/>
          <p:cNvSpPr/>
          <p:nvPr/>
        </p:nvSpPr>
        <p:spPr>
          <a:xfrm>
            <a:off x="713232" y="1308964"/>
            <a:ext cx="384048" cy="384048"/>
          </a:xfrm>
          <a:prstGeom prst="ellipse">
            <a:avLst/>
          </a:prstGeom>
          <a:solidFill>
            <a:srgbClr val="7C3CFF"/>
          </a:solidFill>
          <a:ln w="12700">
            <a:solidFill>
              <a:srgbClr val="7C3CFF"/>
            </a:solidFill>
            <a:prstDash val="solid"/>
          </a:ln>
        </p:spPr>
      </p:sp>
      <p:sp>
        <p:nvSpPr>
          <p:cNvPr id="5" name="Text 3"/>
          <p:cNvSpPr txBox="1"/>
          <p:nvPr/>
        </p:nvSpPr>
        <p:spPr>
          <a:xfrm>
            <a:off x="713232" y="130896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txBox="1"/>
          <p:nvPr/>
        </p:nvSpPr>
        <p:spPr>
          <a:xfrm>
            <a:off x="1280160" y="1234440"/>
            <a:ext cx="7132320" cy="533095"/>
          </a:xfrm>
          <a:prstGeom prst="rect">
            <a:avLst/>
          </a:prstGeom>
          <a:noFill/>
          <a:ln/>
        </p:spPr>
        <p:txBody>
          <a:bodyPr wrap="square" lIns="0" tIns="0" rIns="0" bIns="0" rtlCol="0" anchor="ctr"/>
          <a:lstStyle/>
          <a:p>
            <a:pPr indent="0" marL="0">
              <a:buNone/>
            </a:pPr>
            <a:r>
              <a:rPr lang="en-US" sz="1500" b="1" dirty="0">
                <a:solidFill>
                  <a:srgbClr val="B79CFF"/>
                </a:solidFill>
                <a:latin typeface="Arial" pitchFamily="34" charset="0"/>
                <a:ea typeface="Arial" pitchFamily="34" charset="-122"/>
                <a:cs typeface="Arial" pitchFamily="34" charset="-120"/>
              </a:rPr>
              <a:t>Step 1:</a:t>
            </a:r>
            <a:pPr indent="0" marL="0">
              <a:buNone/>
            </a:pPr>
            <a:r>
              <a:rPr lang="en-US" sz="1500" dirty="0">
                <a:solidFill>
                  <a:srgbClr val="FFFFFF"/>
                </a:solidFill>
                <a:latin typeface="Arial" pitchFamily="34" charset="0"/>
                <a:ea typeface="Arial" pitchFamily="34" charset="-122"/>
                <a:cs typeface="Arial" pitchFamily="34" charset="-120"/>
              </a:rPr>
              <a:t> Strategy, Offer &amp; Database Reactivation</a:t>
            </a:r>
            <a:endParaRPr lang="en-US" sz="1500" dirty="0"/>
          </a:p>
        </p:txBody>
      </p:sp>
      <p:sp>
        <p:nvSpPr>
          <p:cNvPr id="7" name="Shape 5"/>
          <p:cNvSpPr/>
          <p:nvPr/>
        </p:nvSpPr>
        <p:spPr>
          <a:xfrm>
            <a:off x="548640" y="1895551"/>
            <a:ext cx="8046720" cy="533095"/>
          </a:xfrm>
          <a:prstGeom prst="roundRect">
            <a:avLst>
              <a:gd name="adj" fmla="val 20583"/>
            </a:avLst>
          </a:prstGeom>
          <a:solidFill>
            <a:srgbClr val="17131F"/>
          </a:solidFill>
          <a:ln w="12700">
            <a:solidFill>
              <a:srgbClr val="2C2344"/>
            </a:solidFill>
            <a:prstDash val="solid"/>
          </a:ln>
        </p:spPr>
      </p:sp>
      <p:sp>
        <p:nvSpPr>
          <p:cNvPr id="8" name="Shape 6"/>
          <p:cNvSpPr/>
          <p:nvPr/>
        </p:nvSpPr>
        <p:spPr>
          <a:xfrm>
            <a:off x="713232" y="1970075"/>
            <a:ext cx="384048" cy="384048"/>
          </a:xfrm>
          <a:prstGeom prst="ellipse">
            <a:avLst/>
          </a:prstGeom>
          <a:solidFill>
            <a:srgbClr val="7C3CFF"/>
          </a:solidFill>
          <a:ln w="12700">
            <a:solidFill>
              <a:srgbClr val="7C3CFF"/>
            </a:solidFill>
            <a:prstDash val="solid"/>
          </a:ln>
        </p:spPr>
      </p:sp>
      <p:sp>
        <p:nvSpPr>
          <p:cNvPr id="9" name="Text 7"/>
          <p:cNvSpPr txBox="1"/>
          <p:nvPr/>
        </p:nvSpPr>
        <p:spPr>
          <a:xfrm>
            <a:off x="713232" y="1970075"/>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0" name="Text 8"/>
          <p:cNvSpPr txBox="1"/>
          <p:nvPr/>
        </p:nvSpPr>
        <p:spPr>
          <a:xfrm>
            <a:off x="1280160" y="1895551"/>
            <a:ext cx="7132320" cy="533095"/>
          </a:xfrm>
          <a:prstGeom prst="rect">
            <a:avLst/>
          </a:prstGeom>
          <a:noFill/>
          <a:ln/>
        </p:spPr>
        <p:txBody>
          <a:bodyPr wrap="square" lIns="0" tIns="0" rIns="0" bIns="0" rtlCol="0" anchor="ctr"/>
          <a:lstStyle/>
          <a:p>
            <a:pPr indent="0" marL="0">
              <a:buNone/>
            </a:pPr>
            <a:r>
              <a:rPr lang="en-US" sz="1500" b="1" dirty="0">
                <a:solidFill>
                  <a:srgbClr val="B79CFF"/>
                </a:solidFill>
                <a:latin typeface="Arial" pitchFamily="34" charset="0"/>
                <a:ea typeface="Arial" pitchFamily="34" charset="-122"/>
                <a:cs typeface="Arial" pitchFamily="34" charset="-120"/>
              </a:rPr>
              <a:t>Step 2:</a:t>
            </a:r>
            <a:pPr indent="0" marL="0">
              <a:buNone/>
            </a:pPr>
            <a:r>
              <a:rPr lang="en-US" sz="1500" dirty="0">
                <a:solidFill>
                  <a:srgbClr val="FFFFFF"/>
                </a:solidFill>
                <a:latin typeface="Arial" pitchFamily="34" charset="0"/>
                <a:ea typeface="Arial" pitchFamily="34" charset="-122"/>
                <a:cs typeface="Arial" pitchFamily="34" charset="-120"/>
              </a:rPr>
              <a:t> Facebook &amp; Instagram Ads that filter for the right students</a:t>
            </a:r>
            <a:endParaRPr lang="en-US" sz="1500" dirty="0"/>
          </a:p>
        </p:txBody>
      </p:sp>
      <p:sp>
        <p:nvSpPr>
          <p:cNvPr id="11" name="Shape 9"/>
          <p:cNvSpPr/>
          <p:nvPr/>
        </p:nvSpPr>
        <p:spPr>
          <a:xfrm>
            <a:off x="548640" y="2556662"/>
            <a:ext cx="8046720" cy="533095"/>
          </a:xfrm>
          <a:prstGeom prst="roundRect">
            <a:avLst>
              <a:gd name="adj" fmla="val 20583"/>
            </a:avLst>
          </a:prstGeom>
          <a:solidFill>
            <a:srgbClr val="17131F"/>
          </a:solidFill>
          <a:ln w="12700">
            <a:solidFill>
              <a:srgbClr val="2C2344"/>
            </a:solidFill>
            <a:prstDash val="solid"/>
          </a:ln>
        </p:spPr>
      </p:sp>
      <p:sp>
        <p:nvSpPr>
          <p:cNvPr id="12" name="Shape 10"/>
          <p:cNvSpPr/>
          <p:nvPr/>
        </p:nvSpPr>
        <p:spPr>
          <a:xfrm>
            <a:off x="713232" y="2631186"/>
            <a:ext cx="384048" cy="384048"/>
          </a:xfrm>
          <a:prstGeom prst="ellipse">
            <a:avLst/>
          </a:prstGeom>
          <a:solidFill>
            <a:srgbClr val="7C3CFF"/>
          </a:solidFill>
          <a:ln w="12700">
            <a:solidFill>
              <a:srgbClr val="7C3CFF"/>
            </a:solidFill>
            <a:prstDash val="solid"/>
          </a:ln>
        </p:spPr>
      </p:sp>
      <p:sp>
        <p:nvSpPr>
          <p:cNvPr id="13" name="Text 11"/>
          <p:cNvSpPr txBox="1"/>
          <p:nvPr/>
        </p:nvSpPr>
        <p:spPr>
          <a:xfrm>
            <a:off x="713232" y="263118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4" name="Text 12"/>
          <p:cNvSpPr txBox="1"/>
          <p:nvPr/>
        </p:nvSpPr>
        <p:spPr>
          <a:xfrm>
            <a:off x="1280160" y="2556662"/>
            <a:ext cx="7132320" cy="533095"/>
          </a:xfrm>
          <a:prstGeom prst="rect">
            <a:avLst/>
          </a:prstGeom>
          <a:noFill/>
          <a:ln/>
        </p:spPr>
        <p:txBody>
          <a:bodyPr wrap="square" lIns="0" tIns="0" rIns="0" bIns="0" rtlCol="0" anchor="ctr"/>
          <a:lstStyle/>
          <a:p>
            <a:pPr indent="0" marL="0">
              <a:buNone/>
            </a:pPr>
            <a:r>
              <a:rPr lang="en-US" sz="1500" b="1" dirty="0">
                <a:solidFill>
                  <a:srgbClr val="B79CFF"/>
                </a:solidFill>
                <a:latin typeface="Arial" pitchFamily="34" charset="0"/>
                <a:ea typeface="Arial" pitchFamily="34" charset="-122"/>
                <a:cs typeface="Arial" pitchFamily="34" charset="-120"/>
              </a:rPr>
              <a:t>Step 3:</a:t>
            </a:r>
            <a:pPr indent="0" marL="0">
              <a:buNone/>
            </a:pPr>
            <a:r>
              <a:rPr lang="en-US" sz="1500" dirty="0">
                <a:solidFill>
                  <a:srgbClr val="FFFFFF"/>
                </a:solidFill>
                <a:latin typeface="Arial" pitchFamily="34" charset="0"/>
                <a:ea typeface="Arial" pitchFamily="34" charset="-122"/>
                <a:cs typeface="Arial" pitchFamily="34" charset="-120"/>
              </a:rPr>
              <a:t> Lead Qualification</a:t>
            </a:r>
            <a:endParaRPr lang="en-US" sz="1500" dirty="0"/>
          </a:p>
        </p:txBody>
      </p:sp>
      <p:sp>
        <p:nvSpPr>
          <p:cNvPr id="15" name="Shape 13"/>
          <p:cNvSpPr/>
          <p:nvPr/>
        </p:nvSpPr>
        <p:spPr>
          <a:xfrm>
            <a:off x="548640" y="3217774"/>
            <a:ext cx="8046720" cy="533095"/>
          </a:xfrm>
          <a:prstGeom prst="roundRect">
            <a:avLst>
              <a:gd name="adj" fmla="val 20583"/>
            </a:avLst>
          </a:prstGeom>
          <a:solidFill>
            <a:srgbClr val="17131F"/>
          </a:solidFill>
          <a:ln w="12700">
            <a:solidFill>
              <a:srgbClr val="2C2344"/>
            </a:solidFill>
            <a:prstDash val="solid"/>
          </a:ln>
        </p:spPr>
      </p:sp>
      <p:sp>
        <p:nvSpPr>
          <p:cNvPr id="16" name="Shape 14"/>
          <p:cNvSpPr/>
          <p:nvPr/>
        </p:nvSpPr>
        <p:spPr>
          <a:xfrm>
            <a:off x="713232" y="3292297"/>
            <a:ext cx="384048" cy="384048"/>
          </a:xfrm>
          <a:prstGeom prst="ellipse">
            <a:avLst/>
          </a:prstGeom>
          <a:solidFill>
            <a:srgbClr val="7C3CFF"/>
          </a:solidFill>
          <a:ln w="12700">
            <a:solidFill>
              <a:srgbClr val="7C3CFF"/>
            </a:solidFill>
            <a:prstDash val="solid"/>
          </a:ln>
        </p:spPr>
      </p:sp>
      <p:sp>
        <p:nvSpPr>
          <p:cNvPr id="17" name="Text 15"/>
          <p:cNvSpPr txBox="1"/>
          <p:nvPr/>
        </p:nvSpPr>
        <p:spPr>
          <a:xfrm>
            <a:off x="713232" y="3292297"/>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8" name="Text 16"/>
          <p:cNvSpPr txBox="1"/>
          <p:nvPr/>
        </p:nvSpPr>
        <p:spPr>
          <a:xfrm>
            <a:off x="1280160" y="3217774"/>
            <a:ext cx="7132320" cy="533095"/>
          </a:xfrm>
          <a:prstGeom prst="rect">
            <a:avLst/>
          </a:prstGeom>
          <a:noFill/>
          <a:ln/>
        </p:spPr>
        <p:txBody>
          <a:bodyPr wrap="square" lIns="0" tIns="0" rIns="0" bIns="0" rtlCol="0" anchor="ctr"/>
          <a:lstStyle/>
          <a:p>
            <a:pPr indent="0" marL="0">
              <a:buNone/>
            </a:pPr>
            <a:r>
              <a:rPr lang="en-US" sz="1500" b="1" dirty="0">
                <a:solidFill>
                  <a:srgbClr val="B79CFF"/>
                </a:solidFill>
                <a:latin typeface="Arial" pitchFamily="34" charset="0"/>
                <a:ea typeface="Arial" pitchFamily="34" charset="-122"/>
                <a:cs typeface="Arial" pitchFamily="34" charset="-120"/>
              </a:rPr>
              <a:t>Step 4:</a:t>
            </a:r>
            <a:pPr indent="0" marL="0">
              <a:buNone/>
            </a:pPr>
            <a:r>
              <a:rPr lang="en-US" sz="1500" dirty="0">
                <a:solidFill>
                  <a:srgbClr val="FFFFFF"/>
                </a:solidFill>
                <a:latin typeface="Arial" pitchFamily="34" charset="0"/>
                <a:ea typeface="Arial" pitchFamily="34" charset="-122"/>
                <a:cs typeface="Arial" pitchFamily="34" charset="-120"/>
              </a:rPr>
              <a:t> Funnel, CRM &amp; Full Automation</a:t>
            </a:r>
            <a:endParaRPr lang="en-US" sz="1500" dirty="0"/>
          </a:p>
        </p:txBody>
      </p:sp>
      <p:sp>
        <p:nvSpPr>
          <p:cNvPr id="19" name="Shape 17"/>
          <p:cNvSpPr/>
          <p:nvPr/>
        </p:nvSpPr>
        <p:spPr>
          <a:xfrm>
            <a:off x="548640" y="3878885"/>
            <a:ext cx="8046720" cy="533095"/>
          </a:xfrm>
          <a:prstGeom prst="roundRect">
            <a:avLst>
              <a:gd name="adj" fmla="val 20583"/>
            </a:avLst>
          </a:prstGeom>
          <a:solidFill>
            <a:srgbClr val="17131F"/>
          </a:solidFill>
          <a:ln w="12700">
            <a:solidFill>
              <a:srgbClr val="2C2344"/>
            </a:solidFill>
            <a:prstDash val="solid"/>
          </a:ln>
        </p:spPr>
      </p:sp>
      <p:sp>
        <p:nvSpPr>
          <p:cNvPr id="20" name="Shape 18"/>
          <p:cNvSpPr/>
          <p:nvPr/>
        </p:nvSpPr>
        <p:spPr>
          <a:xfrm>
            <a:off x="713232" y="3953408"/>
            <a:ext cx="384048" cy="384048"/>
          </a:xfrm>
          <a:prstGeom prst="ellipse">
            <a:avLst/>
          </a:prstGeom>
          <a:solidFill>
            <a:srgbClr val="7C3CFF"/>
          </a:solidFill>
          <a:ln w="12700">
            <a:solidFill>
              <a:srgbClr val="7C3CFF"/>
            </a:solidFill>
            <a:prstDash val="solid"/>
          </a:ln>
        </p:spPr>
      </p:sp>
      <p:sp>
        <p:nvSpPr>
          <p:cNvPr id="21" name="Text 19"/>
          <p:cNvSpPr txBox="1"/>
          <p:nvPr/>
        </p:nvSpPr>
        <p:spPr>
          <a:xfrm>
            <a:off x="713232" y="39534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2" name="Text 20"/>
          <p:cNvSpPr txBox="1"/>
          <p:nvPr/>
        </p:nvSpPr>
        <p:spPr>
          <a:xfrm>
            <a:off x="1280160" y="3878885"/>
            <a:ext cx="7132320" cy="533095"/>
          </a:xfrm>
          <a:prstGeom prst="rect">
            <a:avLst/>
          </a:prstGeom>
          <a:noFill/>
          <a:ln/>
        </p:spPr>
        <p:txBody>
          <a:bodyPr wrap="square" lIns="0" tIns="0" rIns="0" bIns="0" rtlCol="0" anchor="ctr"/>
          <a:lstStyle/>
          <a:p>
            <a:pPr indent="0" marL="0">
              <a:buNone/>
            </a:pPr>
            <a:r>
              <a:rPr lang="en-US" sz="1500" b="1" dirty="0">
                <a:solidFill>
                  <a:srgbClr val="B79CFF"/>
                </a:solidFill>
                <a:latin typeface="Arial" pitchFamily="34" charset="0"/>
                <a:ea typeface="Arial" pitchFamily="34" charset="-122"/>
                <a:cs typeface="Arial" pitchFamily="34" charset="-120"/>
              </a:rPr>
              <a:t>Step 5:</a:t>
            </a:r>
            <a:pPr indent="0" marL="0">
              <a:buNone/>
            </a:pPr>
            <a:r>
              <a:rPr lang="en-US" sz="1500" dirty="0">
                <a:solidFill>
                  <a:srgbClr val="FFFFFF"/>
                </a:solidFill>
                <a:latin typeface="Arial" pitchFamily="34" charset="0"/>
                <a:ea typeface="Arial" pitchFamily="34" charset="-122"/>
                <a:cs typeface="Arial" pitchFamily="34" charset="-120"/>
              </a:rPr>
              <a:t> Sales Coaching, Optimisation &amp; Scale</a:t>
            </a:r>
            <a:endParaRPr lang="en-US" sz="15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640080" y="320040"/>
            <a:ext cx="7863840" cy="400050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If you followed these 5 steps, do you think you'd get </a:t>
            </a:r>
            <a:pPr algn="ctr" indent="0" marL="0">
              <a:buNone/>
            </a:pPr>
            <a:r>
              <a:rPr lang="en-US" sz="3600" b="1" dirty="0">
                <a:solidFill>
                  <a:srgbClr val="B79CFF"/>
                </a:solidFill>
                <a:latin typeface="Arial" pitchFamily="34" charset="0"/>
                <a:ea typeface="Arial" pitchFamily="34" charset="-122"/>
                <a:cs typeface="Arial" pitchFamily="34" charset="-120"/>
              </a:rPr>
              <a:t>more students</a:t>
            </a:r>
            <a:pPr algn="ctr" indent="0" marL="0">
              <a:buNone/>
            </a:pPr>
            <a:r>
              <a:rPr lang="en-US" sz="3600" b="1" dirty="0">
                <a:solidFill>
                  <a:srgbClr val="FFFFFF"/>
                </a:solidFill>
                <a:latin typeface="Arial" pitchFamily="34" charset="0"/>
                <a:ea typeface="Arial" pitchFamily="34" charset="-122"/>
                <a:cs typeface="Arial" pitchFamily="34" charset="-120"/>
              </a:rPr>
              <a:t> every month?</a:t>
            </a:r>
            <a:endParaRPr lang="en-US" sz="36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640080" y="320040"/>
            <a:ext cx="7863840" cy="400050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And you'd never have to rely on </a:t>
            </a:r>
            <a:pPr algn="ctr" indent="0" marL="0">
              <a:buNone/>
            </a:pPr>
            <a:r>
              <a:rPr lang="en-US" sz="3600" b="1" dirty="0">
                <a:solidFill>
                  <a:srgbClr val="B79CFF"/>
                </a:solidFill>
                <a:latin typeface="Arial" pitchFamily="34" charset="0"/>
                <a:ea typeface="Arial" pitchFamily="34" charset="-122"/>
                <a:cs typeface="Arial" pitchFamily="34" charset="-120"/>
              </a:rPr>
              <a:t>referrals and luck</a:t>
            </a:r>
            <a:pPr algn="ctr" indent="0" marL="0">
              <a:buNone/>
            </a:pPr>
            <a:r>
              <a:rPr lang="en-US" sz="3600" b="1" dirty="0">
                <a:solidFill>
                  <a:srgbClr val="FFFFFF"/>
                </a:solidFill>
                <a:latin typeface="Arial" pitchFamily="34" charset="0"/>
                <a:ea typeface="Arial" pitchFamily="34" charset="-122"/>
                <a:cs typeface="Arial" pitchFamily="34" charset="-120"/>
              </a:rPr>
              <a:t> again…</a:t>
            </a:r>
            <a:endParaRPr lang="en-US" sz="36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640080" y="320040"/>
            <a:ext cx="7863840" cy="400050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Let me ask you a </a:t>
            </a:r>
            <a:pPr algn="ctr" indent="0" marL="0">
              <a:buNone/>
            </a:pPr>
            <a:r>
              <a:rPr lang="en-US" sz="3600" b="1" dirty="0">
                <a:solidFill>
                  <a:srgbClr val="B79CFF"/>
                </a:solidFill>
                <a:latin typeface="Arial" pitchFamily="34" charset="0"/>
                <a:ea typeface="Arial" pitchFamily="34" charset="-122"/>
                <a:cs typeface="Arial" pitchFamily="34" charset="-120"/>
              </a:rPr>
              <a:t>question</a:t>
            </a:r>
            <a:pPr algn="ctr" indent="0" marL="0">
              <a:buNone/>
            </a:pPr>
            <a:r>
              <a:rPr lang="en-US" sz="3600" b="1" dirty="0">
                <a:solidFill>
                  <a:srgbClr val="FFFFFF"/>
                </a:solidFill>
                <a:latin typeface="Arial" pitchFamily="34" charset="0"/>
                <a:ea typeface="Arial" pitchFamily="34" charset="-122"/>
                <a:cs typeface="Arial" pitchFamily="34" charset="-120"/>
              </a:rPr>
              <a:t>…</a:t>
            </a:r>
            <a:endParaRPr lang="en-US" sz="36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640080" y="457200"/>
            <a:ext cx="7863840" cy="242316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Would you like us to build this </a:t>
            </a:r>
            <a:pPr algn="ctr" indent="0" marL="0">
              <a:buNone/>
            </a:pPr>
            <a:r>
              <a:rPr lang="en-US" sz="3600" b="1" dirty="0">
                <a:solidFill>
                  <a:srgbClr val="B79CFF"/>
                </a:solidFill>
                <a:latin typeface="Arial" pitchFamily="34" charset="0"/>
                <a:ea typeface="Arial" pitchFamily="34" charset="-122"/>
                <a:cs typeface="Arial" pitchFamily="34" charset="-120"/>
              </a:rPr>
              <a:t>for you</a:t>
            </a:r>
            <a:pPr algn="ctr" indent="0" marL="0">
              <a:buNone/>
            </a:pPr>
            <a:r>
              <a:rPr lang="en-US" sz="3600" b="1" dirty="0">
                <a:solidFill>
                  <a:srgbClr val="FFFFFF"/>
                </a:solidFill>
                <a:latin typeface="Arial" pitchFamily="34" charset="0"/>
                <a:ea typeface="Arial" pitchFamily="34" charset="-122"/>
                <a:cs typeface="Arial" pitchFamily="34" charset="-120"/>
              </a:rPr>
              <a:t>?</a:t>
            </a:r>
            <a:endParaRPr lang="en-US" sz="3600" dirty="0"/>
          </a:p>
        </p:txBody>
      </p:sp>
      <p:sp>
        <p:nvSpPr>
          <p:cNvPr id="3" name="Text 1"/>
          <p:cNvSpPr txBox="1"/>
          <p:nvPr/>
        </p:nvSpPr>
        <p:spPr>
          <a:xfrm>
            <a:off x="914400" y="3017520"/>
            <a:ext cx="7315200" cy="1188720"/>
          </a:xfrm>
          <a:prstGeom prst="rect">
            <a:avLst/>
          </a:prstGeom>
          <a:noFill/>
          <a:ln/>
        </p:spPr>
        <p:txBody>
          <a:bodyPr wrap="square" lIns="0" tIns="0" rIns="0" bIns="0" rtlCol="0" anchor="t"/>
          <a:lstStyle/>
          <a:p>
            <a:pPr algn="ctr" indent="0" marL="0">
              <a:buNone/>
            </a:pPr>
            <a:r>
              <a:rPr lang="en-US" sz="1900" dirty="0">
                <a:solidFill>
                  <a:srgbClr val="A6A1B5"/>
                </a:solidFill>
                <a:latin typeface="Arial" pitchFamily="34" charset="0"/>
                <a:ea typeface="Arial" pitchFamily="34" charset="-122"/>
                <a:cs typeface="Arial" pitchFamily="34" charset="-120"/>
              </a:rPr>
              <a:t>The first month is fully done for you. Then we optimise and coach you as we grow.</a:t>
            </a:r>
            <a:endParaRPr lang="en-US" sz="1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548640" y="365760"/>
            <a:ext cx="80467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Working with </a:t>
            </a:r>
            <a:pPr indent="0" marL="0">
              <a:buNone/>
            </a:pPr>
            <a:r>
              <a:rPr lang="en-US" sz="3000" b="1" dirty="0">
                <a:solidFill>
                  <a:srgbClr val="B79CFF"/>
                </a:solidFill>
                <a:latin typeface="Arial" pitchFamily="34" charset="0"/>
                <a:ea typeface="Arial" pitchFamily="34" charset="-122"/>
                <a:cs typeface="Arial" pitchFamily="34" charset="-120"/>
              </a:rPr>
              <a:t>Pacow</a:t>
            </a:r>
            <a:endParaRPr lang="en-US" sz="3000" dirty="0"/>
          </a:p>
        </p:txBody>
      </p:sp>
      <p:sp>
        <p:nvSpPr>
          <p:cNvPr id="3" name="Shape 1"/>
          <p:cNvSpPr/>
          <p:nvPr/>
        </p:nvSpPr>
        <p:spPr>
          <a:xfrm>
            <a:off x="548640" y="1389888"/>
            <a:ext cx="329184" cy="329184"/>
          </a:xfrm>
          <a:prstGeom prst="ellipse">
            <a:avLst/>
          </a:prstGeom>
          <a:solidFill>
            <a:srgbClr val="7C3CFF"/>
          </a:solidFill>
          <a:ln w="12700">
            <a:solidFill>
              <a:srgbClr val="7C3CFF"/>
            </a:solidFill>
            <a:prstDash val="solid"/>
          </a:ln>
        </p:spPr>
      </p:sp>
      <p:sp>
        <p:nvSpPr>
          <p:cNvPr id="4" name="Text 2"/>
          <p:cNvSpPr txBox="1"/>
          <p:nvPr/>
        </p:nvSpPr>
        <p:spPr>
          <a:xfrm>
            <a:off x="548640" y="13898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p>
        </p:txBody>
      </p:sp>
      <p:sp>
        <p:nvSpPr>
          <p:cNvPr id="5" name="Text 3"/>
          <p:cNvSpPr txBox="1"/>
          <p:nvPr/>
        </p:nvSpPr>
        <p:spPr>
          <a:xfrm>
            <a:off x="1005840" y="1325880"/>
            <a:ext cx="3474720" cy="45720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Offer &amp; messaging strategy</a:t>
            </a:r>
            <a:endParaRPr lang="en-US" sz="1500" dirty="0"/>
          </a:p>
        </p:txBody>
      </p:sp>
      <p:sp>
        <p:nvSpPr>
          <p:cNvPr id="6" name="Shape 4"/>
          <p:cNvSpPr/>
          <p:nvPr/>
        </p:nvSpPr>
        <p:spPr>
          <a:xfrm>
            <a:off x="548640" y="2048256"/>
            <a:ext cx="329184" cy="329184"/>
          </a:xfrm>
          <a:prstGeom prst="ellipse">
            <a:avLst/>
          </a:prstGeom>
          <a:solidFill>
            <a:srgbClr val="7C3CFF"/>
          </a:solidFill>
          <a:ln w="12700">
            <a:solidFill>
              <a:srgbClr val="7C3CFF"/>
            </a:solidFill>
            <a:prstDash val="solid"/>
          </a:ln>
        </p:spPr>
      </p:sp>
      <p:sp>
        <p:nvSpPr>
          <p:cNvPr id="7" name="Text 5"/>
          <p:cNvSpPr txBox="1"/>
          <p:nvPr/>
        </p:nvSpPr>
        <p:spPr>
          <a:xfrm>
            <a:off x="548640" y="204825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p>
        </p:txBody>
      </p:sp>
      <p:sp>
        <p:nvSpPr>
          <p:cNvPr id="8" name="Text 6"/>
          <p:cNvSpPr txBox="1"/>
          <p:nvPr/>
        </p:nvSpPr>
        <p:spPr>
          <a:xfrm>
            <a:off x="1005840" y="1984248"/>
            <a:ext cx="3474720" cy="45720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Ad scripts written &amp; ads edited for you</a:t>
            </a:r>
            <a:endParaRPr lang="en-US" sz="1500" dirty="0"/>
          </a:p>
        </p:txBody>
      </p:sp>
      <p:sp>
        <p:nvSpPr>
          <p:cNvPr id="9" name="Shape 7"/>
          <p:cNvSpPr/>
          <p:nvPr/>
        </p:nvSpPr>
        <p:spPr>
          <a:xfrm>
            <a:off x="548640" y="2706624"/>
            <a:ext cx="329184" cy="329184"/>
          </a:xfrm>
          <a:prstGeom prst="ellipse">
            <a:avLst/>
          </a:prstGeom>
          <a:solidFill>
            <a:srgbClr val="7C3CFF"/>
          </a:solidFill>
          <a:ln w="12700">
            <a:solidFill>
              <a:srgbClr val="7C3CFF"/>
            </a:solidFill>
            <a:prstDash val="solid"/>
          </a:ln>
        </p:spPr>
      </p:sp>
      <p:sp>
        <p:nvSpPr>
          <p:cNvPr id="10" name="Text 8"/>
          <p:cNvSpPr txBox="1"/>
          <p:nvPr/>
        </p:nvSpPr>
        <p:spPr>
          <a:xfrm>
            <a:off x="548640" y="27066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p>
        </p:txBody>
      </p:sp>
      <p:sp>
        <p:nvSpPr>
          <p:cNvPr id="11" name="Text 9"/>
          <p:cNvSpPr txBox="1"/>
          <p:nvPr/>
        </p:nvSpPr>
        <p:spPr>
          <a:xfrm>
            <a:off x="1005840" y="2642616"/>
            <a:ext cx="3474720" cy="45720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Landing pages, VSL &amp; full funnel</a:t>
            </a:r>
            <a:endParaRPr lang="en-US" sz="1500" dirty="0"/>
          </a:p>
        </p:txBody>
      </p:sp>
      <p:sp>
        <p:nvSpPr>
          <p:cNvPr id="12" name="Shape 10"/>
          <p:cNvSpPr/>
          <p:nvPr/>
        </p:nvSpPr>
        <p:spPr>
          <a:xfrm>
            <a:off x="548640" y="3364992"/>
            <a:ext cx="329184" cy="329184"/>
          </a:xfrm>
          <a:prstGeom prst="ellipse">
            <a:avLst/>
          </a:prstGeom>
          <a:solidFill>
            <a:srgbClr val="7C3CFF"/>
          </a:solidFill>
          <a:ln w="12700">
            <a:solidFill>
              <a:srgbClr val="7C3CFF"/>
            </a:solidFill>
            <a:prstDash val="solid"/>
          </a:ln>
        </p:spPr>
      </p:sp>
      <p:sp>
        <p:nvSpPr>
          <p:cNvPr id="13" name="Text 11"/>
          <p:cNvSpPr txBox="1"/>
          <p:nvPr/>
        </p:nvSpPr>
        <p:spPr>
          <a:xfrm>
            <a:off x="548640" y="33649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p>
        </p:txBody>
      </p:sp>
      <p:sp>
        <p:nvSpPr>
          <p:cNvPr id="14" name="Text 12"/>
          <p:cNvSpPr txBox="1"/>
          <p:nvPr/>
        </p:nvSpPr>
        <p:spPr>
          <a:xfrm>
            <a:off x="1005840" y="3300984"/>
            <a:ext cx="3474720" cy="45720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CRM, email &amp; SMS automation</a:t>
            </a:r>
            <a:endParaRPr lang="en-US" sz="1500" dirty="0"/>
          </a:p>
        </p:txBody>
      </p:sp>
      <p:sp>
        <p:nvSpPr>
          <p:cNvPr id="15" name="Shape 13"/>
          <p:cNvSpPr/>
          <p:nvPr/>
        </p:nvSpPr>
        <p:spPr>
          <a:xfrm>
            <a:off x="4663440" y="1389888"/>
            <a:ext cx="329184" cy="329184"/>
          </a:xfrm>
          <a:prstGeom prst="ellipse">
            <a:avLst/>
          </a:prstGeom>
          <a:solidFill>
            <a:srgbClr val="7C3CFF"/>
          </a:solidFill>
          <a:ln w="12700">
            <a:solidFill>
              <a:srgbClr val="7C3CFF"/>
            </a:solidFill>
            <a:prstDash val="solid"/>
          </a:ln>
        </p:spPr>
      </p:sp>
      <p:sp>
        <p:nvSpPr>
          <p:cNvPr id="16" name="Text 14"/>
          <p:cNvSpPr txBox="1"/>
          <p:nvPr/>
        </p:nvSpPr>
        <p:spPr>
          <a:xfrm>
            <a:off x="4663440" y="13898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p>
        </p:txBody>
      </p:sp>
      <p:sp>
        <p:nvSpPr>
          <p:cNvPr id="17" name="Text 15"/>
          <p:cNvSpPr txBox="1"/>
          <p:nvPr/>
        </p:nvSpPr>
        <p:spPr>
          <a:xfrm>
            <a:off x="5120640" y="1325880"/>
            <a:ext cx="3474720" cy="45720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Media buying &amp; weekly optimisation</a:t>
            </a:r>
            <a:endParaRPr lang="en-US" sz="1500" dirty="0"/>
          </a:p>
        </p:txBody>
      </p:sp>
      <p:sp>
        <p:nvSpPr>
          <p:cNvPr id="18" name="Shape 16"/>
          <p:cNvSpPr/>
          <p:nvPr/>
        </p:nvSpPr>
        <p:spPr>
          <a:xfrm>
            <a:off x="4663440" y="2048256"/>
            <a:ext cx="329184" cy="329184"/>
          </a:xfrm>
          <a:prstGeom prst="ellipse">
            <a:avLst/>
          </a:prstGeom>
          <a:solidFill>
            <a:srgbClr val="7C3CFF"/>
          </a:solidFill>
          <a:ln w="12700">
            <a:solidFill>
              <a:srgbClr val="7C3CFF"/>
            </a:solidFill>
            <a:prstDash val="solid"/>
          </a:ln>
        </p:spPr>
      </p:sp>
      <p:sp>
        <p:nvSpPr>
          <p:cNvPr id="19" name="Text 17"/>
          <p:cNvSpPr txBox="1"/>
          <p:nvPr/>
        </p:nvSpPr>
        <p:spPr>
          <a:xfrm>
            <a:off x="4663440" y="204825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p>
        </p:txBody>
      </p:sp>
      <p:sp>
        <p:nvSpPr>
          <p:cNvPr id="20" name="Text 18"/>
          <p:cNvSpPr txBox="1"/>
          <p:nvPr/>
        </p:nvSpPr>
        <p:spPr>
          <a:xfrm>
            <a:off x="5120640" y="1984248"/>
            <a:ext cx="3474720" cy="45720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Sales process, scripts &amp; call reviews</a:t>
            </a:r>
            <a:endParaRPr lang="en-US" sz="1500" dirty="0"/>
          </a:p>
        </p:txBody>
      </p:sp>
      <p:sp>
        <p:nvSpPr>
          <p:cNvPr id="21" name="Shape 19"/>
          <p:cNvSpPr/>
          <p:nvPr/>
        </p:nvSpPr>
        <p:spPr>
          <a:xfrm>
            <a:off x="4663440" y="2706624"/>
            <a:ext cx="329184" cy="329184"/>
          </a:xfrm>
          <a:prstGeom prst="ellipse">
            <a:avLst/>
          </a:prstGeom>
          <a:solidFill>
            <a:srgbClr val="7C3CFF"/>
          </a:solidFill>
          <a:ln w="12700">
            <a:solidFill>
              <a:srgbClr val="7C3CFF"/>
            </a:solidFill>
            <a:prstDash val="solid"/>
          </a:ln>
        </p:spPr>
      </p:sp>
      <p:sp>
        <p:nvSpPr>
          <p:cNvPr id="22" name="Text 20"/>
          <p:cNvSpPr txBox="1"/>
          <p:nvPr/>
        </p:nvSpPr>
        <p:spPr>
          <a:xfrm>
            <a:off x="4663440" y="27066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p>
        </p:txBody>
      </p:sp>
      <p:sp>
        <p:nvSpPr>
          <p:cNvPr id="23" name="Text 21"/>
          <p:cNvSpPr txBox="1"/>
          <p:nvPr/>
        </p:nvSpPr>
        <p:spPr>
          <a:xfrm>
            <a:off x="5120640" y="2642616"/>
            <a:ext cx="3474720" cy="45720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1:1 coaching with Ema &amp; Viktorija</a:t>
            </a:r>
            <a:endParaRPr lang="en-US" sz="1500" dirty="0"/>
          </a:p>
        </p:txBody>
      </p:sp>
      <p:sp>
        <p:nvSpPr>
          <p:cNvPr id="24" name="Shape 22"/>
          <p:cNvSpPr/>
          <p:nvPr/>
        </p:nvSpPr>
        <p:spPr>
          <a:xfrm>
            <a:off x="4663440" y="3364992"/>
            <a:ext cx="329184" cy="329184"/>
          </a:xfrm>
          <a:prstGeom prst="ellipse">
            <a:avLst/>
          </a:prstGeom>
          <a:solidFill>
            <a:srgbClr val="7C3CFF"/>
          </a:solidFill>
          <a:ln w="12700">
            <a:solidFill>
              <a:srgbClr val="7C3CFF"/>
            </a:solidFill>
            <a:prstDash val="solid"/>
          </a:ln>
        </p:spPr>
      </p:sp>
      <p:sp>
        <p:nvSpPr>
          <p:cNvPr id="25" name="Text 23"/>
          <p:cNvSpPr txBox="1"/>
          <p:nvPr/>
        </p:nvSpPr>
        <p:spPr>
          <a:xfrm>
            <a:off x="4663440" y="33649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p>
        </p:txBody>
      </p:sp>
      <p:sp>
        <p:nvSpPr>
          <p:cNvPr id="26" name="Text 24"/>
          <p:cNvSpPr txBox="1"/>
          <p:nvPr/>
        </p:nvSpPr>
        <p:spPr>
          <a:xfrm>
            <a:off x="5120640" y="3300984"/>
            <a:ext cx="3474720" cy="45720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Private Slack + GrowthOS™ portal</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548640" y="365760"/>
            <a:ext cx="80467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This is for you if…</a:t>
            </a:r>
            <a:endParaRPr lang="en-US" sz="3000" dirty="0"/>
          </a:p>
        </p:txBody>
      </p:sp>
      <p:sp>
        <p:nvSpPr>
          <p:cNvPr id="3" name="Shape 1"/>
          <p:cNvSpPr/>
          <p:nvPr/>
        </p:nvSpPr>
        <p:spPr>
          <a:xfrm>
            <a:off x="548640" y="1234440"/>
            <a:ext cx="8046720" cy="698373"/>
          </a:xfrm>
          <a:prstGeom prst="roundRect">
            <a:avLst>
              <a:gd name="adj" fmla="val 15712"/>
            </a:avLst>
          </a:prstGeom>
          <a:solidFill>
            <a:srgbClr val="17131F"/>
          </a:solidFill>
          <a:ln w="12700">
            <a:solidFill>
              <a:srgbClr val="2C2344"/>
            </a:solidFill>
            <a:prstDash val="solid"/>
          </a:ln>
        </p:spPr>
      </p:sp>
      <p:sp>
        <p:nvSpPr>
          <p:cNvPr id="4" name="Shape 2"/>
          <p:cNvSpPr/>
          <p:nvPr/>
        </p:nvSpPr>
        <p:spPr>
          <a:xfrm>
            <a:off x="713232" y="1391603"/>
            <a:ext cx="384048" cy="384048"/>
          </a:xfrm>
          <a:prstGeom prst="ellipse">
            <a:avLst/>
          </a:prstGeom>
          <a:solidFill>
            <a:srgbClr val="3DDC97"/>
          </a:solidFill>
          <a:ln w="12700">
            <a:solidFill>
              <a:srgbClr val="3DDC97"/>
            </a:solidFill>
            <a:prstDash val="solid"/>
          </a:ln>
        </p:spPr>
      </p:sp>
      <p:sp>
        <p:nvSpPr>
          <p:cNvPr id="5" name="Text 3"/>
          <p:cNvSpPr txBox="1"/>
          <p:nvPr/>
        </p:nvSpPr>
        <p:spPr>
          <a:xfrm>
            <a:off x="713232" y="1391603"/>
            <a:ext cx="384048" cy="384048"/>
          </a:xfrm>
          <a:prstGeom prst="rect">
            <a:avLst/>
          </a:prstGeom>
          <a:noFill/>
          <a:ln/>
        </p:spPr>
        <p:txBody>
          <a:bodyPr wrap="square" lIns="0" tIns="0" rIns="0" bIns="0" rtlCol="0" anchor="ctr"/>
          <a:lstStyle/>
          <a:p>
            <a:pPr algn="ctr" indent="0" marL="0">
              <a:buNone/>
            </a:pPr>
            <a:r>
              <a:rPr lang="en-US" sz="1500" b="1" dirty="0">
                <a:solidFill>
                  <a:srgbClr val="0A0A0C"/>
                </a:solidFill>
                <a:latin typeface="Arial" pitchFamily="34" charset="0"/>
                <a:ea typeface="Arial" pitchFamily="34" charset="-122"/>
                <a:cs typeface="Arial" pitchFamily="34" charset="-120"/>
              </a:rPr>
              <a:t>✓</a:t>
            </a:r>
            <a:endParaRPr lang="en-US" sz="1500" dirty="0"/>
          </a:p>
        </p:txBody>
      </p:sp>
      <p:sp>
        <p:nvSpPr>
          <p:cNvPr id="6" name="Text 4"/>
          <p:cNvSpPr txBox="1"/>
          <p:nvPr/>
        </p:nvSpPr>
        <p:spPr>
          <a:xfrm>
            <a:off x="1280160" y="1234440"/>
            <a:ext cx="7132320" cy="698373"/>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You're an </a:t>
            </a:r>
            <a:pPr indent="0" marL="0">
              <a:buNone/>
            </a:pPr>
            <a:r>
              <a:rPr lang="en-US" sz="1800" b="1" dirty="0">
                <a:solidFill>
                  <a:srgbClr val="B79CFF"/>
                </a:solidFill>
                <a:latin typeface="Arial" pitchFamily="34" charset="0"/>
                <a:ea typeface="Arial" pitchFamily="34" charset="-122"/>
                <a:cs typeface="Arial" pitchFamily="34" charset="-120"/>
              </a:rPr>
              <a:t>education brand or course creator</a:t>
            </a:r>
            <a:pPr indent="0" marL="0">
              <a:buNone/>
            </a:pPr>
            <a:r>
              <a:rPr lang="en-US" sz="1800" dirty="0">
                <a:solidFill>
                  <a:srgbClr val="FFFFFF"/>
                </a:solidFill>
                <a:latin typeface="Arial" pitchFamily="34" charset="0"/>
                <a:ea typeface="Arial" pitchFamily="34" charset="-122"/>
                <a:cs typeface="Arial" pitchFamily="34" charset="-120"/>
              </a:rPr>
              <a:t> already earning $10K+/month</a:t>
            </a:r>
            <a:endParaRPr lang="en-US" sz="1800" dirty="0"/>
          </a:p>
        </p:txBody>
      </p:sp>
      <p:sp>
        <p:nvSpPr>
          <p:cNvPr id="7" name="Shape 5"/>
          <p:cNvSpPr/>
          <p:nvPr/>
        </p:nvSpPr>
        <p:spPr>
          <a:xfrm>
            <a:off x="548640" y="2060829"/>
            <a:ext cx="8046720" cy="698373"/>
          </a:xfrm>
          <a:prstGeom prst="roundRect">
            <a:avLst>
              <a:gd name="adj" fmla="val 15712"/>
            </a:avLst>
          </a:prstGeom>
          <a:solidFill>
            <a:srgbClr val="17131F"/>
          </a:solidFill>
          <a:ln w="12700">
            <a:solidFill>
              <a:srgbClr val="2C2344"/>
            </a:solidFill>
            <a:prstDash val="solid"/>
          </a:ln>
        </p:spPr>
      </p:sp>
      <p:sp>
        <p:nvSpPr>
          <p:cNvPr id="8" name="Shape 6"/>
          <p:cNvSpPr/>
          <p:nvPr/>
        </p:nvSpPr>
        <p:spPr>
          <a:xfrm>
            <a:off x="713232" y="2217992"/>
            <a:ext cx="384048" cy="384048"/>
          </a:xfrm>
          <a:prstGeom prst="ellipse">
            <a:avLst/>
          </a:prstGeom>
          <a:solidFill>
            <a:srgbClr val="3DDC97"/>
          </a:solidFill>
          <a:ln w="12700">
            <a:solidFill>
              <a:srgbClr val="3DDC97"/>
            </a:solidFill>
            <a:prstDash val="solid"/>
          </a:ln>
        </p:spPr>
      </p:sp>
      <p:sp>
        <p:nvSpPr>
          <p:cNvPr id="9" name="Text 7"/>
          <p:cNvSpPr txBox="1"/>
          <p:nvPr/>
        </p:nvSpPr>
        <p:spPr>
          <a:xfrm>
            <a:off x="713232" y="2217992"/>
            <a:ext cx="384048" cy="384048"/>
          </a:xfrm>
          <a:prstGeom prst="rect">
            <a:avLst/>
          </a:prstGeom>
          <a:noFill/>
          <a:ln/>
        </p:spPr>
        <p:txBody>
          <a:bodyPr wrap="square" lIns="0" tIns="0" rIns="0" bIns="0" rtlCol="0" anchor="ctr"/>
          <a:lstStyle/>
          <a:p>
            <a:pPr algn="ctr" indent="0" marL="0">
              <a:buNone/>
            </a:pPr>
            <a:r>
              <a:rPr lang="en-US" sz="1500" b="1" dirty="0">
                <a:solidFill>
                  <a:srgbClr val="0A0A0C"/>
                </a:solidFill>
                <a:latin typeface="Arial" pitchFamily="34" charset="0"/>
                <a:ea typeface="Arial" pitchFamily="34" charset="-122"/>
                <a:cs typeface="Arial" pitchFamily="34" charset="-120"/>
              </a:rPr>
              <a:t>✓</a:t>
            </a:r>
            <a:endParaRPr lang="en-US" sz="1500" dirty="0"/>
          </a:p>
        </p:txBody>
      </p:sp>
      <p:sp>
        <p:nvSpPr>
          <p:cNvPr id="10" name="Text 8"/>
          <p:cNvSpPr txBox="1"/>
          <p:nvPr/>
        </p:nvSpPr>
        <p:spPr>
          <a:xfrm>
            <a:off x="1280160" y="2060829"/>
            <a:ext cx="7132320" cy="698373"/>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You've tried ads or content and </a:t>
            </a:r>
            <a:pPr indent="0" marL="0">
              <a:buNone/>
            </a:pPr>
            <a:r>
              <a:rPr lang="en-US" sz="1800" b="1" dirty="0">
                <a:solidFill>
                  <a:srgbClr val="B79CFF"/>
                </a:solidFill>
                <a:latin typeface="Arial" pitchFamily="34" charset="0"/>
                <a:ea typeface="Arial" pitchFamily="34" charset="-122"/>
                <a:cs typeface="Arial" pitchFamily="34" charset="-120"/>
              </a:rPr>
              <a:t>hit a ceiling</a:t>
            </a:r>
            <a:endParaRPr lang="en-US" sz="1800" dirty="0"/>
          </a:p>
        </p:txBody>
      </p:sp>
      <p:sp>
        <p:nvSpPr>
          <p:cNvPr id="11" name="Shape 9"/>
          <p:cNvSpPr/>
          <p:nvPr/>
        </p:nvSpPr>
        <p:spPr>
          <a:xfrm>
            <a:off x="548640" y="2887218"/>
            <a:ext cx="8046720" cy="698373"/>
          </a:xfrm>
          <a:prstGeom prst="roundRect">
            <a:avLst>
              <a:gd name="adj" fmla="val 15712"/>
            </a:avLst>
          </a:prstGeom>
          <a:solidFill>
            <a:srgbClr val="17131F"/>
          </a:solidFill>
          <a:ln w="12700">
            <a:solidFill>
              <a:srgbClr val="2C2344"/>
            </a:solidFill>
            <a:prstDash val="solid"/>
          </a:ln>
        </p:spPr>
      </p:sp>
      <p:sp>
        <p:nvSpPr>
          <p:cNvPr id="12" name="Shape 10"/>
          <p:cNvSpPr/>
          <p:nvPr/>
        </p:nvSpPr>
        <p:spPr>
          <a:xfrm>
            <a:off x="713232" y="3044381"/>
            <a:ext cx="384048" cy="384048"/>
          </a:xfrm>
          <a:prstGeom prst="ellipse">
            <a:avLst/>
          </a:prstGeom>
          <a:solidFill>
            <a:srgbClr val="3DDC97"/>
          </a:solidFill>
          <a:ln w="12700">
            <a:solidFill>
              <a:srgbClr val="3DDC97"/>
            </a:solidFill>
            <a:prstDash val="solid"/>
          </a:ln>
        </p:spPr>
      </p:sp>
      <p:sp>
        <p:nvSpPr>
          <p:cNvPr id="13" name="Text 11"/>
          <p:cNvSpPr txBox="1"/>
          <p:nvPr/>
        </p:nvSpPr>
        <p:spPr>
          <a:xfrm>
            <a:off x="713232" y="3044381"/>
            <a:ext cx="384048" cy="384048"/>
          </a:xfrm>
          <a:prstGeom prst="rect">
            <a:avLst/>
          </a:prstGeom>
          <a:noFill/>
          <a:ln/>
        </p:spPr>
        <p:txBody>
          <a:bodyPr wrap="square" lIns="0" tIns="0" rIns="0" bIns="0" rtlCol="0" anchor="ctr"/>
          <a:lstStyle/>
          <a:p>
            <a:pPr algn="ctr" indent="0" marL="0">
              <a:buNone/>
            </a:pPr>
            <a:r>
              <a:rPr lang="en-US" sz="1500" b="1" dirty="0">
                <a:solidFill>
                  <a:srgbClr val="0A0A0C"/>
                </a:solidFill>
                <a:latin typeface="Arial" pitchFamily="34" charset="0"/>
                <a:ea typeface="Arial" pitchFamily="34" charset="-122"/>
                <a:cs typeface="Arial" pitchFamily="34" charset="-120"/>
              </a:rPr>
              <a:t>✓</a:t>
            </a:r>
            <a:endParaRPr lang="en-US" sz="1500" dirty="0"/>
          </a:p>
        </p:txBody>
      </p:sp>
      <p:sp>
        <p:nvSpPr>
          <p:cNvPr id="14" name="Text 12"/>
          <p:cNvSpPr txBox="1"/>
          <p:nvPr/>
        </p:nvSpPr>
        <p:spPr>
          <a:xfrm>
            <a:off x="1280160" y="2887218"/>
            <a:ext cx="7132320" cy="698373"/>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You get great results, but </a:t>
            </a:r>
            <a:pPr indent="0" marL="0">
              <a:buNone/>
            </a:pPr>
            <a:r>
              <a:rPr lang="en-US" sz="1800" b="1" dirty="0">
                <a:solidFill>
                  <a:srgbClr val="B79CFF"/>
                </a:solidFill>
                <a:latin typeface="Arial" pitchFamily="34" charset="0"/>
                <a:ea typeface="Arial" pitchFamily="34" charset="-122"/>
                <a:cs typeface="Arial" pitchFamily="34" charset="-120"/>
              </a:rPr>
              <a:t>growth is inconsistent</a:t>
            </a:r>
            <a:endParaRPr lang="en-US" sz="1800" dirty="0"/>
          </a:p>
        </p:txBody>
      </p:sp>
      <p:sp>
        <p:nvSpPr>
          <p:cNvPr id="15" name="Shape 13"/>
          <p:cNvSpPr/>
          <p:nvPr/>
        </p:nvSpPr>
        <p:spPr>
          <a:xfrm>
            <a:off x="548640" y="3713607"/>
            <a:ext cx="8046720" cy="698373"/>
          </a:xfrm>
          <a:prstGeom prst="roundRect">
            <a:avLst>
              <a:gd name="adj" fmla="val 15712"/>
            </a:avLst>
          </a:prstGeom>
          <a:solidFill>
            <a:srgbClr val="17131F"/>
          </a:solidFill>
          <a:ln w="12700">
            <a:solidFill>
              <a:srgbClr val="2C2344"/>
            </a:solidFill>
            <a:prstDash val="solid"/>
          </a:ln>
        </p:spPr>
      </p:sp>
      <p:sp>
        <p:nvSpPr>
          <p:cNvPr id="16" name="Shape 14"/>
          <p:cNvSpPr/>
          <p:nvPr/>
        </p:nvSpPr>
        <p:spPr>
          <a:xfrm>
            <a:off x="713232" y="3870769"/>
            <a:ext cx="384048" cy="384048"/>
          </a:xfrm>
          <a:prstGeom prst="ellipse">
            <a:avLst/>
          </a:prstGeom>
          <a:solidFill>
            <a:srgbClr val="3DDC97"/>
          </a:solidFill>
          <a:ln w="12700">
            <a:solidFill>
              <a:srgbClr val="3DDC97"/>
            </a:solidFill>
            <a:prstDash val="solid"/>
          </a:ln>
        </p:spPr>
      </p:sp>
      <p:sp>
        <p:nvSpPr>
          <p:cNvPr id="17" name="Text 15"/>
          <p:cNvSpPr txBox="1"/>
          <p:nvPr/>
        </p:nvSpPr>
        <p:spPr>
          <a:xfrm>
            <a:off x="713232" y="3870769"/>
            <a:ext cx="384048" cy="384048"/>
          </a:xfrm>
          <a:prstGeom prst="rect">
            <a:avLst/>
          </a:prstGeom>
          <a:noFill/>
          <a:ln/>
        </p:spPr>
        <p:txBody>
          <a:bodyPr wrap="square" lIns="0" tIns="0" rIns="0" bIns="0" rtlCol="0" anchor="ctr"/>
          <a:lstStyle/>
          <a:p>
            <a:pPr algn="ctr" indent="0" marL="0">
              <a:buNone/>
            </a:pPr>
            <a:r>
              <a:rPr lang="en-US" sz="1500" b="1" dirty="0">
                <a:solidFill>
                  <a:srgbClr val="0A0A0C"/>
                </a:solidFill>
                <a:latin typeface="Arial" pitchFamily="34" charset="0"/>
                <a:ea typeface="Arial" pitchFamily="34" charset="-122"/>
                <a:cs typeface="Arial" pitchFamily="34" charset="-120"/>
              </a:rPr>
              <a:t>✓</a:t>
            </a:r>
            <a:endParaRPr lang="en-US" sz="1500" dirty="0"/>
          </a:p>
        </p:txBody>
      </p:sp>
      <p:sp>
        <p:nvSpPr>
          <p:cNvPr id="18" name="Text 16"/>
          <p:cNvSpPr txBox="1"/>
          <p:nvPr/>
        </p:nvSpPr>
        <p:spPr>
          <a:xfrm>
            <a:off x="1280160" y="3713607"/>
            <a:ext cx="7132320" cy="698373"/>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You can invest </a:t>
            </a:r>
            <a:pPr indent="0" marL="0">
              <a:buNone/>
            </a:pPr>
            <a:r>
              <a:rPr lang="en-US" sz="1800" b="1" dirty="0">
                <a:solidFill>
                  <a:srgbClr val="B79CFF"/>
                </a:solidFill>
                <a:latin typeface="Arial" pitchFamily="34" charset="0"/>
                <a:ea typeface="Arial" pitchFamily="34" charset="-122"/>
                <a:cs typeface="Arial" pitchFamily="34" charset="-120"/>
              </a:rPr>
              <a:t>$100+/day</a:t>
            </a:r>
            <a:pPr indent="0" marL="0">
              <a:buNone/>
            </a:pPr>
            <a:r>
              <a:rPr lang="en-US" sz="1800" dirty="0">
                <a:solidFill>
                  <a:srgbClr val="FFFFFF"/>
                </a:solidFill>
                <a:latin typeface="Arial" pitchFamily="34" charset="0"/>
                <a:ea typeface="Arial" pitchFamily="34" charset="-122"/>
                <a:cs typeface="Arial" pitchFamily="34" charset="-120"/>
              </a:rPr>
              <a:t> in ad spend</a:t>
            </a:r>
            <a:endParaRPr lang="en-US" sz="1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548640" y="365760"/>
            <a:ext cx="8046720" cy="6858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This is NOT for you if…</a:t>
            </a:r>
            <a:endParaRPr lang="en-US" sz="3000" dirty="0"/>
          </a:p>
        </p:txBody>
      </p:sp>
      <p:sp>
        <p:nvSpPr>
          <p:cNvPr id="3" name="Shape 1"/>
          <p:cNvSpPr/>
          <p:nvPr/>
        </p:nvSpPr>
        <p:spPr>
          <a:xfrm>
            <a:off x="548640" y="1234440"/>
            <a:ext cx="8046720" cy="698373"/>
          </a:xfrm>
          <a:prstGeom prst="roundRect">
            <a:avLst>
              <a:gd name="adj" fmla="val 15712"/>
            </a:avLst>
          </a:prstGeom>
          <a:solidFill>
            <a:srgbClr val="17131F"/>
          </a:solidFill>
          <a:ln w="12700">
            <a:solidFill>
              <a:srgbClr val="2C2344"/>
            </a:solidFill>
            <a:prstDash val="solid"/>
          </a:ln>
        </p:spPr>
      </p:sp>
      <p:sp>
        <p:nvSpPr>
          <p:cNvPr id="4" name="Shape 2"/>
          <p:cNvSpPr/>
          <p:nvPr/>
        </p:nvSpPr>
        <p:spPr>
          <a:xfrm>
            <a:off x="713232" y="1391603"/>
            <a:ext cx="384048" cy="384048"/>
          </a:xfrm>
          <a:prstGeom prst="ellipse">
            <a:avLst/>
          </a:prstGeom>
          <a:solidFill>
            <a:srgbClr val="FF5C7A"/>
          </a:solidFill>
          <a:ln w="12700">
            <a:solidFill>
              <a:srgbClr val="FF5C7A"/>
            </a:solidFill>
            <a:prstDash val="solid"/>
          </a:ln>
        </p:spPr>
      </p:sp>
      <p:sp>
        <p:nvSpPr>
          <p:cNvPr id="5" name="Text 3"/>
          <p:cNvSpPr txBox="1"/>
          <p:nvPr/>
        </p:nvSpPr>
        <p:spPr>
          <a:xfrm>
            <a:off x="713232" y="1391603"/>
            <a:ext cx="384048" cy="384048"/>
          </a:xfrm>
          <a:prstGeom prst="rect">
            <a:avLst/>
          </a:prstGeom>
          <a:noFill/>
          <a:ln/>
        </p:spPr>
        <p:txBody>
          <a:bodyPr wrap="square" lIns="0" tIns="0" rIns="0" bIns="0" rtlCol="0" anchor="ctr"/>
          <a:lstStyle/>
          <a:p>
            <a:pPr algn="ctr" indent="0" marL="0">
              <a:buNone/>
            </a:pPr>
            <a:r>
              <a:rPr lang="en-US" sz="1500" b="1" dirty="0">
                <a:solidFill>
                  <a:srgbClr val="0A0A0C"/>
                </a:solidFill>
                <a:latin typeface="Arial" pitchFamily="34" charset="0"/>
                <a:ea typeface="Arial" pitchFamily="34" charset="-122"/>
                <a:cs typeface="Arial" pitchFamily="34" charset="-120"/>
              </a:rPr>
              <a:t>✕</a:t>
            </a:r>
            <a:endParaRPr lang="en-US" sz="1500" dirty="0"/>
          </a:p>
        </p:txBody>
      </p:sp>
      <p:sp>
        <p:nvSpPr>
          <p:cNvPr id="6" name="Text 4"/>
          <p:cNvSpPr txBox="1"/>
          <p:nvPr/>
        </p:nvSpPr>
        <p:spPr>
          <a:xfrm>
            <a:off x="1280160" y="1234440"/>
            <a:ext cx="7132320" cy="698373"/>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You're just starting out, with </a:t>
            </a:r>
            <a:pPr indent="0" marL="0">
              <a:buNone/>
            </a:pPr>
            <a:r>
              <a:rPr lang="en-US" sz="1800" b="1" dirty="0">
                <a:solidFill>
                  <a:srgbClr val="B79CFF"/>
                </a:solidFill>
                <a:latin typeface="Arial" pitchFamily="34" charset="0"/>
                <a:ea typeface="Arial" pitchFamily="34" charset="-122"/>
                <a:cs typeface="Arial" pitchFamily="34" charset="-120"/>
              </a:rPr>
              <a:t>no offer or revenue</a:t>
            </a:r>
            <a:endParaRPr lang="en-US" sz="1800" dirty="0"/>
          </a:p>
        </p:txBody>
      </p:sp>
      <p:sp>
        <p:nvSpPr>
          <p:cNvPr id="7" name="Shape 5"/>
          <p:cNvSpPr/>
          <p:nvPr/>
        </p:nvSpPr>
        <p:spPr>
          <a:xfrm>
            <a:off x="548640" y="2060829"/>
            <a:ext cx="8046720" cy="698373"/>
          </a:xfrm>
          <a:prstGeom prst="roundRect">
            <a:avLst>
              <a:gd name="adj" fmla="val 15712"/>
            </a:avLst>
          </a:prstGeom>
          <a:solidFill>
            <a:srgbClr val="17131F"/>
          </a:solidFill>
          <a:ln w="12700">
            <a:solidFill>
              <a:srgbClr val="2C2344"/>
            </a:solidFill>
            <a:prstDash val="solid"/>
          </a:ln>
        </p:spPr>
      </p:sp>
      <p:sp>
        <p:nvSpPr>
          <p:cNvPr id="8" name="Shape 6"/>
          <p:cNvSpPr/>
          <p:nvPr/>
        </p:nvSpPr>
        <p:spPr>
          <a:xfrm>
            <a:off x="713232" y="2217992"/>
            <a:ext cx="384048" cy="384048"/>
          </a:xfrm>
          <a:prstGeom prst="ellipse">
            <a:avLst/>
          </a:prstGeom>
          <a:solidFill>
            <a:srgbClr val="FF5C7A"/>
          </a:solidFill>
          <a:ln w="12700">
            <a:solidFill>
              <a:srgbClr val="FF5C7A"/>
            </a:solidFill>
            <a:prstDash val="solid"/>
          </a:ln>
        </p:spPr>
      </p:sp>
      <p:sp>
        <p:nvSpPr>
          <p:cNvPr id="9" name="Text 7"/>
          <p:cNvSpPr txBox="1"/>
          <p:nvPr/>
        </p:nvSpPr>
        <p:spPr>
          <a:xfrm>
            <a:off x="713232" y="2217992"/>
            <a:ext cx="384048" cy="384048"/>
          </a:xfrm>
          <a:prstGeom prst="rect">
            <a:avLst/>
          </a:prstGeom>
          <a:noFill/>
          <a:ln/>
        </p:spPr>
        <p:txBody>
          <a:bodyPr wrap="square" lIns="0" tIns="0" rIns="0" bIns="0" rtlCol="0" anchor="ctr"/>
          <a:lstStyle/>
          <a:p>
            <a:pPr algn="ctr" indent="0" marL="0">
              <a:buNone/>
            </a:pPr>
            <a:r>
              <a:rPr lang="en-US" sz="1500" b="1" dirty="0">
                <a:solidFill>
                  <a:srgbClr val="0A0A0C"/>
                </a:solidFill>
                <a:latin typeface="Arial" pitchFamily="34" charset="0"/>
                <a:ea typeface="Arial" pitchFamily="34" charset="-122"/>
                <a:cs typeface="Arial" pitchFamily="34" charset="-120"/>
              </a:rPr>
              <a:t>✕</a:t>
            </a:r>
            <a:endParaRPr lang="en-US" sz="1500" dirty="0"/>
          </a:p>
        </p:txBody>
      </p:sp>
      <p:sp>
        <p:nvSpPr>
          <p:cNvPr id="10" name="Text 8"/>
          <p:cNvSpPr txBox="1"/>
          <p:nvPr/>
        </p:nvSpPr>
        <p:spPr>
          <a:xfrm>
            <a:off x="1280160" y="2060829"/>
            <a:ext cx="7132320" cy="698373"/>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You want a </a:t>
            </a:r>
            <a:pPr indent="0" marL="0">
              <a:buNone/>
            </a:pPr>
            <a:r>
              <a:rPr lang="en-US" sz="1800" b="1" dirty="0">
                <a:solidFill>
                  <a:srgbClr val="B79CFF"/>
                </a:solidFill>
                <a:latin typeface="Arial" pitchFamily="34" charset="0"/>
                <a:ea typeface="Arial" pitchFamily="34" charset="-122"/>
                <a:cs typeface="Arial" pitchFamily="34" charset="-120"/>
              </a:rPr>
              <a:t>quick hack</a:t>
            </a:r>
            <a:pPr indent="0" marL="0">
              <a:buNone/>
            </a:pPr>
            <a:r>
              <a:rPr lang="en-US" sz="1800" dirty="0">
                <a:solidFill>
                  <a:srgbClr val="FFFFFF"/>
                </a:solidFill>
                <a:latin typeface="Arial" pitchFamily="34" charset="0"/>
                <a:ea typeface="Arial" pitchFamily="34" charset="-122"/>
                <a:cs typeface="Arial" pitchFamily="34" charset="-120"/>
              </a:rPr>
              <a:t>, not a system</a:t>
            </a:r>
            <a:endParaRPr lang="en-US" sz="1800" dirty="0"/>
          </a:p>
        </p:txBody>
      </p:sp>
      <p:sp>
        <p:nvSpPr>
          <p:cNvPr id="11" name="Shape 9"/>
          <p:cNvSpPr/>
          <p:nvPr/>
        </p:nvSpPr>
        <p:spPr>
          <a:xfrm>
            <a:off x="548640" y="2887218"/>
            <a:ext cx="8046720" cy="698373"/>
          </a:xfrm>
          <a:prstGeom prst="roundRect">
            <a:avLst>
              <a:gd name="adj" fmla="val 15712"/>
            </a:avLst>
          </a:prstGeom>
          <a:solidFill>
            <a:srgbClr val="17131F"/>
          </a:solidFill>
          <a:ln w="12700">
            <a:solidFill>
              <a:srgbClr val="2C2344"/>
            </a:solidFill>
            <a:prstDash val="solid"/>
          </a:ln>
        </p:spPr>
      </p:sp>
      <p:sp>
        <p:nvSpPr>
          <p:cNvPr id="12" name="Shape 10"/>
          <p:cNvSpPr/>
          <p:nvPr/>
        </p:nvSpPr>
        <p:spPr>
          <a:xfrm>
            <a:off x="713232" y="3044381"/>
            <a:ext cx="384048" cy="384048"/>
          </a:xfrm>
          <a:prstGeom prst="ellipse">
            <a:avLst/>
          </a:prstGeom>
          <a:solidFill>
            <a:srgbClr val="FF5C7A"/>
          </a:solidFill>
          <a:ln w="12700">
            <a:solidFill>
              <a:srgbClr val="FF5C7A"/>
            </a:solidFill>
            <a:prstDash val="solid"/>
          </a:ln>
        </p:spPr>
      </p:sp>
      <p:sp>
        <p:nvSpPr>
          <p:cNvPr id="13" name="Text 11"/>
          <p:cNvSpPr txBox="1"/>
          <p:nvPr/>
        </p:nvSpPr>
        <p:spPr>
          <a:xfrm>
            <a:off x="713232" y="3044381"/>
            <a:ext cx="384048" cy="384048"/>
          </a:xfrm>
          <a:prstGeom prst="rect">
            <a:avLst/>
          </a:prstGeom>
          <a:noFill/>
          <a:ln/>
        </p:spPr>
        <p:txBody>
          <a:bodyPr wrap="square" lIns="0" tIns="0" rIns="0" bIns="0" rtlCol="0" anchor="ctr"/>
          <a:lstStyle/>
          <a:p>
            <a:pPr algn="ctr" indent="0" marL="0">
              <a:buNone/>
            </a:pPr>
            <a:r>
              <a:rPr lang="en-US" sz="1500" b="1" dirty="0">
                <a:solidFill>
                  <a:srgbClr val="0A0A0C"/>
                </a:solidFill>
                <a:latin typeface="Arial" pitchFamily="34" charset="0"/>
                <a:ea typeface="Arial" pitchFamily="34" charset="-122"/>
                <a:cs typeface="Arial" pitchFamily="34" charset="-120"/>
              </a:rPr>
              <a:t>✕</a:t>
            </a:r>
            <a:endParaRPr lang="en-US" sz="1500" dirty="0"/>
          </a:p>
        </p:txBody>
      </p:sp>
      <p:sp>
        <p:nvSpPr>
          <p:cNvPr id="14" name="Text 12"/>
          <p:cNvSpPr txBox="1"/>
          <p:nvPr/>
        </p:nvSpPr>
        <p:spPr>
          <a:xfrm>
            <a:off x="1280160" y="2887218"/>
            <a:ext cx="7132320" cy="698373"/>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You have </a:t>
            </a:r>
            <a:pPr indent="0" marL="0">
              <a:buNone/>
            </a:pPr>
            <a:r>
              <a:rPr lang="en-US" sz="1800" b="1" dirty="0">
                <a:solidFill>
                  <a:srgbClr val="B79CFF"/>
                </a:solidFill>
                <a:latin typeface="Arial" pitchFamily="34" charset="0"/>
                <a:ea typeface="Arial" pitchFamily="34" charset="-122"/>
                <a:cs typeface="Arial" pitchFamily="34" charset="-120"/>
              </a:rPr>
              <a:t>no budget</a:t>
            </a:r>
            <a:pPr indent="0" marL="0">
              <a:buNone/>
            </a:pPr>
            <a:r>
              <a:rPr lang="en-US" sz="1800" dirty="0">
                <a:solidFill>
                  <a:srgbClr val="FFFFFF"/>
                </a:solidFill>
                <a:latin typeface="Arial" pitchFamily="34" charset="0"/>
                <a:ea typeface="Arial" pitchFamily="34" charset="-122"/>
                <a:cs typeface="Arial" pitchFamily="34" charset="-120"/>
              </a:rPr>
              <a:t> for paid advertising yet</a:t>
            </a:r>
            <a:endParaRPr lang="en-US" sz="1800" dirty="0"/>
          </a:p>
        </p:txBody>
      </p:sp>
      <p:sp>
        <p:nvSpPr>
          <p:cNvPr id="15" name="Shape 13"/>
          <p:cNvSpPr/>
          <p:nvPr/>
        </p:nvSpPr>
        <p:spPr>
          <a:xfrm>
            <a:off x="548640" y="3713607"/>
            <a:ext cx="8046720" cy="698373"/>
          </a:xfrm>
          <a:prstGeom prst="roundRect">
            <a:avLst>
              <a:gd name="adj" fmla="val 15712"/>
            </a:avLst>
          </a:prstGeom>
          <a:solidFill>
            <a:srgbClr val="17131F"/>
          </a:solidFill>
          <a:ln w="12700">
            <a:solidFill>
              <a:srgbClr val="2C2344"/>
            </a:solidFill>
            <a:prstDash val="solid"/>
          </a:ln>
        </p:spPr>
      </p:sp>
      <p:sp>
        <p:nvSpPr>
          <p:cNvPr id="16" name="Shape 14"/>
          <p:cNvSpPr/>
          <p:nvPr/>
        </p:nvSpPr>
        <p:spPr>
          <a:xfrm>
            <a:off x="713232" y="3870769"/>
            <a:ext cx="384048" cy="384048"/>
          </a:xfrm>
          <a:prstGeom prst="ellipse">
            <a:avLst/>
          </a:prstGeom>
          <a:solidFill>
            <a:srgbClr val="FF5C7A"/>
          </a:solidFill>
          <a:ln w="12700">
            <a:solidFill>
              <a:srgbClr val="FF5C7A"/>
            </a:solidFill>
            <a:prstDash val="solid"/>
          </a:ln>
        </p:spPr>
      </p:sp>
      <p:sp>
        <p:nvSpPr>
          <p:cNvPr id="17" name="Text 15"/>
          <p:cNvSpPr txBox="1"/>
          <p:nvPr/>
        </p:nvSpPr>
        <p:spPr>
          <a:xfrm>
            <a:off x="713232" y="3870769"/>
            <a:ext cx="384048" cy="384048"/>
          </a:xfrm>
          <a:prstGeom prst="rect">
            <a:avLst/>
          </a:prstGeom>
          <a:noFill/>
          <a:ln/>
        </p:spPr>
        <p:txBody>
          <a:bodyPr wrap="square" lIns="0" tIns="0" rIns="0" bIns="0" rtlCol="0" anchor="ctr"/>
          <a:lstStyle/>
          <a:p>
            <a:pPr algn="ctr" indent="0" marL="0">
              <a:buNone/>
            </a:pPr>
            <a:r>
              <a:rPr lang="en-US" sz="1500" b="1" dirty="0">
                <a:solidFill>
                  <a:srgbClr val="0A0A0C"/>
                </a:solidFill>
                <a:latin typeface="Arial" pitchFamily="34" charset="0"/>
                <a:ea typeface="Arial" pitchFamily="34" charset="-122"/>
                <a:cs typeface="Arial" pitchFamily="34" charset="-120"/>
              </a:rPr>
              <a:t>✕</a:t>
            </a:r>
            <a:endParaRPr lang="en-US" sz="1500" dirty="0"/>
          </a:p>
        </p:txBody>
      </p:sp>
      <p:sp>
        <p:nvSpPr>
          <p:cNvPr id="18" name="Text 16"/>
          <p:cNvSpPr txBox="1"/>
          <p:nvPr/>
        </p:nvSpPr>
        <p:spPr>
          <a:xfrm>
            <a:off x="1280160" y="3713607"/>
            <a:ext cx="7132320" cy="698373"/>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You want to hand it off and stay </a:t>
            </a:r>
            <a:pPr indent="0" marL="0">
              <a:buNone/>
            </a:pPr>
            <a:r>
              <a:rPr lang="en-US" sz="1800" b="1" dirty="0">
                <a:solidFill>
                  <a:srgbClr val="B79CFF"/>
                </a:solidFill>
                <a:latin typeface="Arial" pitchFamily="34" charset="0"/>
                <a:ea typeface="Arial" pitchFamily="34" charset="-122"/>
                <a:cs typeface="Arial" pitchFamily="34" charset="-120"/>
              </a:rPr>
              <a:t>completely hands-off</a:t>
            </a:r>
            <a:endParaRPr lang="en-US" sz="1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Shape 0"/>
          <p:cNvSpPr/>
          <p:nvPr/>
        </p:nvSpPr>
        <p:spPr>
          <a:xfrm>
            <a:off x="3703320" y="548640"/>
            <a:ext cx="1737360" cy="365760"/>
          </a:xfrm>
          <a:prstGeom prst="roundRect">
            <a:avLst>
              <a:gd name="adj" fmla="val 50000"/>
            </a:avLst>
          </a:prstGeom>
          <a:solidFill>
            <a:srgbClr val="FFFFFF"/>
          </a:solidFill>
          <a:ln w="12700">
            <a:solidFill>
              <a:srgbClr val="FFFFFF"/>
            </a:solidFill>
            <a:prstDash val="solid"/>
          </a:ln>
        </p:spPr>
      </p:sp>
      <p:sp>
        <p:nvSpPr>
          <p:cNvPr id="3" name="Shape 1"/>
          <p:cNvSpPr/>
          <p:nvPr/>
        </p:nvSpPr>
        <p:spPr>
          <a:xfrm>
            <a:off x="3867912" y="676656"/>
            <a:ext cx="109728" cy="109728"/>
          </a:xfrm>
          <a:prstGeom prst="ellipse">
            <a:avLst/>
          </a:prstGeom>
          <a:solidFill>
            <a:srgbClr val="7C3CFF"/>
          </a:solidFill>
          <a:ln w="12700">
            <a:solidFill>
              <a:srgbClr val="7C3CFF"/>
            </a:solidFill>
            <a:prstDash val="solid"/>
          </a:ln>
        </p:spPr>
      </p:sp>
      <p:sp>
        <p:nvSpPr>
          <p:cNvPr id="4" name="Text 2"/>
          <p:cNvSpPr txBox="1"/>
          <p:nvPr/>
        </p:nvSpPr>
        <p:spPr>
          <a:xfrm>
            <a:off x="4050792" y="548640"/>
            <a:ext cx="1280160" cy="365760"/>
          </a:xfrm>
          <a:prstGeom prst="rect">
            <a:avLst/>
          </a:prstGeom>
          <a:noFill/>
          <a:ln/>
        </p:spPr>
        <p:txBody>
          <a:bodyPr wrap="square" lIns="0" tIns="0" rIns="0" bIns="0" rtlCol="0" anchor="ctr"/>
          <a:lstStyle/>
          <a:p>
            <a:pPr indent="0" marL="0">
              <a:buNone/>
            </a:pPr>
            <a:r>
              <a:rPr lang="en-US" sz="1200" b="1" dirty="0">
                <a:solidFill>
                  <a:srgbClr val="15121C"/>
                </a:solidFill>
                <a:latin typeface="Arial" pitchFamily="34" charset="0"/>
                <a:ea typeface="Arial" pitchFamily="34" charset="-122"/>
                <a:cs typeface="Arial" pitchFamily="34" charset="-120"/>
              </a:rPr>
              <a:t>Try it risk free</a:t>
            </a:r>
            <a:endParaRPr lang="en-US" sz="1200" dirty="0"/>
          </a:p>
        </p:txBody>
      </p:sp>
      <p:sp>
        <p:nvSpPr>
          <p:cNvPr id="5" name="Text 3"/>
          <p:cNvSpPr txBox="1"/>
          <p:nvPr/>
        </p:nvSpPr>
        <p:spPr>
          <a:xfrm>
            <a:off x="548640" y="1097280"/>
            <a:ext cx="8046720" cy="73152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No-Results, No-Pay Guarantee</a:t>
            </a:r>
            <a:endParaRPr lang="en-US" sz="3400" dirty="0"/>
          </a:p>
        </p:txBody>
      </p:sp>
      <p:sp>
        <p:nvSpPr>
          <p:cNvPr id="6" name="Text 4"/>
          <p:cNvSpPr txBox="1"/>
          <p:nvPr/>
        </p:nvSpPr>
        <p:spPr>
          <a:xfrm>
            <a:off x="1097280" y="1965960"/>
            <a:ext cx="6949440" cy="1097280"/>
          </a:xfrm>
          <a:prstGeom prst="rect">
            <a:avLst/>
          </a:prstGeom>
          <a:noFill/>
          <a:ln/>
        </p:spPr>
        <p:txBody>
          <a:bodyPr wrap="square" lIns="0" tIns="0" rIns="0" bIns="0" rtlCol="0" anchor="ctr"/>
          <a:lstStyle/>
          <a:p>
            <a:pPr algn="ctr" indent="0" marL="0">
              <a:buNone/>
            </a:pPr>
            <a:r>
              <a:rPr lang="en-US" sz="2000" dirty="0">
                <a:solidFill>
                  <a:srgbClr val="FFFFFF"/>
                </a:solidFill>
                <a:latin typeface="Arial" pitchFamily="34" charset="0"/>
                <a:ea typeface="Arial" pitchFamily="34" charset="-122"/>
                <a:cs typeface="Arial" pitchFamily="34" charset="-120"/>
              </a:rPr>
              <a:t>If we don't generate </a:t>
            </a:r>
            <a:pPr algn="ctr" indent="0" marL="0">
              <a:buNone/>
            </a:pPr>
            <a:r>
              <a:rPr lang="en-US" sz="2000" b="1" dirty="0">
                <a:solidFill>
                  <a:srgbClr val="B79CFF"/>
                </a:solidFill>
                <a:latin typeface="Arial" pitchFamily="34" charset="0"/>
                <a:ea typeface="Arial" pitchFamily="34" charset="-122"/>
                <a:cs typeface="Arial" pitchFamily="34" charset="-120"/>
              </a:rPr>
              <a:t>15–30 qualified booked calls in 90 days</a:t>
            </a:r>
            <a:pPr algn="ctr" indent="0" marL="0">
              <a:buNone/>
            </a:pPr>
            <a:r>
              <a:rPr lang="en-US" sz="2000" dirty="0">
                <a:solidFill>
                  <a:srgbClr val="FFFFFF"/>
                </a:solidFill>
                <a:latin typeface="Arial" pitchFamily="34" charset="0"/>
                <a:ea typeface="Arial" pitchFamily="34" charset="-122"/>
                <a:cs typeface="Arial" pitchFamily="34" charset="-120"/>
              </a:rPr>
              <a:t>, we work for free until you do.</a:t>
            </a:r>
            <a:endParaRPr lang="en-US" sz="2000" dirty="0"/>
          </a:p>
        </p:txBody>
      </p:sp>
      <p:sp>
        <p:nvSpPr>
          <p:cNvPr id="7" name="Text 5"/>
          <p:cNvSpPr txBox="1"/>
          <p:nvPr/>
        </p:nvSpPr>
        <p:spPr>
          <a:xfrm>
            <a:off x="548640" y="3200400"/>
            <a:ext cx="8046720" cy="457200"/>
          </a:xfrm>
          <a:prstGeom prst="rect">
            <a:avLst/>
          </a:prstGeom>
          <a:noFill/>
          <a:ln/>
        </p:spPr>
        <p:txBody>
          <a:bodyPr wrap="square" lIns="0" tIns="0" rIns="0" bIns="0" rtlCol="0" anchor="ctr"/>
          <a:lstStyle/>
          <a:p>
            <a:pPr algn="ctr" indent="0" marL="0">
              <a:buNone/>
            </a:pPr>
            <a:r>
              <a:rPr lang="en-US" sz="1600" i="1" dirty="0">
                <a:solidFill>
                  <a:srgbClr val="A6A1B5"/>
                </a:solidFill>
                <a:latin typeface="Arial" pitchFamily="34" charset="0"/>
                <a:ea typeface="Arial" pitchFamily="34" charset="-122"/>
                <a:cs typeface="Arial" pitchFamily="34" charset="-120"/>
              </a:rPr>
              <a:t>We win when you win.</a:t>
            </a:r>
            <a:endParaRPr lang="en-US" sz="16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640080" y="457200"/>
            <a:ext cx="7863840" cy="242316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 </a:t>
            </a:r>
            <a:pPr algn="ctr" indent="0" marL="0">
              <a:buNone/>
            </a:pPr>
            <a:r>
              <a:rPr lang="en-US" sz="3600" b="1" dirty="0">
                <a:solidFill>
                  <a:srgbClr val="B79CFF"/>
                </a:solidFill>
                <a:latin typeface="Arial" pitchFamily="34" charset="0"/>
                <a:ea typeface="Arial" pitchFamily="34" charset="-122"/>
                <a:cs typeface="Arial" pitchFamily="34" charset="-120"/>
              </a:rPr>
              <a:t>Bonus</a:t>
            </a:r>
            <a:pPr algn="ctr" indent="0" marL="0">
              <a:buNone/>
            </a:pPr>
            <a:r>
              <a:rPr lang="en-US" sz="3600" b="1" dirty="0">
                <a:solidFill>
                  <a:srgbClr val="FFFFFF"/>
                </a:solidFill>
                <a:latin typeface="Arial" pitchFamily="34" charset="0"/>
                <a:ea typeface="Arial" pitchFamily="34" charset="-122"/>
                <a:cs typeface="Arial" pitchFamily="34" charset="-120"/>
              </a:rPr>
              <a:t> for everyone who stayed:</a:t>
            </a:r>
            <a:endParaRPr lang="en-US" sz="3600" dirty="0"/>
          </a:p>
        </p:txBody>
      </p:sp>
      <p:sp>
        <p:nvSpPr>
          <p:cNvPr id="3" name="Text 1"/>
          <p:cNvSpPr txBox="1"/>
          <p:nvPr/>
        </p:nvSpPr>
        <p:spPr>
          <a:xfrm>
            <a:off x="914400" y="3017520"/>
            <a:ext cx="7315200" cy="1188720"/>
          </a:xfrm>
          <a:prstGeom prst="rect">
            <a:avLst/>
          </a:prstGeom>
          <a:noFill/>
          <a:ln/>
        </p:spPr>
        <p:txBody>
          <a:bodyPr wrap="square" lIns="0" tIns="0" rIns="0" bIns="0" rtlCol="0" anchor="t"/>
          <a:lstStyle/>
          <a:p>
            <a:pPr algn="ctr" indent="0" marL="0">
              <a:buNone/>
            </a:pPr>
            <a:r>
              <a:rPr lang="en-US" sz="1900" dirty="0">
                <a:solidFill>
                  <a:srgbClr val="A6A1B5"/>
                </a:solidFill>
                <a:latin typeface="Arial" pitchFamily="34" charset="0"/>
                <a:ea typeface="Arial" pitchFamily="34" charset="-122"/>
                <a:cs typeface="Arial" pitchFamily="34" charset="-120"/>
              </a:rPr>
              <a:t>A free Growth Call. We'll look at your offer and funnel and map out your ad strategy.</a:t>
            </a:r>
            <a:endParaRPr lang="en-US" sz="1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548640" y="640080"/>
            <a:ext cx="8046720" cy="100584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Ready to add </a:t>
            </a:r>
            <a:pPr algn="ctr" indent="0" marL="0">
              <a:buNone/>
            </a:pPr>
            <a:r>
              <a:rPr lang="en-US" sz="3400" b="1" u="heavy" dirty="0">
                <a:solidFill>
                  <a:srgbClr val="FFFFFF"/>
                </a:solidFill>
                <a:uFill>
                  <a:solidFill>
                    <a:srgbClr val="7C3CFF"/>
                  </a:solidFill>
                </a:uFill>
                <a:latin typeface="Arial" pitchFamily="34" charset="0"/>
                <a:ea typeface="Arial" pitchFamily="34" charset="-122"/>
                <a:cs typeface="Arial" pitchFamily="34" charset="-120"/>
              </a:rPr>
              <a:t>10‑20+ students</a:t>
            </a:r>
            <a:pPr algn="ctr" indent="0" marL="0">
              <a:buNone/>
            </a:pPr>
            <a:r>
              <a:rPr lang="en-US" sz="3400" b="1" dirty="0">
                <a:solidFill>
                  <a:srgbClr val="FFFFFF"/>
                </a:solidFill>
                <a:latin typeface="Arial" pitchFamily="34" charset="0"/>
                <a:ea typeface="Arial" pitchFamily="34" charset="-122"/>
                <a:cs typeface="Arial" pitchFamily="34" charset="-120"/>
              </a:rPr>
              <a:t> a month? 👋</a:t>
            </a:r>
            <a:endParaRPr lang="en-US" sz="3400" dirty="0"/>
          </a:p>
        </p:txBody>
      </p:sp>
      <p:sp>
        <p:nvSpPr>
          <p:cNvPr id="3" name="Shape 1"/>
          <p:cNvSpPr/>
          <p:nvPr/>
        </p:nvSpPr>
        <p:spPr>
          <a:xfrm>
            <a:off x="2514600" y="1920240"/>
            <a:ext cx="4114800" cy="777240"/>
          </a:xfrm>
          <a:prstGeom prst="roundRect">
            <a:avLst>
              <a:gd name="adj" fmla="val 49412"/>
            </a:avLst>
          </a:prstGeom>
          <a:solidFill>
            <a:srgbClr val="7C3CFF"/>
          </a:solidFill>
          <a:ln w="12700">
            <a:solidFill>
              <a:srgbClr val="7C3CFF"/>
            </a:solidFill>
            <a:prstDash val="solid"/>
          </a:ln>
        </p:spPr>
      </p:sp>
      <p:sp>
        <p:nvSpPr>
          <p:cNvPr id="4" name="Text 2"/>
          <p:cNvSpPr txBox="1"/>
          <p:nvPr/>
        </p:nvSpPr>
        <p:spPr>
          <a:xfrm>
            <a:off x="2514600" y="1920240"/>
            <a:ext cx="41148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Book your free Growth Call →</a:t>
            </a:r>
            <a:endParaRPr lang="en-US" sz="2000" dirty="0"/>
          </a:p>
        </p:txBody>
      </p:sp>
      <p:sp>
        <p:nvSpPr>
          <p:cNvPr id="5" name="Text 3"/>
          <p:cNvSpPr txBox="1"/>
          <p:nvPr/>
        </p:nvSpPr>
        <p:spPr>
          <a:xfrm>
            <a:off x="548640" y="2880360"/>
            <a:ext cx="8046720" cy="365760"/>
          </a:xfrm>
          <a:prstGeom prst="rect">
            <a:avLst/>
          </a:prstGeom>
          <a:noFill/>
          <a:ln/>
        </p:spPr>
        <p:txBody>
          <a:bodyPr wrap="square" lIns="0" tIns="0" rIns="0" bIns="0" rtlCol="0" anchor="ctr"/>
          <a:lstStyle/>
          <a:p>
            <a:pPr algn="ctr" indent="0" marL="0">
              <a:buNone/>
            </a:pPr>
            <a:r>
              <a:rPr lang="en-US" sz="1400" dirty="0">
                <a:solidFill>
                  <a:srgbClr val="A6A1B5"/>
                </a:solidFill>
                <a:latin typeface="Arial" pitchFamily="34" charset="0"/>
                <a:ea typeface="Arial" pitchFamily="34" charset="-122"/>
                <a:cs typeface="Arial" pitchFamily="34" charset="-120"/>
              </a:rPr>
              <a:t>Only 3 spots per month · link in the chat</a:t>
            </a:r>
            <a:endParaRPr lang="en-US" sz="1400" dirty="0"/>
          </a:p>
        </p:txBody>
      </p:sp>
      <p:sp>
        <p:nvSpPr>
          <p:cNvPr id="6" name="Text 4"/>
          <p:cNvSpPr txBox="1"/>
          <p:nvPr/>
        </p:nvSpPr>
        <p:spPr>
          <a:xfrm>
            <a:off x="548640" y="3337560"/>
            <a:ext cx="8046720" cy="365760"/>
          </a:xfrm>
          <a:prstGeom prst="rect">
            <a:avLst/>
          </a:prstGeom>
          <a:noFill/>
          <a:ln/>
        </p:spPr>
        <p:txBody>
          <a:bodyPr wrap="square" lIns="0" tIns="0" rIns="0" bIns="0" rtlCol="0" anchor="ctr"/>
          <a:lstStyle/>
          <a:p>
            <a:pPr algn="ctr" indent="0" marL="0">
              <a:buNone/>
            </a:pPr>
            <a:r>
              <a:rPr lang="en-US" sz="1300" dirty="0">
                <a:solidFill>
                  <a:srgbClr val="B79CFF"/>
                </a:solidFill>
                <a:latin typeface="Arial" pitchFamily="34" charset="0"/>
                <a:ea typeface="Arial" pitchFamily="34" charset="-122"/>
                <a:cs typeface="Arial" pitchFamily="34" charset="-120"/>
              </a:rPr>
              <a:t>[Paste your booking link here]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Pacow Media Webinar</dc:title>
  <dc:subject>PptxGenJS Presentation</dc:subject>
  <dc:creator>Pacow Media</dc:creator>
  <cp:lastModifiedBy>Pacow Media</cp:lastModifiedBy>
  <cp:revision>1</cp:revision>
  <dcterms:created xsi:type="dcterms:W3CDTF">2026-09-23T14:53:40Z</dcterms:created>
  <dcterms:modified xsi:type="dcterms:W3CDTF">2026-09-23T14:53:40Z</dcterms:modified>
</cp:coreProperties>
</file>